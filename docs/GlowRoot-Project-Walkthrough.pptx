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418320" y="822960"/>
            <a:ext cx="2834640" cy="2834640"/>
          </a:xfrm>
          <a:prstGeom prst="ellipse">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0" y="3200400"/>
            <a:ext cx="3840480" cy="3840480"/>
          </a:xfrm>
          <a:prstGeom prst="ellipse">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778240" y="4846320"/>
            <a:ext cx="2011680" cy="2011680"/>
          </a:xfrm>
          <a:prstGeom prst="ellipse">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 y="1417320"/>
            <a:ext cx="7863840" cy="274320"/>
          </a:xfrm>
          <a:prstGeom prst="rect">
            <a:avLst/>
          </a:prstGeom>
          <a:noFill/>
        </p:spPr>
        <p:txBody>
          <a:bodyPr wrap="square" anchor="t" lIns="0" rIns="0" tIns="0" bIns="0">
            <a:spAutoFit/>
          </a:bodyPr>
          <a:lstStyle/>
          <a:p>
            <a:pPr algn="l">
              <a:lnSpc>
                <a:spcPct val="100000"/>
              </a:lnSpc>
              <a:spcAft>
                <a:spcPts val="0"/>
              </a:spcAft>
            </a:pPr>
            <a:r>
              <a:rPr sz="1150" b="1" i="0">
                <a:solidFill>
                  <a:srgbClr val="E8B23F"/>
                </a:solidFill>
                <a:latin typeface="Trebuchet MS"/>
              </a:rPr>
              <a:t>REQUIREMENTS &amp; ARCHITECTURE WALKTHROUGH</a:t>
            </a:r>
          </a:p>
        </p:txBody>
      </p:sp>
      <p:sp>
        <p:nvSpPr>
          <p:cNvPr id="8" name="TextBox 7"/>
          <p:cNvSpPr txBox="1"/>
          <p:nvPr/>
        </p:nvSpPr>
        <p:spPr>
          <a:xfrm>
            <a:off x="658368" y="1847088"/>
            <a:ext cx="8046720" cy="1097280"/>
          </a:xfrm>
          <a:prstGeom prst="rect">
            <a:avLst/>
          </a:prstGeom>
          <a:noFill/>
        </p:spPr>
        <p:txBody>
          <a:bodyPr wrap="square" anchor="t" lIns="0" rIns="0" tIns="0" bIns="0">
            <a:spAutoFit/>
          </a:bodyPr>
          <a:lstStyle/>
          <a:p>
            <a:pPr algn="l">
              <a:lnSpc>
                <a:spcPct val="90000"/>
              </a:lnSpc>
              <a:spcAft>
                <a:spcPts val="0"/>
              </a:spcAft>
            </a:pPr>
            <a:r>
              <a:rPr sz="6400" b="1" i="0">
                <a:solidFill>
                  <a:srgbClr val="F6F0E2"/>
                </a:solidFill>
                <a:latin typeface="Trebuchet MS"/>
              </a:rPr>
              <a:t>GlowRoot</a:t>
            </a:r>
          </a:p>
        </p:txBody>
      </p:sp>
      <p:sp>
        <p:nvSpPr>
          <p:cNvPr id="9" name="TextBox 8"/>
          <p:cNvSpPr txBox="1"/>
          <p:nvPr/>
        </p:nvSpPr>
        <p:spPr>
          <a:xfrm>
            <a:off x="658368" y="2962656"/>
            <a:ext cx="7589520" cy="914400"/>
          </a:xfrm>
          <a:prstGeom prst="rect">
            <a:avLst/>
          </a:prstGeom>
          <a:noFill/>
        </p:spPr>
        <p:txBody>
          <a:bodyPr wrap="square" anchor="t" lIns="0" rIns="0" tIns="0" bIns="0">
            <a:spAutoFit/>
          </a:bodyPr>
          <a:lstStyle/>
          <a:p>
            <a:pPr algn="l">
              <a:lnSpc>
                <a:spcPct val="124000"/>
              </a:lnSpc>
              <a:spcAft>
                <a:spcPts val="0"/>
              </a:spcAft>
            </a:pPr>
            <a:r>
              <a:rPr sz="1650" b="0" i="0">
                <a:solidFill>
                  <a:srgbClr val="C9D6C0"/>
                </a:solidFill>
                <a:latin typeface="Calibri"/>
              </a:rPr>
              <a:t>A cold-pressed juice brand, built as two products over one shared domain: a customer storefront, and the ops console that fulfils it.</a:t>
            </a:r>
          </a:p>
        </p:txBody>
      </p:sp>
      <p:sp>
        <p:nvSpPr>
          <p:cNvPr id="10" name="Rectangle 9"/>
          <p:cNvSpPr/>
          <p:nvPr/>
        </p:nvSpPr>
        <p:spPr>
          <a:xfrm>
            <a:off x="658368" y="3968496"/>
            <a:ext cx="1371600" cy="32004"/>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4224528"/>
            <a:ext cx="8138160" cy="822960"/>
          </a:xfrm>
          <a:prstGeom prst="rect">
            <a:avLst/>
          </a:prstGeom>
          <a:noFill/>
        </p:spPr>
        <p:txBody>
          <a:bodyPr wrap="square" anchor="t" lIns="0" rIns="0" tIns="0" bIns="0">
            <a:spAutoFit/>
          </a:bodyPr>
          <a:lstStyle/>
          <a:p>
            <a:pPr algn="l">
              <a:lnSpc>
                <a:spcPct val="120000"/>
              </a:lnSpc>
              <a:spcAft>
                <a:spcPts val="0"/>
              </a:spcAft>
            </a:pPr>
            <a:r>
              <a:rPr sz="1350" b="1" i="0">
                <a:solidFill>
                  <a:srgbClr val="F6F0E2"/>
                </a:solidFill>
                <a:latin typeface="Calibri"/>
              </a:rPr>
              <a:t>One deck, five audiences.  </a:t>
            </a:r>
            <a:r>
              <a:rPr sz="1350" b="0" i="0">
                <a:solidFill>
                  <a:srgbClr val="A9BAA0"/>
                </a:solidFill>
                <a:latin typeface="Calibri"/>
              </a:rPr>
              <a:t>Architecture, UX, marketing, QA and DevOps each get a section — and one concrete ask at the end.</a:t>
            </a:r>
          </a:p>
        </p:txBody>
      </p:sp>
      <p:sp>
        <p:nvSpPr>
          <p:cNvPr id="12" name="Rounded Rectangle 11"/>
          <p:cNvSpPr/>
          <p:nvPr/>
        </p:nvSpPr>
        <p:spPr>
          <a:xfrm>
            <a:off x="658368" y="5074920"/>
            <a:ext cx="1037844" cy="246888"/>
          </a:xfrm>
          <a:prstGeom prst="roundRect">
            <a:avLst>
              <a:gd name="adj" fmla="val 50000"/>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Trebuchet MS"/>
              </a:rPr>
              <a:t>Product</a:t>
            </a:r>
          </a:p>
        </p:txBody>
      </p:sp>
      <p:sp>
        <p:nvSpPr>
          <p:cNvPr id="13" name="Rounded Rectangle 12"/>
          <p:cNvSpPr/>
          <p:nvPr/>
        </p:nvSpPr>
        <p:spPr>
          <a:xfrm>
            <a:off x="1796796" y="5074920"/>
            <a:ext cx="1609344" cy="246888"/>
          </a:xfrm>
          <a:prstGeom prst="roundRect">
            <a:avLst>
              <a:gd name="adj" fmla="val 50000"/>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Trebuchet MS"/>
              </a:rPr>
              <a:t>Architecture</a:t>
            </a:r>
          </a:p>
        </p:txBody>
      </p:sp>
      <p:sp>
        <p:nvSpPr>
          <p:cNvPr id="14" name="Rounded Rectangle 13"/>
          <p:cNvSpPr/>
          <p:nvPr/>
        </p:nvSpPr>
        <p:spPr>
          <a:xfrm>
            <a:off x="3506724" y="5074920"/>
            <a:ext cx="1037844" cy="246888"/>
          </a:xfrm>
          <a:prstGeom prst="roundRect">
            <a:avLst>
              <a:gd name="adj" fmla="val 50000"/>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Trebuchet MS"/>
              </a:rPr>
              <a:t>UI / UX</a:t>
            </a:r>
          </a:p>
        </p:txBody>
      </p:sp>
      <p:sp>
        <p:nvSpPr>
          <p:cNvPr id="15" name="Rounded Rectangle 14"/>
          <p:cNvSpPr/>
          <p:nvPr/>
        </p:nvSpPr>
        <p:spPr>
          <a:xfrm>
            <a:off x="4645152" y="5074920"/>
            <a:ext cx="1266444" cy="246888"/>
          </a:xfrm>
          <a:prstGeom prst="roundRect">
            <a:avLst>
              <a:gd name="adj" fmla="val 50000"/>
            </a:avLst>
          </a:prstGeom>
          <a:solidFill>
            <a:srgbClr val="E8B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243018"/>
                </a:solidFill>
                <a:latin typeface="Trebuchet MS"/>
              </a:rPr>
              <a:t>Marketing</a:t>
            </a:r>
          </a:p>
        </p:txBody>
      </p:sp>
      <p:sp>
        <p:nvSpPr>
          <p:cNvPr id="16" name="Rounded Rectangle 15"/>
          <p:cNvSpPr/>
          <p:nvPr/>
        </p:nvSpPr>
        <p:spPr>
          <a:xfrm>
            <a:off x="6012180" y="5074920"/>
            <a:ext cx="466344" cy="246888"/>
          </a:xfrm>
          <a:prstGeom prst="roundRect">
            <a:avLst>
              <a:gd name="adj" fmla="val 50000"/>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Trebuchet MS"/>
              </a:rPr>
              <a:t>QA</a:t>
            </a:r>
          </a:p>
        </p:txBody>
      </p:sp>
      <p:sp>
        <p:nvSpPr>
          <p:cNvPr id="17" name="Rounded Rectangle 16"/>
          <p:cNvSpPr/>
          <p:nvPr/>
        </p:nvSpPr>
        <p:spPr>
          <a:xfrm>
            <a:off x="6579108" y="5074920"/>
            <a:ext cx="923544" cy="246888"/>
          </a:xfrm>
          <a:prstGeom prst="roundRect">
            <a:avLst>
              <a:gd name="adj" fmla="val 50000"/>
            </a:avLst>
          </a:prstGeom>
          <a:solidFill>
            <a:srgbClr val="4A7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Trebuchet MS"/>
              </a:rPr>
              <a:t>DevOps</a:t>
            </a:r>
          </a:p>
        </p:txBody>
      </p:sp>
      <p:sp>
        <p:nvSpPr>
          <p:cNvPr id="18" name="TextBox 17"/>
          <p:cNvSpPr txBox="1"/>
          <p:nvPr/>
        </p:nvSpPr>
        <p:spPr>
          <a:xfrm>
            <a:off x="658368" y="5897880"/>
            <a:ext cx="6400800" cy="274320"/>
          </a:xfrm>
          <a:prstGeom prst="rect">
            <a:avLst/>
          </a:prstGeom>
          <a:noFill/>
        </p:spPr>
        <p:txBody>
          <a:bodyPr wrap="square" anchor="t" lIns="0" rIns="0" tIns="0" bIns="0">
            <a:spAutoFit/>
          </a:bodyPr>
          <a:lstStyle/>
          <a:p>
            <a:pPr algn="l">
              <a:lnSpc>
                <a:spcPct val="100000"/>
              </a:lnSpc>
              <a:spcAft>
                <a:spcPts val="0"/>
              </a:spcAft>
            </a:pPr>
            <a:r>
              <a:rPr sz="1000" b="0" i="0">
                <a:solidFill>
                  <a:srgbClr val="869A7C"/>
                </a:solidFill>
                <a:latin typeface="Consolas"/>
              </a:rPr>
              <a:t>Turborepo + pnpm  ·  Next.js 14  ·  TypeScript  ·  storefront :3000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HOW TO READ THIS DECK</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Every role has a section — here is yours</a:t>
            </a:r>
          </a:p>
        </p:txBody>
      </p:sp>
      <p:sp>
        <p:nvSpPr>
          <p:cNvPr id="6" name="TextBox 5"/>
          <p:cNvSpPr txBox="1"/>
          <p:nvPr/>
        </p:nvSpPr>
        <p:spPr>
          <a:xfrm>
            <a:off x="658368" y="1298448"/>
            <a:ext cx="10874959" cy="457200"/>
          </a:xfrm>
          <a:prstGeom prst="rect">
            <a:avLst/>
          </a:prstGeom>
          <a:noFill/>
        </p:spPr>
        <p:txBody>
          <a:bodyPr wrap="square" anchor="t" lIns="0" rIns="0" tIns="0" bIns="0">
            <a:spAutoFit/>
          </a:bodyPr>
          <a:lstStyle/>
          <a:p>
            <a:pPr algn="l">
              <a:lnSpc>
                <a:spcPct val="120000"/>
              </a:lnSpc>
              <a:spcAft>
                <a:spcPts val="0"/>
              </a:spcAft>
            </a:pPr>
            <a:r>
              <a:rPr sz="1300" b="0" i="0">
                <a:solidFill>
                  <a:srgbClr val="5B6450"/>
                </a:solidFill>
                <a:latin typeface="Calibri"/>
              </a:rPr>
              <a:t>Slides 3–11 are shared context; everyone should be in the room for those. From slide 12 the deck fans out by discipline, then converges again on status, roadmap and asks.</a:t>
            </a:r>
          </a:p>
        </p:txBody>
      </p:sp>
      <p:graphicFrame>
        <p:nvGraphicFramePr>
          <p:cNvPr id="7" name="Table 6"/>
          <p:cNvGraphicFramePr>
            <a:graphicFrameLocks noGrp="1"/>
          </p:cNvGraphicFramePr>
          <p:nvPr/>
        </p:nvGraphicFramePr>
        <p:xfrm>
          <a:off x="658368" y="1956816"/>
          <a:ext cx="10874958" cy="3529584"/>
        </p:xfrm>
        <a:graphic>
          <a:graphicData uri="http://schemas.openxmlformats.org/drawingml/2006/table">
            <a:tbl>
              <a:tblPr firstRow="1">
                <a:tableStyleId>{5C22544A-7EE6-4342-B048-85BDC9FD1C3A}</a:tableStyleId>
              </a:tblPr>
              <a:tblGrid>
                <a:gridCol w="836535"/>
                <a:gridCol w="3050893"/>
                <a:gridCol w="2361982"/>
                <a:gridCol w="4625548"/>
              </a:tblGrid>
              <a:tr h="310896">
                <a:tc>
                  <a:txBody>
                    <a:bodyPr wrap="square"/>
                    <a:lstStyle/>
                    <a:p>
                      <a:r>
                        <a:rPr sz="1050" b="1" i="0">
                          <a:solidFill>
                            <a:srgbClr val="F6F0E2"/>
                          </a:solidFill>
                          <a:latin typeface="Calibri"/>
                        </a:rPr>
                        <a:t>Slides</a:t>
                      </a:r>
                    </a:p>
                  </a:txBody>
                  <a:tcPr marL="91440" marR="73152" marT="36576" marB="36576" anchor="ctr">
                    <a:solidFill>
                      <a:srgbClr val="2F5D34"/>
                    </a:solidFill>
                  </a:tcPr>
                </a:tc>
                <a:tc>
                  <a:txBody>
                    <a:bodyPr wrap="square"/>
                    <a:lstStyle/>
                    <a:p>
                      <a:r>
                        <a:rPr sz="1050" b="1" i="0">
                          <a:solidFill>
                            <a:srgbClr val="F6F0E2"/>
                          </a:solidFill>
                          <a:latin typeface="Calibri"/>
                        </a:rPr>
                        <a:t>Section</a:t>
                      </a:r>
                    </a:p>
                  </a:txBody>
                  <a:tcPr marL="91440" marR="73152" marT="36576" marB="36576" anchor="ctr">
                    <a:solidFill>
                      <a:srgbClr val="2F5D34"/>
                    </a:solidFill>
                  </a:tcPr>
                </a:tc>
                <a:tc>
                  <a:txBody>
                    <a:bodyPr wrap="square"/>
                    <a:lstStyle/>
                    <a:p>
                      <a:r>
                        <a:rPr sz="1050" b="1" i="0">
                          <a:solidFill>
                            <a:srgbClr val="F6F0E2"/>
                          </a:solidFill>
                          <a:latin typeface="Calibri"/>
                        </a:rPr>
                        <a:t>Who it's for</a:t>
                      </a:r>
                    </a:p>
                  </a:txBody>
                  <a:tcPr marL="91440" marR="73152" marT="36576" marB="36576" anchor="ctr">
                    <a:solidFill>
                      <a:srgbClr val="2F5D34"/>
                    </a:solidFill>
                  </a:tcPr>
                </a:tc>
                <a:tc>
                  <a:txBody>
                    <a:bodyPr wrap="square"/>
                    <a:lstStyle/>
                    <a:p>
                      <a:r>
                        <a:rPr sz="1050" b="1" i="0">
                          <a:solidFill>
                            <a:srgbClr val="F6F0E2"/>
                          </a:solidFill>
                          <a:latin typeface="Calibri"/>
                        </a:rPr>
                        <a:t>What you get out of it</a:t>
                      </a:r>
                    </a:p>
                  </a:txBody>
                  <a:tcPr marL="91440" marR="73152" marT="36576" marB="36576" anchor="ctr">
                    <a:solidFill>
                      <a:srgbClr val="2F5D34"/>
                    </a:solidFill>
                  </a:tcPr>
                </a:tc>
              </a:tr>
              <a:tr h="402336">
                <a:tc>
                  <a:txBody>
                    <a:bodyPr wrap="square"/>
                    <a:lstStyle/>
                    <a:p>
                      <a:r>
                        <a:rPr sz="1100" b="1" i="0">
                          <a:solidFill>
                            <a:srgbClr val="243018"/>
                          </a:solidFill>
                          <a:latin typeface="Calibri"/>
                        </a:rPr>
                        <a:t>3 – 6</a:t>
                      </a:r>
                    </a:p>
                  </a:txBody>
                  <a:tcPr marL="91440" marR="73152" marT="36576" marB="36576" anchor="ctr">
                    <a:solidFill>
                      <a:srgbClr val="F6F0E2"/>
                    </a:solidFill>
                  </a:tcPr>
                </a:tc>
                <a:tc>
                  <a:txBody>
                    <a:bodyPr wrap="square"/>
                    <a:lstStyle/>
                    <a:p>
                      <a:r>
                        <a:rPr sz="1100" b="0" i="0">
                          <a:solidFill>
                            <a:srgbClr val="243018"/>
                          </a:solidFill>
                          <a:latin typeface="Calibri"/>
                        </a:rPr>
                        <a:t>Problem, users, principles, scope</a:t>
                      </a:r>
                    </a:p>
                  </a:txBody>
                  <a:tcPr marL="91440" marR="73152" marT="36576" marB="36576" anchor="ctr">
                    <a:solidFill>
                      <a:srgbClr val="F6F0E2"/>
                    </a:solidFill>
                  </a:tcPr>
                </a:tc>
                <a:tc>
                  <a:txBody>
                    <a:bodyPr wrap="square"/>
                    <a:lstStyle/>
                    <a:p>
                      <a:r>
                        <a:rPr sz="1100" b="0" i="0">
                          <a:solidFill>
                            <a:srgbClr val="243018"/>
                          </a:solidFill>
                          <a:latin typeface="Calibri"/>
                        </a:rPr>
                        <a:t>Everyone</a:t>
                      </a:r>
                    </a:p>
                  </a:txBody>
                  <a:tcPr marL="91440" marR="73152" marT="36576" marB="36576" anchor="ctr">
                    <a:solidFill>
                      <a:srgbClr val="F6F0E2"/>
                    </a:solidFill>
                  </a:tcPr>
                </a:tc>
                <a:tc>
                  <a:txBody>
                    <a:bodyPr wrap="square"/>
                    <a:lstStyle/>
                    <a:p>
                      <a:r>
                        <a:rPr sz="1100" b="0" i="0">
                          <a:solidFill>
                            <a:srgbClr val="243018"/>
                          </a:solidFill>
                          <a:latin typeface="Calibri"/>
                        </a:rPr>
                        <a:t>Why this product exists, and what v1 deliberately excludes</a:t>
                      </a:r>
                    </a:p>
                  </a:txBody>
                  <a:tcPr marL="91440" marR="73152" marT="36576" marB="36576" anchor="ctr">
                    <a:solidFill>
                      <a:srgbClr val="F6F0E2"/>
                    </a:solidFill>
                  </a:tcPr>
                </a:tc>
              </a:tr>
              <a:tr h="402336">
                <a:tc>
                  <a:txBody>
                    <a:bodyPr wrap="square"/>
                    <a:lstStyle/>
                    <a:p>
                      <a:r>
                        <a:rPr sz="1100" b="1" i="0">
                          <a:solidFill>
                            <a:srgbClr val="243018"/>
                          </a:solidFill>
                          <a:latin typeface="Calibri"/>
                        </a:rPr>
                        <a:t>7 – 11</a:t>
                      </a:r>
                    </a:p>
                  </a:txBody>
                  <a:tcPr marL="91440" marR="73152" marT="36576" marB="36576" anchor="ctr">
                    <a:solidFill>
                      <a:srgbClr val="FFFFFF"/>
                    </a:solidFill>
                  </a:tcPr>
                </a:tc>
                <a:tc>
                  <a:txBody>
                    <a:bodyPr wrap="square"/>
                    <a:lstStyle/>
                    <a:p>
                      <a:r>
                        <a:rPr sz="1100" b="0" i="0">
                          <a:solidFill>
                            <a:srgbClr val="243018"/>
                          </a:solidFill>
                          <a:latin typeface="Calibri"/>
                        </a:rPr>
                        <a:t>Journey and the three key decisions</a:t>
                      </a:r>
                    </a:p>
                  </a:txBody>
                  <a:tcPr marL="91440" marR="73152" marT="36576" marB="36576" anchor="ctr">
                    <a:solidFill>
                      <a:srgbClr val="FFFFFF"/>
                    </a:solidFill>
                  </a:tcPr>
                </a:tc>
                <a:tc>
                  <a:txBody>
                    <a:bodyPr wrap="square"/>
                    <a:lstStyle/>
                    <a:p>
                      <a:r>
                        <a:rPr sz="1100" b="0" i="0">
                          <a:solidFill>
                            <a:srgbClr val="243018"/>
                          </a:solidFill>
                          <a:latin typeface="Calibri"/>
                        </a:rPr>
                        <a:t>Everyone</a:t>
                      </a:r>
                    </a:p>
                  </a:txBody>
                  <a:tcPr marL="91440" marR="73152" marT="36576" marB="36576" anchor="ctr">
                    <a:solidFill>
                      <a:srgbClr val="FFFFFF"/>
                    </a:solidFill>
                  </a:tcPr>
                </a:tc>
                <a:tc>
                  <a:txBody>
                    <a:bodyPr wrap="square"/>
                    <a:lstStyle/>
                    <a:p>
                      <a:r>
                        <a:rPr sz="1100" b="0" i="0">
                          <a:solidFill>
                            <a:srgbClr val="243018"/>
                          </a:solidFill>
                          <a:latin typeface="Calibri"/>
                        </a:rPr>
                        <a:t>The product logic the whole build hangs off</a:t>
                      </a:r>
                    </a:p>
                  </a:txBody>
                  <a:tcPr marL="91440" marR="73152" marT="36576" marB="36576" anchor="ctr">
                    <a:solidFill>
                      <a:srgbClr val="FFFFFF"/>
                    </a:solidFill>
                  </a:tcPr>
                </a:tc>
              </a:tr>
              <a:tr h="402336">
                <a:tc>
                  <a:txBody>
                    <a:bodyPr wrap="square"/>
                    <a:lstStyle/>
                    <a:p>
                      <a:r>
                        <a:rPr sz="1100" b="1" i="0">
                          <a:solidFill>
                            <a:srgbClr val="243018"/>
                          </a:solidFill>
                          <a:latin typeface="Calibri"/>
                        </a:rPr>
                        <a:t>12 – 14</a:t>
                      </a:r>
                    </a:p>
                  </a:txBody>
                  <a:tcPr marL="91440" marR="73152" marT="36576" marB="36576" anchor="ctr">
                    <a:solidFill>
                      <a:srgbClr val="F6F0E2"/>
                    </a:solidFill>
                  </a:tcPr>
                </a:tc>
                <a:tc>
                  <a:txBody>
                    <a:bodyPr wrap="square"/>
                    <a:lstStyle/>
                    <a:p>
                      <a:r>
                        <a:rPr sz="1100" b="0" i="0">
                          <a:solidFill>
                            <a:srgbClr val="243018"/>
                          </a:solidFill>
                          <a:latin typeface="Calibri"/>
                        </a:rPr>
                        <a:t>System shape, domain model, identity</a:t>
                      </a:r>
                    </a:p>
                  </a:txBody>
                  <a:tcPr marL="91440" marR="73152" marT="36576" marB="36576" anchor="ctr">
                    <a:solidFill>
                      <a:srgbClr val="F6F0E2"/>
                    </a:solidFill>
                  </a:tcPr>
                </a:tc>
                <a:tc>
                  <a:txBody>
                    <a:bodyPr wrap="square"/>
                    <a:lstStyle/>
                    <a:p>
                      <a:r>
                        <a:rPr sz="1100" b="0" i="0">
                          <a:solidFill>
                            <a:srgbClr val="243018"/>
                          </a:solidFill>
                          <a:latin typeface="Calibri"/>
                        </a:rPr>
                        <a:t>Senior architects, security</a:t>
                      </a:r>
                    </a:p>
                  </a:txBody>
                  <a:tcPr marL="91440" marR="73152" marT="36576" marB="36576" anchor="ctr">
                    <a:solidFill>
                      <a:srgbClr val="F6F0E2"/>
                    </a:solidFill>
                  </a:tcPr>
                </a:tc>
                <a:tc>
                  <a:txBody>
                    <a:bodyPr wrap="square"/>
                    <a:lstStyle/>
                    <a:p>
                      <a:r>
                        <a:rPr sz="1100" b="0" i="0">
                          <a:solidFill>
                            <a:srgbClr val="243018"/>
                          </a:solidFill>
                          <a:latin typeface="Calibri"/>
                        </a:rPr>
                        <a:t>The seams, the invariants, and the modelling debt</a:t>
                      </a:r>
                    </a:p>
                  </a:txBody>
                  <a:tcPr marL="91440" marR="73152" marT="36576" marB="36576" anchor="ctr">
                    <a:solidFill>
                      <a:srgbClr val="F6F0E2"/>
                    </a:solidFill>
                  </a:tcPr>
                </a:tc>
              </a:tr>
              <a:tr h="402336">
                <a:tc>
                  <a:txBody>
                    <a:bodyPr wrap="square"/>
                    <a:lstStyle/>
                    <a:p>
                      <a:r>
                        <a:rPr sz="1100" b="1" i="0">
                          <a:solidFill>
                            <a:srgbClr val="243018"/>
                          </a:solidFill>
                          <a:latin typeface="Calibri"/>
                        </a:rPr>
                        <a:t>15 – 16</a:t>
                      </a:r>
                    </a:p>
                  </a:txBody>
                  <a:tcPr marL="91440" marR="73152" marT="36576" marB="36576" anchor="ctr">
                    <a:solidFill>
                      <a:srgbClr val="FFFFFF"/>
                    </a:solidFill>
                  </a:tcPr>
                </a:tc>
                <a:tc>
                  <a:txBody>
                    <a:bodyPr wrap="square"/>
                    <a:lstStyle/>
                    <a:p>
                      <a:r>
                        <a:rPr sz="1100" b="0" i="0">
                          <a:solidFill>
                            <a:srgbClr val="243018"/>
                          </a:solidFill>
                          <a:latin typeface="Calibri"/>
                        </a:rPr>
                        <a:t>Design system and interaction contracts</a:t>
                      </a:r>
                    </a:p>
                  </a:txBody>
                  <a:tcPr marL="91440" marR="73152" marT="36576" marB="36576" anchor="ctr">
                    <a:solidFill>
                      <a:srgbClr val="FFFFFF"/>
                    </a:solidFill>
                  </a:tcPr>
                </a:tc>
                <a:tc>
                  <a:txBody>
                    <a:bodyPr wrap="square"/>
                    <a:lstStyle/>
                    <a:p>
                      <a:r>
                        <a:rPr sz="1100" b="0" i="0">
                          <a:solidFill>
                            <a:srgbClr val="243018"/>
                          </a:solidFill>
                          <a:latin typeface="Calibri"/>
                        </a:rPr>
                        <a:t>UI / UX designers</a:t>
                      </a:r>
                    </a:p>
                  </a:txBody>
                  <a:tcPr marL="91440" marR="73152" marT="36576" marB="36576" anchor="ctr">
                    <a:solidFill>
                      <a:srgbClr val="FFFFFF"/>
                    </a:solidFill>
                  </a:tcPr>
                </a:tc>
                <a:tc>
                  <a:txBody>
                    <a:bodyPr wrap="square"/>
                    <a:lstStyle/>
                    <a:p>
                      <a:r>
                        <a:rPr sz="1100" b="0" i="0">
                          <a:solidFill>
                            <a:srgbClr val="243018"/>
                          </a:solidFill>
                          <a:latin typeface="Calibri"/>
                        </a:rPr>
                        <a:t>Token set, component inventory, and the states we still owe</a:t>
                      </a:r>
                    </a:p>
                  </a:txBody>
                  <a:tcPr marL="91440" marR="73152" marT="36576" marB="36576" anchor="ctr">
                    <a:solidFill>
                      <a:srgbClr val="FFFFFF"/>
                    </a:solidFill>
                  </a:tcPr>
                </a:tc>
              </a:tr>
              <a:tr h="402336">
                <a:tc>
                  <a:txBody>
                    <a:bodyPr wrap="square"/>
                    <a:lstStyle/>
                    <a:p>
                      <a:r>
                        <a:rPr sz="1100" b="1" i="0">
                          <a:solidFill>
                            <a:srgbClr val="243018"/>
                          </a:solidFill>
                          <a:latin typeface="Calibri"/>
                        </a:rPr>
                        <a:t>17</a:t>
                      </a:r>
                    </a:p>
                  </a:txBody>
                  <a:tcPr marL="91440" marR="73152" marT="36576" marB="36576" anchor="ctr">
                    <a:solidFill>
                      <a:srgbClr val="F6F0E2"/>
                    </a:solidFill>
                  </a:tcPr>
                </a:tc>
                <a:tc>
                  <a:txBody>
                    <a:bodyPr wrap="square"/>
                    <a:lstStyle/>
                    <a:p>
                      <a:r>
                        <a:rPr sz="1100" b="0" i="0">
                          <a:solidFill>
                            <a:srgbClr val="243018"/>
                          </a:solidFill>
                          <a:latin typeface="Calibri"/>
                        </a:rPr>
                        <a:t>Positioning and funnel</a:t>
                      </a:r>
                    </a:p>
                  </a:txBody>
                  <a:tcPr marL="91440" marR="73152" marT="36576" marB="36576" anchor="ctr">
                    <a:solidFill>
                      <a:srgbClr val="F6F0E2"/>
                    </a:solidFill>
                  </a:tcPr>
                </a:tc>
                <a:tc>
                  <a:txBody>
                    <a:bodyPr wrap="square"/>
                    <a:lstStyle/>
                    <a:p>
                      <a:r>
                        <a:rPr sz="1100" b="0" i="0">
                          <a:solidFill>
                            <a:srgbClr val="243018"/>
                          </a:solidFill>
                          <a:latin typeface="Calibri"/>
                        </a:rPr>
                        <a:t>Marketing</a:t>
                      </a:r>
                    </a:p>
                  </a:txBody>
                  <a:tcPr marL="91440" marR="73152" marT="36576" marB="36576" anchor="ctr">
                    <a:solidFill>
                      <a:srgbClr val="F6F0E2"/>
                    </a:solidFill>
                  </a:tcPr>
                </a:tc>
                <a:tc>
                  <a:txBody>
                    <a:bodyPr wrap="square"/>
                    <a:lstStyle/>
                    <a:p>
                      <a:r>
                        <a:rPr sz="1100" b="0" i="0">
                          <a:solidFill>
                            <a:srgbClr val="243018"/>
                          </a:solidFill>
                          <a:latin typeface="Calibri"/>
                        </a:rPr>
                        <a:t>What the site does for acquisition, and the one known leak</a:t>
                      </a:r>
                    </a:p>
                  </a:txBody>
                  <a:tcPr marL="91440" marR="73152" marT="36576" marB="36576" anchor="ctr">
                    <a:solidFill>
                      <a:srgbClr val="F6F0E2"/>
                    </a:solidFill>
                  </a:tcPr>
                </a:tc>
              </a:tr>
              <a:tr h="402336">
                <a:tc>
                  <a:txBody>
                    <a:bodyPr wrap="square"/>
                    <a:lstStyle/>
                    <a:p>
                      <a:r>
                        <a:rPr sz="1100" b="1" i="0">
                          <a:solidFill>
                            <a:srgbClr val="243018"/>
                          </a:solidFill>
                          <a:latin typeface="Calibri"/>
                        </a:rPr>
                        <a:t>18</a:t>
                      </a:r>
                    </a:p>
                  </a:txBody>
                  <a:tcPr marL="91440" marR="73152" marT="36576" marB="36576" anchor="ctr">
                    <a:solidFill>
                      <a:srgbClr val="FFFFFF"/>
                    </a:solidFill>
                  </a:tcPr>
                </a:tc>
                <a:tc>
                  <a:txBody>
                    <a:bodyPr wrap="square"/>
                    <a:lstStyle/>
                    <a:p>
                      <a:r>
                        <a:rPr sz="1100" b="0" i="0">
                          <a:solidFill>
                            <a:srgbClr val="243018"/>
                          </a:solidFill>
                          <a:latin typeface="Calibri"/>
                        </a:rPr>
                        <a:t>Test strategy</a:t>
                      </a:r>
                    </a:p>
                  </a:txBody>
                  <a:tcPr marL="91440" marR="73152" marT="36576" marB="36576" anchor="ctr">
                    <a:solidFill>
                      <a:srgbClr val="FFFFFF"/>
                    </a:solidFill>
                  </a:tcPr>
                </a:tc>
                <a:tc>
                  <a:txBody>
                    <a:bodyPr wrap="square"/>
                    <a:lstStyle/>
                    <a:p>
                      <a:r>
                        <a:rPr sz="1100" b="0" i="0">
                          <a:solidFill>
                            <a:srgbClr val="243018"/>
                          </a:solidFill>
                          <a:latin typeface="Calibri"/>
                        </a:rPr>
                        <a:t>QA</a:t>
                      </a:r>
                    </a:p>
                  </a:txBody>
                  <a:tcPr marL="91440" marR="73152" marT="36576" marB="36576" anchor="ctr">
                    <a:solidFill>
                      <a:srgbClr val="FFFFFF"/>
                    </a:solidFill>
                  </a:tcPr>
                </a:tc>
                <a:tc>
                  <a:txBody>
                    <a:bodyPr wrap="square"/>
                    <a:lstStyle/>
                    <a:p>
                      <a:r>
                        <a:rPr sz="1100" b="0" i="0">
                          <a:solidFill>
                            <a:srgbClr val="243018"/>
                          </a:solidFill>
                          <a:latin typeface="Calibri"/>
                        </a:rPr>
                        <a:t>Critical paths, the status matrix, and what's mocked</a:t>
                      </a:r>
                    </a:p>
                  </a:txBody>
                  <a:tcPr marL="91440" marR="73152" marT="36576" marB="36576" anchor="ctr">
                    <a:solidFill>
                      <a:srgbClr val="FFFFFF"/>
                    </a:solidFill>
                  </a:tcPr>
                </a:tc>
              </a:tr>
              <a:tr h="402336">
                <a:tc>
                  <a:txBody>
                    <a:bodyPr wrap="square"/>
                    <a:lstStyle/>
                    <a:p>
                      <a:r>
                        <a:rPr sz="1100" b="1" i="0">
                          <a:solidFill>
                            <a:srgbClr val="243018"/>
                          </a:solidFill>
                          <a:latin typeface="Calibri"/>
                        </a:rPr>
                        <a:t>19</a:t>
                      </a:r>
                    </a:p>
                  </a:txBody>
                  <a:tcPr marL="91440" marR="73152" marT="36576" marB="36576" anchor="ctr">
                    <a:solidFill>
                      <a:srgbClr val="F6F0E2"/>
                    </a:solidFill>
                  </a:tcPr>
                </a:tc>
                <a:tc>
                  <a:txBody>
                    <a:bodyPr wrap="square"/>
                    <a:lstStyle/>
                    <a:p>
                      <a:r>
                        <a:rPr sz="1100" b="0" i="0">
                          <a:solidFill>
                            <a:srgbClr val="243018"/>
                          </a:solidFill>
                          <a:latin typeface="Calibri"/>
                        </a:rPr>
                        <a:t>Environments and Phase 4 runway</a:t>
                      </a:r>
                    </a:p>
                  </a:txBody>
                  <a:tcPr marL="91440" marR="73152" marT="36576" marB="36576" anchor="ctr">
                    <a:solidFill>
                      <a:srgbClr val="F6F0E2"/>
                    </a:solidFill>
                  </a:tcPr>
                </a:tc>
                <a:tc>
                  <a:txBody>
                    <a:bodyPr wrap="square"/>
                    <a:lstStyle/>
                    <a:p>
                      <a:r>
                        <a:rPr sz="1100" b="0" i="0">
                          <a:solidFill>
                            <a:srgbClr val="243018"/>
                          </a:solidFill>
                          <a:latin typeface="Calibri"/>
                        </a:rPr>
                        <a:t>DevOps</a:t>
                      </a:r>
                    </a:p>
                  </a:txBody>
                  <a:tcPr marL="91440" marR="73152" marT="36576" marB="36576" anchor="ctr">
                    <a:solidFill>
                      <a:srgbClr val="F6F0E2"/>
                    </a:solidFill>
                  </a:tcPr>
                </a:tc>
                <a:tc>
                  <a:txBody>
                    <a:bodyPr wrap="square"/>
                    <a:lstStyle/>
                    <a:p>
                      <a:r>
                        <a:rPr sz="1100" b="0" i="0">
                          <a:solidFill>
                            <a:srgbClr val="243018"/>
                          </a:solidFill>
                          <a:latin typeface="Calibri"/>
                        </a:rPr>
                        <a:t>What runs today, and what production actually needs</a:t>
                      </a:r>
                    </a:p>
                  </a:txBody>
                  <a:tcPr marL="91440" marR="73152" marT="36576" marB="36576" anchor="ctr">
                    <a:solidFill>
                      <a:srgbClr val="F6F0E2"/>
                    </a:solidFill>
                  </a:tcPr>
                </a:tc>
              </a:tr>
              <a:tr h="402336">
                <a:tc>
                  <a:txBody>
                    <a:bodyPr wrap="square"/>
                    <a:lstStyle/>
                    <a:p>
                      <a:r>
                        <a:rPr sz="1100" b="1" i="0">
                          <a:solidFill>
                            <a:srgbClr val="243018"/>
                          </a:solidFill>
                          <a:latin typeface="Calibri"/>
                        </a:rPr>
                        <a:t>20 – 23</a:t>
                      </a:r>
                    </a:p>
                  </a:txBody>
                  <a:tcPr marL="91440" marR="73152" marT="36576" marB="36576" anchor="ctr">
                    <a:solidFill>
                      <a:srgbClr val="FFFFFF"/>
                    </a:solidFill>
                  </a:tcPr>
                </a:tc>
                <a:tc>
                  <a:txBody>
                    <a:bodyPr wrap="square"/>
                    <a:lstStyle/>
                    <a:p>
                      <a:r>
                        <a:rPr sz="1100" b="0" i="0">
                          <a:solidFill>
                            <a:srgbClr val="243018"/>
                          </a:solidFill>
                          <a:latin typeface="Calibri"/>
                        </a:rPr>
                        <a:t>Status, roadmap, risks, asks</a:t>
                      </a:r>
                    </a:p>
                  </a:txBody>
                  <a:tcPr marL="91440" marR="73152" marT="36576" marB="36576" anchor="ctr">
                    <a:solidFill>
                      <a:srgbClr val="FFFFFF"/>
                    </a:solidFill>
                  </a:tcPr>
                </a:tc>
                <a:tc>
                  <a:txBody>
                    <a:bodyPr wrap="square"/>
                    <a:lstStyle/>
                    <a:p>
                      <a:r>
                        <a:rPr sz="1100" b="0" i="0">
                          <a:solidFill>
                            <a:srgbClr val="243018"/>
                          </a:solidFill>
                          <a:latin typeface="Calibri"/>
                        </a:rPr>
                        <a:t>Everyone</a:t>
                      </a:r>
                    </a:p>
                  </a:txBody>
                  <a:tcPr marL="91440" marR="73152" marT="36576" marB="36576" anchor="ctr">
                    <a:solidFill>
                      <a:srgbClr val="FFFFFF"/>
                    </a:solidFill>
                  </a:tcPr>
                </a:tc>
                <a:tc>
                  <a:txBody>
                    <a:bodyPr wrap="square"/>
                    <a:lstStyle/>
                    <a:p>
                      <a:r>
                        <a:rPr sz="1100" b="0" i="0">
                          <a:solidFill>
                            <a:srgbClr val="243018"/>
                          </a:solidFill>
                          <a:latin typeface="Calibri"/>
                        </a:rPr>
                        <a:t>Where we are, what's next, and what I need from you</a:t>
                      </a:r>
                    </a:p>
                  </a:txBody>
                  <a:tcPr marL="91440" marR="73152" marT="36576" marB="36576" anchor="ctr">
                    <a:solidFill>
                      <a:srgbClr val="FFFFFF"/>
                    </a:solidFill>
                  </a:tcPr>
                </a:tc>
              </a:tr>
            </a:tbl>
          </a:graphicData>
        </a:graphic>
      </p:graphicFrame>
      <p:sp>
        <p:nvSpPr>
          <p:cNvPr id="8" name="TextBox 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9" name="TextBox 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THE PROBLEM</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Perishable goods break the e-commerce default</a:t>
            </a:r>
          </a:p>
        </p:txBody>
      </p:sp>
      <p:sp>
        <p:nvSpPr>
          <p:cNvPr id="6" name="Rectangle 5"/>
          <p:cNvSpPr/>
          <p:nvPr/>
        </p:nvSpPr>
        <p:spPr>
          <a:xfrm>
            <a:off x="658368" y="1298448"/>
            <a:ext cx="3490874" cy="233172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298448"/>
            <a:ext cx="3490874" cy="4572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481328"/>
            <a:ext cx="3125114" cy="182880"/>
          </a:xfrm>
          <a:prstGeom prst="rect">
            <a:avLst/>
          </a:prstGeom>
          <a:noFill/>
        </p:spPr>
        <p:txBody>
          <a:bodyPr wrap="square" anchor="t" lIns="0" rIns="0" tIns="0" bIns="0">
            <a:spAutoFit/>
          </a:bodyPr>
          <a:lstStyle/>
          <a:p>
            <a:pPr algn="l">
              <a:lnSpc>
                <a:spcPct val="100000"/>
              </a:lnSpc>
              <a:spcAft>
                <a:spcPts val="0"/>
              </a:spcAft>
            </a:pPr>
            <a:r>
              <a:rPr sz="900" b="1" i="0">
                <a:solidFill>
                  <a:srgbClr val="D9772E"/>
                </a:solidFill>
                <a:latin typeface="Trebuchet MS"/>
              </a:rPr>
              <a:t>CONSTRAINT 01</a:t>
            </a:r>
          </a:p>
        </p:txBody>
      </p:sp>
      <p:sp>
        <p:nvSpPr>
          <p:cNvPr id="9" name="TextBox 8"/>
          <p:cNvSpPr txBox="1"/>
          <p:nvPr/>
        </p:nvSpPr>
        <p:spPr>
          <a:xfrm>
            <a:off x="841248" y="1682496"/>
            <a:ext cx="3125114"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Juice is pressed to order</a:t>
            </a:r>
          </a:p>
        </p:txBody>
      </p:sp>
      <p:sp>
        <p:nvSpPr>
          <p:cNvPr id="10" name="TextBox 9"/>
          <p:cNvSpPr txBox="1"/>
          <p:nvPr/>
        </p:nvSpPr>
        <p:spPr>
          <a:xfrm>
            <a:off x="841248" y="1956816"/>
            <a:ext cx="3125114" cy="1581912"/>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There is no warehouse buffer and no shipping window to hide behind — a bottle is made the night before it's drunk. So the delivery date isn't a fulfilment detail, it's part of the purchase, and it has to be settled before payment.</a:t>
            </a:r>
          </a:p>
        </p:txBody>
      </p:sp>
      <p:sp>
        <p:nvSpPr>
          <p:cNvPr id="11" name="Rectangle 10"/>
          <p:cNvSpPr/>
          <p:nvPr/>
        </p:nvSpPr>
        <p:spPr>
          <a:xfrm>
            <a:off x="4350410" y="1298448"/>
            <a:ext cx="3490874" cy="233172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50410" y="1298448"/>
            <a:ext cx="3490874" cy="45720"/>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33290" y="1481328"/>
            <a:ext cx="3125114" cy="182880"/>
          </a:xfrm>
          <a:prstGeom prst="rect">
            <a:avLst/>
          </a:prstGeom>
          <a:noFill/>
        </p:spPr>
        <p:txBody>
          <a:bodyPr wrap="square" anchor="t" lIns="0" rIns="0" tIns="0" bIns="0">
            <a:spAutoFit/>
          </a:bodyPr>
          <a:lstStyle/>
          <a:p>
            <a:pPr algn="l">
              <a:lnSpc>
                <a:spcPct val="100000"/>
              </a:lnSpc>
              <a:spcAft>
                <a:spcPts val="0"/>
              </a:spcAft>
            </a:pPr>
            <a:r>
              <a:rPr sz="900" b="1" i="0">
                <a:solidFill>
                  <a:srgbClr val="7A4A8F"/>
                </a:solidFill>
                <a:latin typeface="Trebuchet MS"/>
              </a:rPr>
              <a:t>CONSTRAINT 02</a:t>
            </a:r>
          </a:p>
        </p:txBody>
      </p:sp>
      <p:sp>
        <p:nvSpPr>
          <p:cNvPr id="14" name="TextBox 13"/>
          <p:cNvSpPr txBox="1"/>
          <p:nvPr/>
        </p:nvSpPr>
        <p:spPr>
          <a:xfrm>
            <a:off x="4533290" y="1682496"/>
            <a:ext cx="3125114"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Two revenue modes, one funnel</a:t>
            </a:r>
          </a:p>
        </p:txBody>
      </p:sp>
      <p:sp>
        <p:nvSpPr>
          <p:cNvPr id="15" name="TextBox 14"/>
          <p:cNvSpPr txBox="1"/>
          <p:nvPr/>
        </p:nvSpPr>
        <p:spPr>
          <a:xfrm>
            <a:off x="4533290" y="1956816"/>
            <a:ext cx="3125114" cy="1581912"/>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One-time buyers (trial, gifting) and subscribers have different economics, objections and journeys — but they must share one catalogue, one cart and one checkout, or we maintain the same flow twice.</a:t>
            </a:r>
          </a:p>
        </p:txBody>
      </p:sp>
      <p:sp>
        <p:nvSpPr>
          <p:cNvPr id="16" name="Rectangle 15"/>
          <p:cNvSpPr/>
          <p:nvPr/>
        </p:nvSpPr>
        <p:spPr>
          <a:xfrm>
            <a:off x="8042452" y="1298448"/>
            <a:ext cx="3490874" cy="233172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2452" y="1298448"/>
            <a:ext cx="3490874" cy="45720"/>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5332" y="1481328"/>
            <a:ext cx="3125114" cy="182880"/>
          </a:xfrm>
          <a:prstGeom prst="rect">
            <a:avLst/>
          </a:prstGeom>
          <a:noFill/>
        </p:spPr>
        <p:txBody>
          <a:bodyPr wrap="square" anchor="t" lIns="0" rIns="0" tIns="0" bIns="0">
            <a:spAutoFit/>
          </a:bodyPr>
          <a:lstStyle/>
          <a:p>
            <a:pPr algn="l">
              <a:lnSpc>
                <a:spcPct val="100000"/>
              </a:lnSpc>
              <a:spcAft>
                <a:spcPts val="0"/>
              </a:spcAft>
            </a:pPr>
            <a:r>
              <a:rPr sz="900" b="1" i="0">
                <a:solidFill>
                  <a:srgbClr val="2F5D34"/>
                </a:solidFill>
                <a:latin typeface="Trebuchet MS"/>
              </a:rPr>
              <a:t>CONSTRAINT 03</a:t>
            </a:r>
          </a:p>
        </p:txBody>
      </p:sp>
      <p:sp>
        <p:nvSpPr>
          <p:cNvPr id="19" name="TextBox 18"/>
          <p:cNvSpPr txBox="1"/>
          <p:nvPr/>
        </p:nvSpPr>
        <p:spPr>
          <a:xfrm>
            <a:off x="8225332" y="1682496"/>
            <a:ext cx="3125114"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Ops needs tomorrow's answer</a:t>
            </a:r>
          </a:p>
        </p:txBody>
      </p:sp>
      <p:sp>
        <p:nvSpPr>
          <p:cNvPr id="20" name="TextBox 19"/>
          <p:cNvSpPr txBox="1"/>
          <p:nvPr/>
        </p:nvSpPr>
        <p:spPr>
          <a:xfrm>
            <a:off x="8225332" y="1956816"/>
            <a:ext cx="3125114" cy="1581912"/>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"What do we press tonight, and what produce do we buy?" A storefront can't answer that. Somebody was going to run it on a spreadsheet — which is exactly how order history and stock levels drift apart.</a:t>
            </a:r>
          </a:p>
        </p:txBody>
      </p:sp>
      <p:sp>
        <p:nvSpPr>
          <p:cNvPr id="21" name="Rectangle 20"/>
          <p:cNvSpPr/>
          <p:nvPr/>
        </p:nvSpPr>
        <p:spPr>
          <a:xfrm>
            <a:off x="658368" y="3877056"/>
            <a:ext cx="10874959" cy="1188720"/>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3877056"/>
            <a:ext cx="45720" cy="1188720"/>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4041648"/>
            <a:ext cx="2194560" cy="274320"/>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SO THE SHAPE IS</a:t>
            </a:r>
          </a:p>
        </p:txBody>
      </p:sp>
      <p:sp>
        <p:nvSpPr>
          <p:cNvPr id="24" name="TextBox 23"/>
          <p:cNvSpPr txBox="1"/>
          <p:nvPr/>
        </p:nvSpPr>
        <p:spPr>
          <a:xfrm>
            <a:off x="914400" y="4279392"/>
            <a:ext cx="10326319" cy="731520"/>
          </a:xfrm>
          <a:prstGeom prst="rect">
            <a:avLst/>
          </a:prstGeom>
          <a:noFill/>
        </p:spPr>
        <p:txBody>
          <a:bodyPr wrap="square" anchor="t" lIns="0" rIns="0" tIns="0" bIns="0">
            <a:spAutoFit/>
          </a:bodyPr>
          <a:lstStyle/>
          <a:p>
            <a:pPr algn="l">
              <a:lnSpc>
                <a:spcPct val="120000"/>
              </a:lnSpc>
              <a:spcAft>
                <a:spcPts val="0"/>
              </a:spcAft>
            </a:pPr>
            <a:r>
              <a:rPr sz="1250" b="1" i="0">
                <a:solidFill>
                  <a:srgbClr val="243018"/>
                </a:solidFill>
                <a:latin typeface="Calibri"/>
              </a:rPr>
              <a:t>Two surfaces over one shared domain. </a:t>
            </a:r>
            <a:r>
              <a:rPr sz="1250" b="0" i="0">
                <a:solidFill>
                  <a:srgbClr val="5B6450"/>
                </a:solidFill>
                <a:latin typeface="Calibri"/>
              </a:rPr>
              <a:t>A storefront that sells and an ops console that fulfils, reading the same products, the same orders and the same produce — so a sale on one side is visibly the same object as a press list on the other. That is the entire reason this is a monorepo and not two projects.</a:t>
            </a:r>
          </a:p>
        </p:txBody>
      </p:sp>
      <p:sp>
        <p:nvSpPr>
          <p:cNvPr id="25" name="TextBox 24"/>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26" name="TextBox 25"/>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7A4A8F"/>
                </a:solidFill>
                <a:latin typeface="Trebuchet MS"/>
              </a:rPr>
              <a:t>WHO WE'RE BUILDING FOR</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Three users, three different definitions of success</a:t>
            </a:r>
          </a:p>
        </p:txBody>
      </p:sp>
      <p:sp>
        <p:nvSpPr>
          <p:cNvPr id="6" name="Rectangle 5"/>
          <p:cNvSpPr/>
          <p:nvPr/>
        </p:nvSpPr>
        <p:spPr>
          <a:xfrm>
            <a:off x="658368" y="1298448"/>
            <a:ext cx="3490874" cy="365760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298448"/>
            <a:ext cx="3490874" cy="4572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1499616"/>
            <a:ext cx="1152144" cy="246888"/>
          </a:xfrm>
          <a:prstGeom prst="roundRect">
            <a:avLst>
              <a:gd name="adj" fmla="val 50000"/>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Trebuchet MS"/>
              </a:rPr>
              <a:t>ONE-TIME</a:t>
            </a:r>
          </a:p>
        </p:txBody>
      </p:sp>
      <p:sp>
        <p:nvSpPr>
          <p:cNvPr id="9" name="TextBox 8"/>
          <p:cNvSpPr txBox="1"/>
          <p:nvPr/>
        </p:nvSpPr>
        <p:spPr>
          <a:xfrm>
            <a:off x="841248" y="1865376"/>
            <a:ext cx="3125114" cy="292608"/>
          </a:xfrm>
          <a:prstGeom prst="rect">
            <a:avLst/>
          </a:prstGeom>
          <a:noFill/>
        </p:spPr>
        <p:txBody>
          <a:bodyPr wrap="square" anchor="t" lIns="0" rIns="0" tIns="0" bIns="0">
            <a:spAutoFit/>
          </a:bodyPr>
          <a:lstStyle/>
          <a:p>
            <a:pPr algn="l">
              <a:lnSpc>
                <a:spcPct val="100000"/>
              </a:lnSpc>
              <a:spcAft>
                <a:spcPts val="0"/>
              </a:spcAft>
            </a:pPr>
            <a:r>
              <a:rPr sz="1500" b="1" i="0">
                <a:solidFill>
                  <a:srgbClr val="243018"/>
                </a:solidFill>
                <a:latin typeface="Trebuchet MS"/>
              </a:rPr>
              <a:t>Aditi · the gifter</a:t>
            </a:r>
          </a:p>
        </p:txBody>
      </p:sp>
      <p:sp>
        <p:nvSpPr>
          <p:cNvPr id="10" name="TextBox 9"/>
          <p:cNvSpPr txBox="1"/>
          <p:nvPr/>
        </p:nvSpPr>
        <p:spPr>
          <a:xfrm>
            <a:off x="841248" y="2212848"/>
            <a:ext cx="3125114" cy="82296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Wants to try it, or send a box to someone. Zero appetite for commitment, and none for creating an account.</a:t>
            </a:r>
          </a:p>
        </p:txBody>
      </p:sp>
      <p:sp>
        <p:nvSpPr>
          <p:cNvPr id="11" name="Rectangle 10"/>
          <p:cNvSpPr/>
          <p:nvPr/>
        </p:nvSpPr>
        <p:spPr>
          <a:xfrm>
            <a:off x="841248" y="3072384"/>
            <a:ext cx="3125114" cy="10972"/>
          </a:xfrm>
          <a:prstGeom prst="rect">
            <a:avLst/>
          </a:prstGeom>
          <a:solidFill>
            <a:srgbClr val="E0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200400"/>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D9772E"/>
                </a:solidFill>
                <a:latin typeface="Trebuchet MS"/>
              </a:rPr>
              <a:t>SUCCESS LOOKS LIKE</a:t>
            </a:r>
          </a:p>
        </p:txBody>
      </p:sp>
      <p:sp>
        <p:nvSpPr>
          <p:cNvPr id="13" name="TextBox 12"/>
          <p:cNvSpPr txBox="1"/>
          <p:nvPr/>
        </p:nvSpPr>
        <p:spPr>
          <a:xfrm>
            <a:off x="841248" y="3401568"/>
            <a:ext cx="3125114" cy="777240"/>
          </a:xfrm>
          <a:prstGeom prst="rect">
            <a:avLst/>
          </a:prstGeom>
          <a:noFill/>
        </p:spPr>
        <p:txBody>
          <a:bodyPr wrap="square" anchor="t" lIns="0" rIns="0" tIns="0" bIns="0">
            <a:spAutoFit/>
          </a:bodyPr>
          <a:lstStyle/>
          <a:p>
            <a:pPr algn="l">
              <a:lnSpc>
                <a:spcPct val="116000"/>
              </a:lnSpc>
              <a:spcAft>
                <a:spcPts val="0"/>
              </a:spcAft>
            </a:pPr>
            <a:r>
              <a:rPr sz="1150" b="0" i="0">
                <a:solidFill>
                  <a:srgbClr val="243018"/>
                </a:solidFill>
                <a:latin typeface="Calibri"/>
              </a:rPr>
              <a:t>A frictionless first order. She should never meet a form field whose purpose she can't guess.</a:t>
            </a:r>
          </a:p>
        </p:txBody>
      </p:sp>
      <p:sp>
        <p:nvSpPr>
          <p:cNvPr id="14" name="TextBox 13"/>
          <p:cNvSpPr txBox="1"/>
          <p:nvPr/>
        </p:nvSpPr>
        <p:spPr>
          <a:xfrm>
            <a:off x="841248" y="4279392"/>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D9772E"/>
                </a:solidFill>
                <a:latin typeface="Trebuchet MS"/>
              </a:rPr>
              <a:t>SURFACES THEY TOUCH</a:t>
            </a:r>
          </a:p>
        </p:txBody>
      </p:sp>
      <p:sp>
        <p:nvSpPr>
          <p:cNvPr id="15" name="TextBox 14"/>
          <p:cNvSpPr txBox="1"/>
          <p:nvPr/>
        </p:nvSpPr>
        <p:spPr>
          <a:xfrm>
            <a:off x="841248" y="4480560"/>
            <a:ext cx="3125114" cy="411480"/>
          </a:xfrm>
          <a:prstGeom prst="rect">
            <a:avLst/>
          </a:prstGeom>
          <a:noFill/>
        </p:spPr>
        <p:txBody>
          <a:bodyPr wrap="square" anchor="t" lIns="0" rIns="0" tIns="0" bIns="0">
            <a:spAutoFit/>
          </a:bodyPr>
          <a:lstStyle/>
          <a:p>
            <a:pPr algn="l">
              <a:lnSpc>
                <a:spcPct val="116000"/>
              </a:lnSpc>
              <a:spcAft>
                <a:spcPts val="0"/>
              </a:spcAft>
            </a:pPr>
            <a:r>
              <a:rPr sz="950" b="0" i="0">
                <a:solidFill>
                  <a:srgbClr val="5B6450"/>
                </a:solidFill>
                <a:latin typeface="Consolas"/>
              </a:rPr>
              <a:t>Combos, gift boxes, build-your-own box,
guest-friendly checkout</a:t>
            </a:r>
          </a:p>
        </p:txBody>
      </p:sp>
      <p:sp>
        <p:nvSpPr>
          <p:cNvPr id="16" name="Rectangle 15"/>
          <p:cNvSpPr/>
          <p:nvPr/>
        </p:nvSpPr>
        <p:spPr>
          <a:xfrm>
            <a:off x="4350410" y="1298448"/>
            <a:ext cx="3490874" cy="365760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0410" y="1298448"/>
            <a:ext cx="3490874" cy="45720"/>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533290" y="1499616"/>
            <a:ext cx="1266444" cy="246888"/>
          </a:xfrm>
          <a:prstGeom prst="roundRect">
            <a:avLst>
              <a:gd name="adj" fmla="val 50000"/>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Trebuchet MS"/>
              </a:rPr>
              <a:t>RECURRING</a:t>
            </a:r>
          </a:p>
        </p:txBody>
      </p:sp>
      <p:sp>
        <p:nvSpPr>
          <p:cNvPr id="19" name="TextBox 18"/>
          <p:cNvSpPr txBox="1"/>
          <p:nvPr/>
        </p:nvSpPr>
        <p:spPr>
          <a:xfrm>
            <a:off x="4533290" y="1865376"/>
            <a:ext cx="3125114" cy="292608"/>
          </a:xfrm>
          <a:prstGeom prst="rect">
            <a:avLst/>
          </a:prstGeom>
          <a:noFill/>
        </p:spPr>
        <p:txBody>
          <a:bodyPr wrap="square" anchor="t" lIns="0" rIns="0" tIns="0" bIns="0">
            <a:spAutoFit/>
          </a:bodyPr>
          <a:lstStyle/>
          <a:p>
            <a:pPr algn="l">
              <a:lnSpc>
                <a:spcPct val="100000"/>
              </a:lnSpc>
              <a:spcAft>
                <a:spcPts val="0"/>
              </a:spcAft>
            </a:pPr>
            <a:r>
              <a:rPr sz="1500" b="1" i="0">
                <a:solidFill>
                  <a:srgbClr val="243018"/>
                </a:solidFill>
                <a:latin typeface="Trebuchet MS"/>
              </a:rPr>
              <a:t>Rohan · the subscriber</a:t>
            </a:r>
          </a:p>
        </p:txBody>
      </p:sp>
      <p:sp>
        <p:nvSpPr>
          <p:cNvPr id="20" name="TextBox 19"/>
          <p:cNvSpPr txBox="1"/>
          <p:nvPr/>
        </p:nvSpPr>
        <p:spPr>
          <a:xfrm>
            <a:off x="4533290" y="2212848"/>
            <a:ext cx="3125114" cy="82296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Drinks one most mornings. Wants it handled, but on his terms — his days, his cadence, pausable when he travels.</a:t>
            </a:r>
          </a:p>
        </p:txBody>
      </p:sp>
      <p:sp>
        <p:nvSpPr>
          <p:cNvPr id="21" name="Rectangle 20"/>
          <p:cNvSpPr/>
          <p:nvPr/>
        </p:nvSpPr>
        <p:spPr>
          <a:xfrm>
            <a:off x="4533290" y="3072384"/>
            <a:ext cx="3125114" cy="10972"/>
          </a:xfrm>
          <a:prstGeom prst="rect">
            <a:avLst/>
          </a:prstGeom>
          <a:solidFill>
            <a:srgbClr val="E0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33290" y="3200400"/>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7A4A8F"/>
                </a:solidFill>
                <a:latin typeface="Trebuchet MS"/>
              </a:rPr>
              <a:t>SUCCESS LOOKS LIKE</a:t>
            </a:r>
          </a:p>
        </p:txBody>
      </p:sp>
      <p:sp>
        <p:nvSpPr>
          <p:cNvPr id="23" name="TextBox 22"/>
          <p:cNvSpPr txBox="1"/>
          <p:nvPr/>
        </p:nvSpPr>
        <p:spPr>
          <a:xfrm>
            <a:off x="4533290" y="3401568"/>
            <a:ext cx="3125114" cy="777240"/>
          </a:xfrm>
          <a:prstGeom prst="rect">
            <a:avLst/>
          </a:prstGeom>
          <a:noFill/>
        </p:spPr>
        <p:txBody>
          <a:bodyPr wrap="square" anchor="t" lIns="0" rIns="0" tIns="0" bIns="0">
            <a:spAutoFit/>
          </a:bodyPr>
          <a:lstStyle/>
          <a:p>
            <a:pPr algn="l">
              <a:lnSpc>
                <a:spcPct val="116000"/>
              </a:lnSpc>
              <a:spcAft>
                <a:spcPts val="0"/>
              </a:spcAft>
            </a:pPr>
            <a:r>
              <a:rPr sz="1150" b="0" i="0">
                <a:solidFill>
                  <a:srgbClr val="243018"/>
                </a:solidFill>
                <a:latin typeface="Calibri"/>
              </a:rPr>
              <a:t>Set and forget, with control. He should be able to change his mind without emailing anyone.</a:t>
            </a:r>
          </a:p>
        </p:txBody>
      </p:sp>
      <p:sp>
        <p:nvSpPr>
          <p:cNvPr id="24" name="TextBox 23"/>
          <p:cNvSpPr txBox="1"/>
          <p:nvPr/>
        </p:nvSpPr>
        <p:spPr>
          <a:xfrm>
            <a:off x="4533290" y="4279392"/>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7A4A8F"/>
                </a:solidFill>
                <a:latin typeface="Trebuchet MS"/>
              </a:rPr>
              <a:t>SURFACES THEY TOUCH</a:t>
            </a:r>
          </a:p>
        </p:txBody>
      </p:sp>
      <p:sp>
        <p:nvSpPr>
          <p:cNvPr id="25" name="TextBox 24"/>
          <p:cNvSpPr txBox="1"/>
          <p:nvPr/>
        </p:nvSpPr>
        <p:spPr>
          <a:xfrm>
            <a:off x="4533290" y="4480560"/>
            <a:ext cx="3125114" cy="411480"/>
          </a:xfrm>
          <a:prstGeom prst="rect">
            <a:avLst/>
          </a:prstGeom>
          <a:noFill/>
        </p:spPr>
        <p:txBody>
          <a:bodyPr wrap="square" anchor="t" lIns="0" rIns="0" tIns="0" bIns="0">
            <a:spAutoFit/>
          </a:bodyPr>
          <a:lstStyle/>
          <a:p>
            <a:pPr algn="l">
              <a:lnSpc>
                <a:spcPct val="116000"/>
              </a:lnSpc>
              <a:spcAft>
                <a:spcPts val="0"/>
              </a:spcAft>
            </a:pPr>
            <a:r>
              <a:rPr sz="950" b="0" i="0">
                <a:solidFill>
                  <a:srgbClr val="5B6450"/>
                </a:solidFill>
                <a:latin typeface="Consolas"/>
              </a:rPr>
              <a:t>Plans, weekly/monthly cadence, start date
+ delivery days, account area</a:t>
            </a:r>
          </a:p>
        </p:txBody>
      </p:sp>
      <p:sp>
        <p:nvSpPr>
          <p:cNvPr id="26" name="Rectangle 25"/>
          <p:cNvSpPr/>
          <p:nvPr/>
        </p:nvSpPr>
        <p:spPr>
          <a:xfrm>
            <a:off x="8042452" y="1298448"/>
            <a:ext cx="3490874" cy="365760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042452" y="1298448"/>
            <a:ext cx="3490874" cy="45720"/>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225332" y="1499616"/>
            <a:ext cx="1152144" cy="246888"/>
          </a:xfrm>
          <a:prstGeom prst="roundRect">
            <a:avLst>
              <a:gd name="adj" fmla="val 50000"/>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Trebuchet MS"/>
              </a:rPr>
              <a:t>INTERNAL</a:t>
            </a:r>
          </a:p>
        </p:txBody>
      </p:sp>
      <p:sp>
        <p:nvSpPr>
          <p:cNvPr id="29" name="TextBox 28"/>
          <p:cNvSpPr txBox="1"/>
          <p:nvPr/>
        </p:nvSpPr>
        <p:spPr>
          <a:xfrm>
            <a:off x="8225332" y="1865376"/>
            <a:ext cx="3125114" cy="292608"/>
          </a:xfrm>
          <a:prstGeom prst="rect">
            <a:avLst/>
          </a:prstGeom>
          <a:noFill/>
        </p:spPr>
        <p:txBody>
          <a:bodyPr wrap="square" anchor="t" lIns="0" rIns="0" tIns="0" bIns="0">
            <a:spAutoFit/>
          </a:bodyPr>
          <a:lstStyle/>
          <a:p>
            <a:pPr algn="l">
              <a:lnSpc>
                <a:spcPct val="100000"/>
              </a:lnSpc>
              <a:spcAft>
                <a:spcPts val="0"/>
              </a:spcAft>
            </a:pPr>
            <a:r>
              <a:rPr sz="1500" b="1" i="0">
                <a:solidFill>
                  <a:srgbClr val="243018"/>
                </a:solidFill>
                <a:latin typeface="Trebuchet MS"/>
              </a:rPr>
              <a:t>Meera · ops lead</a:t>
            </a:r>
          </a:p>
        </p:txBody>
      </p:sp>
      <p:sp>
        <p:nvSpPr>
          <p:cNvPr id="30" name="TextBox 29"/>
          <p:cNvSpPr txBox="1"/>
          <p:nvPr/>
        </p:nvSpPr>
        <p:spPr>
          <a:xfrm>
            <a:off x="8225332" y="2212848"/>
            <a:ext cx="3125114" cy="82296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Runs the press and the produce order. Today she'd be reconciling a spreadsheet against WhatsApp messages.</a:t>
            </a:r>
          </a:p>
        </p:txBody>
      </p:sp>
      <p:sp>
        <p:nvSpPr>
          <p:cNvPr id="31" name="Rectangle 30"/>
          <p:cNvSpPr/>
          <p:nvPr/>
        </p:nvSpPr>
        <p:spPr>
          <a:xfrm>
            <a:off x="8225332" y="3072384"/>
            <a:ext cx="3125114" cy="10972"/>
          </a:xfrm>
          <a:prstGeom prst="rect">
            <a:avLst/>
          </a:prstGeom>
          <a:solidFill>
            <a:srgbClr val="E0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5332" y="3200400"/>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2F5D34"/>
                </a:solidFill>
                <a:latin typeface="Trebuchet MS"/>
              </a:rPr>
              <a:t>SUCCESS LOOKS LIKE</a:t>
            </a:r>
          </a:p>
        </p:txBody>
      </p:sp>
      <p:sp>
        <p:nvSpPr>
          <p:cNvPr id="33" name="TextBox 32"/>
          <p:cNvSpPr txBox="1"/>
          <p:nvPr/>
        </p:nvSpPr>
        <p:spPr>
          <a:xfrm>
            <a:off x="8225332" y="3401568"/>
            <a:ext cx="3125114" cy="777240"/>
          </a:xfrm>
          <a:prstGeom prst="rect">
            <a:avLst/>
          </a:prstGeom>
          <a:noFill/>
        </p:spPr>
        <p:txBody>
          <a:bodyPr wrap="square" anchor="t" lIns="0" rIns="0" tIns="0" bIns="0">
            <a:spAutoFit/>
          </a:bodyPr>
          <a:lstStyle/>
          <a:p>
            <a:pPr algn="l">
              <a:lnSpc>
                <a:spcPct val="116000"/>
              </a:lnSpc>
              <a:spcAft>
                <a:spcPts val="0"/>
              </a:spcAft>
            </a:pPr>
            <a:r>
              <a:rPr sz="1150" b="0" i="0">
                <a:solidFill>
                  <a:srgbClr val="243018"/>
                </a:solidFill>
                <a:latin typeface="Calibri"/>
              </a:rPr>
              <a:t>One screen that tells her what to press, what's moving, and what's running low.</a:t>
            </a:r>
          </a:p>
        </p:txBody>
      </p:sp>
      <p:sp>
        <p:nvSpPr>
          <p:cNvPr id="34" name="TextBox 33"/>
          <p:cNvSpPr txBox="1"/>
          <p:nvPr/>
        </p:nvSpPr>
        <p:spPr>
          <a:xfrm>
            <a:off x="8225332" y="4279392"/>
            <a:ext cx="3125114" cy="182880"/>
          </a:xfrm>
          <a:prstGeom prst="rect">
            <a:avLst/>
          </a:prstGeom>
          <a:noFill/>
        </p:spPr>
        <p:txBody>
          <a:bodyPr wrap="square" anchor="t" lIns="0" rIns="0" tIns="0" bIns="0">
            <a:spAutoFit/>
          </a:bodyPr>
          <a:lstStyle/>
          <a:p>
            <a:pPr algn="l">
              <a:lnSpc>
                <a:spcPct val="100000"/>
              </a:lnSpc>
              <a:spcAft>
                <a:spcPts val="0"/>
              </a:spcAft>
            </a:pPr>
            <a:r>
              <a:rPr sz="850" b="1" i="0">
                <a:solidFill>
                  <a:srgbClr val="2F5D34"/>
                </a:solidFill>
                <a:latin typeface="Trebuchet MS"/>
              </a:rPr>
              <a:t>SURFACES THEY TOUCH</a:t>
            </a:r>
          </a:p>
        </p:txBody>
      </p:sp>
      <p:sp>
        <p:nvSpPr>
          <p:cNvPr id="35" name="TextBox 34"/>
          <p:cNvSpPr txBox="1"/>
          <p:nvPr/>
        </p:nvSpPr>
        <p:spPr>
          <a:xfrm>
            <a:off x="8225332" y="4480560"/>
            <a:ext cx="3125114" cy="411480"/>
          </a:xfrm>
          <a:prstGeom prst="rect">
            <a:avLst/>
          </a:prstGeom>
          <a:noFill/>
        </p:spPr>
        <p:txBody>
          <a:bodyPr wrap="square" anchor="t" lIns="0" rIns="0" tIns="0" bIns="0">
            <a:spAutoFit/>
          </a:bodyPr>
          <a:lstStyle/>
          <a:p>
            <a:pPr algn="l">
              <a:lnSpc>
                <a:spcPct val="116000"/>
              </a:lnSpc>
              <a:spcAft>
                <a:spcPts val="0"/>
              </a:spcAft>
            </a:pPr>
            <a:r>
              <a:rPr sz="950" b="0" i="0">
                <a:solidFill>
                  <a:srgbClr val="5B6450"/>
                </a:solidFill>
                <a:latin typeface="Consolas"/>
              </a:rPr>
              <a:t>Orders list, status changes, KPI dashboard,
materials + low stock</a:t>
            </a:r>
          </a:p>
        </p:txBody>
      </p:sp>
      <p:sp>
        <p:nvSpPr>
          <p:cNvPr id="36" name="TextBox 35"/>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37" name="TextBox 36"/>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PRODUCT PRINCIPLES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Four rules that settle most arguments for us</a:t>
            </a:r>
          </a:p>
        </p:txBody>
      </p:sp>
      <p:sp>
        <p:nvSpPr>
          <p:cNvPr id="6" name="TextBox 5"/>
          <p:cNvSpPr txBox="1"/>
          <p:nvPr/>
        </p:nvSpPr>
        <p:spPr>
          <a:xfrm>
            <a:off x="658368" y="1298448"/>
            <a:ext cx="10874959" cy="329184"/>
          </a:xfrm>
          <a:prstGeom prst="rect">
            <a:avLst/>
          </a:prstGeom>
          <a:noFill/>
        </p:spPr>
        <p:txBody>
          <a:bodyPr wrap="square" anchor="t" lIns="0" rIns="0" tIns="0" bIns="0">
            <a:spAutoFit/>
          </a:bodyPr>
          <a:lstStyle/>
          <a:p>
            <a:pPr algn="l">
              <a:lnSpc>
                <a:spcPct val="120000"/>
              </a:lnSpc>
              <a:spcAft>
                <a:spcPts val="0"/>
              </a:spcAft>
            </a:pPr>
            <a:r>
              <a:rPr sz="1250" b="0" i="0">
                <a:solidFill>
                  <a:srgbClr val="5B6450"/>
                </a:solidFill>
                <a:latin typeface="Calibri"/>
              </a:rPr>
              <a:t>These are decisions, not aspirations. Each one is already enforced somewhere in the code — and each one has a cost we took knowingly.</a:t>
            </a:r>
          </a:p>
        </p:txBody>
      </p:sp>
      <p:sp>
        <p:nvSpPr>
          <p:cNvPr id="7" name="Rectangle 6"/>
          <p:cNvSpPr/>
          <p:nvPr/>
        </p:nvSpPr>
        <p:spPr>
          <a:xfrm>
            <a:off x="658368" y="1810512"/>
            <a:ext cx="10874959" cy="1024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810512"/>
            <a:ext cx="45720" cy="1024128"/>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2029968"/>
            <a:ext cx="64008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FE6D2"/>
                </a:solidFill>
                <a:latin typeface="Trebuchet MS"/>
              </a:rPr>
              <a:t>01</a:t>
            </a:r>
          </a:p>
        </p:txBody>
      </p:sp>
      <p:sp>
        <p:nvSpPr>
          <p:cNvPr id="10" name="TextBox 9"/>
          <p:cNvSpPr txBox="1"/>
          <p:nvPr/>
        </p:nvSpPr>
        <p:spPr>
          <a:xfrm>
            <a:off x="1499616" y="1956816"/>
            <a:ext cx="9777679" cy="274320"/>
          </a:xfrm>
          <a:prstGeom prst="rect">
            <a:avLst/>
          </a:prstGeom>
          <a:noFill/>
        </p:spPr>
        <p:txBody>
          <a:bodyPr wrap="square" anchor="t" lIns="0" rIns="0" tIns="0" bIns="0">
            <a:spAutoFit/>
          </a:bodyPr>
          <a:lstStyle/>
          <a:p>
            <a:pPr algn="l">
              <a:lnSpc>
                <a:spcPct val="100000"/>
              </a:lnSpc>
              <a:spcAft>
                <a:spcPts val="0"/>
              </a:spcAft>
            </a:pPr>
            <a:r>
              <a:rPr sz="1400" b="1" i="0">
                <a:solidFill>
                  <a:srgbClr val="243018"/>
                </a:solidFill>
                <a:latin typeface="Trebuchet MS"/>
              </a:rPr>
              <a:t>Never gate the catalogue.</a:t>
            </a:r>
          </a:p>
        </p:txBody>
      </p:sp>
      <p:sp>
        <p:nvSpPr>
          <p:cNvPr id="11" name="TextBox 10"/>
          <p:cNvSpPr txBox="1"/>
          <p:nvPr/>
        </p:nvSpPr>
        <p:spPr>
          <a:xfrm>
            <a:off x="1499616" y="2221992"/>
            <a:ext cx="9777679" cy="274320"/>
          </a:xfrm>
          <a:prstGeom prst="rect">
            <a:avLst/>
          </a:prstGeom>
          <a:noFill/>
        </p:spPr>
        <p:txBody>
          <a:bodyPr wrap="square" anchor="t" lIns="0" rIns="0" tIns="0" bIns="0">
            <a:spAutoFit/>
          </a:bodyPr>
          <a:lstStyle/>
          <a:p>
            <a:pPr algn="l">
              <a:lnSpc>
                <a:spcPct val="114000"/>
              </a:lnSpc>
              <a:spcAft>
                <a:spcPts val="0"/>
              </a:spcAft>
            </a:pPr>
            <a:r>
              <a:rPr sz="1150" b="0" i="0">
                <a:solidFill>
                  <a:srgbClr val="5B6450"/>
                </a:solidFill>
                <a:latin typeface="Calibri"/>
              </a:rPr>
              <a:t>No pincode wall and no login wall in front of browsing. The landing page is the strongest marketing asset we have; gating it costs first impressions and search visibility.</a:t>
            </a:r>
          </a:p>
        </p:txBody>
      </p:sp>
      <p:sp>
        <p:nvSpPr>
          <p:cNvPr id="12" name="TextBox 11"/>
          <p:cNvSpPr txBox="1"/>
          <p:nvPr/>
        </p:nvSpPr>
        <p:spPr>
          <a:xfrm>
            <a:off x="1499616" y="2560320"/>
            <a:ext cx="9777679" cy="219456"/>
          </a:xfrm>
          <a:prstGeom prst="rect">
            <a:avLst/>
          </a:prstGeom>
          <a:noFill/>
        </p:spPr>
        <p:txBody>
          <a:bodyPr wrap="square" anchor="t" lIns="0" rIns="0" tIns="0" bIns="0">
            <a:spAutoFit/>
          </a:bodyPr>
          <a:lstStyle/>
          <a:p>
            <a:pPr algn="l">
              <a:lnSpc>
                <a:spcPct val="110000"/>
              </a:lnSpc>
              <a:spcAft>
                <a:spcPts val="0"/>
              </a:spcAft>
            </a:pPr>
            <a:r>
              <a:rPr sz="1050" b="0" i="1">
                <a:solidFill>
                  <a:srgbClr val="D9772E"/>
                </a:solidFill>
                <a:latin typeface="Calibri"/>
              </a:rPr>
              <a:t>Cost: people out of our area can browse things they can't buy — so the soft banner has to do real work.</a:t>
            </a:r>
          </a:p>
        </p:txBody>
      </p:sp>
      <p:sp>
        <p:nvSpPr>
          <p:cNvPr id="13" name="Rectangle 12"/>
          <p:cNvSpPr/>
          <p:nvPr/>
        </p:nvSpPr>
        <p:spPr>
          <a:xfrm>
            <a:off x="658368" y="2926080"/>
            <a:ext cx="10874959" cy="1024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926080"/>
            <a:ext cx="45720" cy="1024128"/>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3145536"/>
            <a:ext cx="64008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FE6D2"/>
                </a:solidFill>
                <a:latin typeface="Trebuchet MS"/>
              </a:rPr>
              <a:t>02</a:t>
            </a:r>
          </a:p>
        </p:txBody>
      </p:sp>
      <p:sp>
        <p:nvSpPr>
          <p:cNvPr id="16" name="TextBox 15"/>
          <p:cNvSpPr txBox="1"/>
          <p:nvPr/>
        </p:nvSpPr>
        <p:spPr>
          <a:xfrm>
            <a:off x="1499616" y="3072384"/>
            <a:ext cx="9777679" cy="274320"/>
          </a:xfrm>
          <a:prstGeom prst="rect">
            <a:avLst/>
          </a:prstGeom>
          <a:noFill/>
        </p:spPr>
        <p:txBody>
          <a:bodyPr wrap="square" anchor="t" lIns="0" rIns="0" tIns="0" bIns="0">
            <a:spAutoFit/>
          </a:bodyPr>
          <a:lstStyle/>
          <a:p>
            <a:pPr algn="l">
              <a:lnSpc>
                <a:spcPct val="100000"/>
              </a:lnSpc>
              <a:spcAft>
                <a:spcPts val="0"/>
              </a:spcAft>
            </a:pPr>
            <a:r>
              <a:rPr sz="1400" b="1" i="0">
                <a:solidFill>
                  <a:srgbClr val="243018"/>
                </a:solidFill>
                <a:latin typeface="Trebuchet MS"/>
              </a:rPr>
              <a:t>Confirm serviceability before money, not before browsing.</a:t>
            </a:r>
          </a:p>
        </p:txBody>
      </p:sp>
      <p:sp>
        <p:nvSpPr>
          <p:cNvPr id="17" name="TextBox 16"/>
          <p:cNvSpPr txBox="1"/>
          <p:nvPr/>
        </p:nvSpPr>
        <p:spPr>
          <a:xfrm>
            <a:off x="1499616" y="3337560"/>
            <a:ext cx="9777679" cy="274320"/>
          </a:xfrm>
          <a:prstGeom prst="rect">
            <a:avLst/>
          </a:prstGeom>
          <a:noFill/>
        </p:spPr>
        <p:txBody>
          <a:bodyPr wrap="square" anchor="t" lIns="0" rIns="0" tIns="0" bIns="0">
            <a:spAutoFit/>
          </a:bodyPr>
          <a:lstStyle/>
          <a:p>
            <a:pPr algn="l">
              <a:lnSpc>
                <a:spcPct val="114000"/>
              </a:lnSpc>
              <a:spcAft>
                <a:spcPts val="0"/>
              </a:spcAft>
            </a:pPr>
            <a:r>
              <a:rPr sz="1150" b="0" i="0">
                <a:solidFill>
                  <a:srgbClr val="5B6450"/>
                </a:solidFill>
                <a:latin typeface="Calibri"/>
              </a:rPr>
              <a:t>One hard check, at checkout, inside the server action. Everywhere else, serviceability is only a hint.</a:t>
            </a:r>
          </a:p>
        </p:txBody>
      </p:sp>
      <p:sp>
        <p:nvSpPr>
          <p:cNvPr id="18" name="TextBox 17"/>
          <p:cNvSpPr txBox="1"/>
          <p:nvPr/>
        </p:nvSpPr>
        <p:spPr>
          <a:xfrm>
            <a:off x="1499616" y="3675888"/>
            <a:ext cx="9777679" cy="219456"/>
          </a:xfrm>
          <a:prstGeom prst="rect">
            <a:avLst/>
          </a:prstGeom>
          <a:noFill/>
        </p:spPr>
        <p:txBody>
          <a:bodyPr wrap="square" anchor="t" lIns="0" rIns="0" tIns="0" bIns="0">
            <a:spAutoFit/>
          </a:bodyPr>
          <a:lstStyle/>
          <a:p>
            <a:pPr algn="l">
              <a:lnSpc>
                <a:spcPct val="110000"/>
              </a:lnSpc>
              <a:spcAft>
                <a:spcPts val="0"/>
              </a:spcAft>
            </a:pPr>
            <a:r>
              <a:rPr sz="1050" b="0" i="1">
                <a:solidFill>
                  <a:srgbClr val="D9772E"/>
                </a:solidFill>
                <a:latin typeface="Calibri"/>
              </a:rPr>
              <a:t>Cost: a customer can fill an entire checkout form before being told no. Accepted — see slide 9.</a:t>
            </a:r>
          </a:p>
        </p:txBody>
      </p:sp>
      <p:sp>
        <p:nvSpPr>
          <p:cNvPr id="19" name="Rectangle 18"/>
          <p:cNvSpPr/>
          <p:nvPr/>
        </p:nvSpPr>
        <p:spPr>
          <a:xfrm>
            <a:off x="658368" y="4041648"/>
            <a:ext cx="10874959" cy="1024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4041648"/>
            <a:ext cx="45720" cy="1024128"/>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 y="4261104"/>
            <a:ext cx="64008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FE6D2"/>
                </a:solidFill>
                <a:latin typeface="Trebuchet MS"/>
              </a:rPr>
              <a:t>03</a:t>
            </a:r>
          </a:p>
        </p:txBody>
      </p:sp>
      <p:sp>
        <p:nvSpPr>
          <p:cNvPr id="22" name="TextBox 21"/>
          <p:cNvSpPr txBox="1"/>
          <p:nvPr/>
        </p:nvSpPr>
        <p:spPr>
          <a:xfrm>
            <a:off x="1499616" y="4187952"/>
            <a:ext cx="9777679" cy="274320"/>
          </a:xfrm>
          <a:prstGeom prst="rect">
            <a:avLst/>
          </a:prstGeom>
          <a:noFill/>
        </p:spPr>
        <p:txBody>
          <a:bodyPr wrap="square" anchor="t" lIns="0" rIns="0" tIns="0" bIns="0">
            <a:spAutoFit/>
          </a:bodyPr>
          <a:lstStyle/>
          <a:p>
            <a:pPr algn="l">
              <a:lnSpc>
                <a:spcPct val="100000"/>
              </a:lnSpc>
              <a:spcAft>
                <a:spcPts val="0"/>
              </a:spcAft>
            </a:pPr>
            <a:r>
              <a:rPr sz="1400" b="1" i="0">
                <a:solidFill>
                  <a:srgbClr val="243018"/>
                </a:solidFill>
                <a:latin typeface="Trebuchet MS"/>
              </a:rPr>
              <a:t>Delivery date is a product decision.</a:t>
            </a:r>
          </a:p>
        </p:txBody>
      </p:sp>
      <p:sp>
        <p:nvSpPr>
          <p:cNvPr id="23" name="TextBox 22"/>
          <p:cNvSpPr txBox="1"/>
          <p:nvPr/>
        </p:nvSpPr>
        <p:spPr>
          <a:xfrm>
            <a:off x="1499616" y="4453128"/>
            <a:ext cx="9777679" cy="274320"/>
          </a:xfrm>
          <a:prstGeom prst="rect">
            <a:avLst/>
          </a:prstGeom>
          <a:noFill/>
        </p:spPr>
        <p:txBody>
          <a:bodyPr wrap="square" anchor="t" lIns="0" rIns="0" tIns="0" bIns="0">
            <a:spAutoFit/>
          </a:bodyPr>
          <a:lstStyle/>
          <a:p>
            <a:pPr algn="l">
              <a:lnSpc>
                <a:spcPct val="114000"/>
              </a:lnSpc>
              <a:spcAft>
                <a:spcPts val="0"/>
              </a:spcAft>
            </a:pPr>
            <a:r>
              <a:rPr sz="1150" b="0" i="0">
                <a:solidFill>
                  <a:srgbClr val="5B6450"/>
                </a:solidFill>
                <a:latin typeface="Calibri"/>
              </a:rPr>
              <a:t>Date and slot are a first-class, numbered checkout step — not a shipping estimate tucked onto the confirmation page.</a:t>
            </a:r>
          </a:p>
        </p:txBody>
      </p:sp>
      <p:sp>
        <p:nvSpPr>
          <p:cNvPr id="24" name="TextBox 23"/>
          <p:cNvSpPr txBox="1"/>
          <p:nvPr/>
        </p:nvSpPr>
        <p:spPr>
          <a:xfrm>
            <a:off x="1499616" y="4791456"/>
            <a:ext cx="9777679" cy="219456"/>
          </a:xfrm>
          <a:prstGeom prst="rect">
            <a:avLst/>
          </a:prstGeom>
          <a:noFill/>
        </p:spPr>
        <p:txBody>
          <a:bodyPr wrap="square" anchor="t" lIns="0" rIns="0" tIns="0" bIns="0">
            <a:spAutoFit/>
          </a:bodyPr>
          <a:lstStyle/>
          <a:p>
            <a:pPr algn="l">
              <a:lnSpc>
                <a:spcPct val="110000"/>
              </a:lnSpc>
              <a:spcAft>
                <a:spcPts val="0"/>
              </a:spcAft>
            </a:pPr>
            <a:r>
              <a:rPr sz="1050" b="0" i="1">
                <a:solidFill>
                  <a:srgbClr val="D9772E"/>
                </a:solidFill>
                <a:latin typeface="Calibri"/>
              </a:rPr>
              <a:t>Cost: checkout is longer than a standard cart. Worth it for something made the night before.</a:t>
            </a:r>
          </a:p>
        </p:txBody>
      </p:sp>
      <p:sp>
        <p:nvSpPr>
          <p:cNvPr id="25" name="Rectangle 24"/>
          <p:cNvSpPr/>
          <p:nvPr/>
        </p:nvSpPr>
        <p:spPr>
          <a:xfrm>
            <a:off x="658368" y="5157216"/>
            <a:ext cx="10874959" cy="1024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58368" y="5157216"/>
            <a:ext cx="45720" cy="1024128"/>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77824" y="5376672"/>
            <a:ext cx="640080" cy="457200"/>
          </a:xfrm>
          <a:prstGeom prst="rect">
            <a:avLst/>
          </a:prstGeom>
          <a:noFill/>
        </p:spPr>
        <p:txBody>
          <a:bodyPr wrap="square" anchor="t" lIns="0" rIns="0" tIns="0" bIns="0">
            <a:spAutoFit/>
          </a:bodyPr>
          <a:lstStyle/>
          <a:p>
            <a:pPr algn="l">
              <a:lnSpc>
                <a:spcPct val="100000"/>
              </a:lnSpc>
              <a:spcAft>
                <a:spcPts val="0"/>
              </a:spcAft>
            </a:pPr>
            <a:r>
              <a:rPr sz="2200" b="1" i="0">
                <a:solidFill>
                  <a:srgbClr val="EFE6D2"/>
                </a:solidFill>
                <a:latin typeface="Trebuchet MS"/>
              </a:rPr>
              <a:t>04</a:t>
            </a:r>
          </a:p>
        </p:txBody>
      </p:sp>
      <p:sp>
        <p:nvSpPr>
          <p:cNvPr id="28" name="TextBox 27"/>
          <p:cNvSpPr txBox="1"/>
          <p:nvPr/>
        </p:nvSpPr>
        <p:spPr>
          <a:xfrm>
            <a:off x="1499616" y="5303520"/>
            <a:ext cx="9777679" cy="274320"/>
          </a:xfrm>
          <a:prstGeom prst="rect">
            <a:avLst/>
          </a:prstGeom>
          <a:noFill/>
        </p:spPr>
        <p:txBody>
          <a:bodyPr wrap="square" anchor="t" lIns="0" rIns="0" tIns="0" bIns="0">
            <a:spAutoFit/>
          </a:bodyPr>
          <a:lstStyle/>
          <a:p>
            <a:pPr algn="l">
              <a:lnSpc>
                <a:spcPct val="100000"/>
              </a:lnSpc>
              <a:spcAft>
                <a:spcPts val="0"/>
              </a:spcAft>
            </a:pPr>
            <a:r>
              <a:rPr sz="1400" b="1" i="0">
                <a:solidFill>
                  <a:srgbClr val="243018"/>
                </a:solidFill>
                <a:latin typeface="Trebuchet MS"/>
              </a:rPr>
              <a:t>Every sale is traceable to the produce it consumes.</a:t>
            </a:r>
          </a:p>
        </p:txBody>
      </p:sp>
      <p:sp>
        <p:nvSpPr>
          <p:cNvPr id="29" name="TextBox 28"/>
          <p:cNvSpPr txBox="1"/>
          <p:nvPr/>
        </p:nvSpPr>
        <p:spPr>
          <a:xfrm>
            <a:off x="1499616" y="5568696"/>
            <a:ext cx="9777679" cy="274320"/>
          </a:xfrm>
          <a:prstGeom prst="rect">
            <a:avLst/>
          </a:prstGeom>
          <a:noFill/>
        </p:spPr>
        <p:txBody>
          <a:bodyPr wrap="square" anchor="t" lIns="0" rIns="0" tIns="0" bIns="0">
            <a:spAutoFit/>
          </a:bodyPr>
          <a:lstStyle/>
          <a:p>
            <a:pPr algn="l">
              <a:lnSpc>
                <a:spcPct val="114000"/>
              </a:lnSpc>
              <a:spcAft>
                <a:spcPts val="0"/>
              </a:spcAft>
            </a:pPr>
            <a:r>
              <a:rPr sz="1150" b="0" i="0">
                <a:solidFill>
                  <a:srgbClr val="5B6450"/>
                </a:solidFill>
                <a:latin typeface="Calibri"/>
              </a:rPr>
              <a:t>Each product carries a recipe: a bill of materials against the raw produce ops actually tracks.</a:t>
            </a:r>
          </a:p>
        </p:txBody>
      </p:sp>
      <p:sp>
        <p:nvSpPr>
          <p:cNvPr id="30" name="TextBox 29"/>
          <p:cNvSpPr txBox="1"/>
          <p:nvPr/>
        </p:nvSpPr>
        <p:spPr>
          <a:xfrm>
            <a:off x="1499616" y="5907024"/>
            <a:ext cx="9777679" cy="219456"/>
          </a:xfrm>
          <a:prstGeom prst="rect">
            <a:avLst/>
          </a:prstGeom>
          <a:noFill/>
        </p:spPr>
        <p:txBody>
          <a:bodyPr wrap="square" anchor="t" lIns="0" rIns="0" tIns="0" bIns="0">
            <a:spAutoFit/>
          </a:bodyPr>
          <a:lstStyle/>
          <a:p>
            <a:pPr algn="l">
              <a:lnSpc>
                <a:spcPct val="110000"/>
              </a:lnSpc>
              <a:spcAft>
                <a:spcPts val="0"/>
              </a:spcAft>
            </a:pPr>
            <a:r>
              <a:rPr sz="1050" b="0" i="1">
                <a:solidFill>
                  <a:srgbClr val="D9772E"/>
                </a:solidFill>
                <a:latin typeface="Calibri"/>
              </a:rPr>
              <a:t>Cost: the catalogue is more work to author. It's what makes the ops side more than a list of orders.</a:t>
            </a:r>
          </a:p>
        </p:txBody>
      </p:sp>
      <p:sp>
        <p:nvSpPr>
          <p:cNvPr id="31" name="TextBox 30"/>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32" name="TextBox 31"/>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SCOPE</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What v1 is — and what it deliberately is not</a:t>
            </a:r>
          </a:p>
        </p:txBody>
      </p:sp>
      <p:sp>
        <p:nvSpPr>
          <p:cNvPr id="6" name="Rectangle 5"/>
          <p:cNvSpPr/>
          <p:nvPr/>
        </p:nvSpPr>
        <p:spPr>
          <a:xfrm>
            <a:off x="658368" y="1298448"/>
            <a:ext cx="5291176" cy="3310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298448"/>
            <a:ext cx="5291176" cy="45720"/>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9536" y="1481328"/>
            <a:ext cx="4888840" cy="274320"/>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IN SCOPE — SHIPPED OR IN FLIGHT</a:t>
            </a:r>
          </a:p>
        </p:txBody>
      </p:sp>
      <p:sp>
        <p:nvSpPr>
          <p:cNvPr id="9" name="TextBox 8"/>
          <p:cNvSpPr txBox="1"/>
          <p:nvPr/>
        </p:nvSpPr>
        <p:spPr>
          <a:xfrm>
            <a:off x="859536" y="1773936"/>
            <a:ext cx="4888840"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Catalogue</a:t>
            </a:r>
            <a:r>
              <a:rPr sz="1100">
                <a:solidFill>
                  <a:srgbClr val="5B6450"/>
                </a:solidFill>
                <a:latin typeface="Calibri"/>
              </a:rPr>
              <a:t>  15 SKUs — 13 juices, 1 smoothie, 1 shot — plus seasonal produce and detail pages</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Combos &amp; boxes</a:t>
            </a:r>
            <a:r>
              <a:rPr sz="1100">
                <a:solidFill>
                  <a:srgbClr val="5B6450"/>
                </a:solidFill>
                <a:latin typeface="Calibri"/>
              </a:rPr>
              <a:t>  curated combos, and a build-your-own box that keeps different fills as separate cart lines</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Cart</a:t>
            </a:r>
            <a:r>
              <a:rPr sz="1100">
                <a:solidFill>
                  <a:srgbClr val="5B6450"/>
                </a:solidFill>
                <a:latin typeface="Calibri"/>
              </a:rPr>
              <a:t>  drawer, quantities, survives reload</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One-time checkout</a:t>
            </a:r>
            <a:r>
              <a:rPr sz="1100">
                <a:solidFill>
                  <a:srgbClr val="5B6450"/>
                </a:solidFill>
                <a:latin typeface="Calibri"/>
              </a:rPr>
              <a:t>  pincode → date + slot → address → pay, with inline validation</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Subscriptions</a:t>
            </a:r>
            <a:r>
              <a:rPr sz="1100">
                <a:solidFill>
                  <a:srgbClr val="5B6450"/>
                </a:solidFill>
                <a:latin typeface="Calibri"/>
              </a:rPr>
              <a:t>  3 plans, weekly/monthly cadence, start date and delivery days</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Accounts</a:t>
            </a:r>
            <a:r>
              <a:rPr sz="1100">
                <a:solidFill>
                  <a:srgbClr val="5B6450"/>
                </a:solidFill>
                <a:latin typeface="Calibri"/>
              </a:rPr>
              <a:t>  real passwords, server session, order history, order timeline</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Public tracking</a:t>
            </a:r>
            <a:r>
              <a:rPr sz="1100">
                <a:solidFill>
                  <a:srgbClr val="5B6450"/>
                </a:solidFill>
                <a:latin typeface="Calibri"/>
              </a:rPr>
              <a:t>  order ID plus email, no login required</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Ops console</a:t>
            </a:r>
            <a:r>
              <a:rPr sz="1100">
                <a:solidFill>
                  <a:srgbClr val="5B6450"/>
                </a:solidFill>
                <a:latin typeface="Calibri"/>
              </a:rPr>
              <a:t>  orders list and detail, status changes, KPI dashboard, materials with low-stock alerts</a:t>
            </a:r>
          </a:p>
        </p:txBody>
      </p:sp>
      <p:sp>
        <p:nvSpPr>
          <p:cNvPr id="10" name="Rectangle 9"/>
          <p:cNvSpPr/>
          <p:nvPr/>
        </p:nvSpPr>
        <p:spPr>
          <a:xfrm>
            <a:off x="6242152" y="1298448"/>
            <a:ext cx="5291176" cy="331012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42152" y="1298448"/>
            <a:ext cx="5291176" cy="45720"/>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43320" y="1481328"/>
            <a:ext cx="4888840" cy="274320"/>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OUT OF SCOPE FOR V1 — NAMED, NOT FORGOTTEN</a:t>
            </a:r>
          </a:p>
        </p:txBody>
      </p:sp>
      <p:sp>
        <p:nvSpPr>
          <p:cNvPr id="13" name="TextBox 12"/>
          <p:cNvSpPr txBox="1"/>
          <p:nvPr/>
        </p:nvSpPr>
        <p:spPr>
          <a:xfrm>
            <a:off x="6443320" y="1773936"/>
            <a:ext cx="4888840"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Recurring generation</a:t>
            </a:r>
            <a:r>
              <a:rPr sz="1100">
                <a:solidFill>
                  <a:srgbClr val="5B6450"/>
                </a:solidFill>
                <a:latin typeface="Calibri"/>
              </a:rPr>
              <a:t>  a subscription writes one order today; nothing generates delivery two</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Inventory deduction</a:t>
            </a:r>
            <a:r>
              <a:rPr sz="1100">
                <a:solidFill>
                  <a:srgbClr val="5B6450"/>
                </a:solidFill>
                <a:latin typeface="Calibri"/>
              </a:rPr>
              <a:t>  recipes exist and are displayed, but stock never moves</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Admin authentication</a:t>
            </a:r>
            <a:r>
              <a:rPr sz="1100">
                <a:solidFill>
                  <a:srgbClr val="5B6450"/>
                </a:solidFill>
                <a:latin typeface="Calibri"/>
              </a:rPr>
              <a:t>  anyone who can reach the admin port can change any status</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Real payment gateway</a:t>
            </a:r>
            <a:r>
              <a:rPr sz="1100">
                <a:solidFill>
                  <a:srgbClr val="5B6450"/>
                </a:solidFill>
                <a:latin typeface="Calibri"/>
              </a:rPr>
              <a:t>  mocked deliberately, behind a swappable function</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Notifications</a:t>
            </a:r>
            <a:r>
              <a:rPr sz="1100">
                <a:solidFill>
                  <a:srgbClr val="5B6450"/>
                </a:solidFill>
                <a:latin typeface="Calibri"/>
              </a:rPr>
              <a:t>  no email, SMS or WhatsApp — confirmation is on-screen only</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Waitlist capture</a:t>
            </a:r>
            <a:r>
              <a:rPr sz="1100">
                <a:solidFill>
                  <a:srgbClr val="5B6450"/>
                </a:solidFill>
                <a:latin typeface="Calibri"/>
              </a:rPr>
              <a:t>  the out-of-area promise has nowhere to write</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Customer-side cancel</a:t>
            </a:r>
            <a:r>
              <a:rPr sz="1100">
                <a:solidFill>
                  <a:srgbClr val="5B6450"/>
                </a:solidFill>
                <a:latin typeface="Calibri"/>
              </a:rPr>
              <a:t>  cancelled exists as a status; only ops can set it</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Catalogue editing</a:t>
            </a:r>
            <a:r>
              <a:rPr sz="1100">
                <a:solidFill>
                  <a:srgbClr val="5B6450"/>
                </a:solidFill>
                <a:latin typeface="Calibri"/>
              </a:rPr>
              <a:t>  admin product and material pages are read-only views</a:t>
            </a:r>
          </a:p>
        </p:txBody>
      </p:sp>
      <p:sp>
        <p:nvSpPr>
          <p:cNvPr id="14" name="TextBox 13"/>
          <p:cNvSpPr txBox="1"/>
          <p:nvPr/>
        </p:nvSpPr>
        <p:spPr>
          <a:xfrm>
            <a:off x="658368" y="4754880"/>
            <a:ext cx="10874959" cy="274320"/>
          </a:xfrm>
          <a:prstGeom prst="rect">
            <a:avLst/>
          </a:prstGeom>
          <a:noFill/>
        </p:spPr>
        <p:txBody>
          <a:bodyPr wrap="square" anchor="t" lIns="0" rIns="0" tIns="0" bIns="0">
            <a:spAutoFit/>
          </a:bodyPr>
          <a:lstStyle/>
          <a:p>
            <a:pPr algn="l">
              <a:lnSpc>
                <a:spcPct val="115000"/>
              </a:lnSpc>
              <a:spcAft>
                <a:spcPts val="0"/>
              </a:spcAft>
            </a:pPr>
            <a:r>
              <a:rPr sz="1200" b="1" i="0">
                <a:solidFill>
                  <a:srgbClr val="243018"/>
                </a:solidFill>
                <a:latin typeface="Calibri"/>
              </a:rPr>
              <a:t>Why say the out-of-scope list out loud:  </a:t>
            </a:r>
            <a:r>
              <a:rPr sz="1200" b="0" i="0">
                <a:solidFill>
                  <a:srgbClr val="5B6450"/>
                </a:solidFill>
                <a:latin typeface="Calibri"/>
              </a:rPr>
              <a:t>every one of those has a named owner and a slot in the Phase 4 sequence on slide 21. An unnamed gap becomes a production surprise.</a:t>
            </a:r>
          </a:p>
        </p:txBody>
      </p:sp>
      <p:sp>
        <p:nvSpPr>
          <p:cNvPr id="15" name="TextBox 14"/>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6" name="TextBox 15"/>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7A4A8F"/>
                </a:solidFill>
                <a:latin typeface="Trebuchet MS"/>
              </a:rPr>
              <a:t>THE TWO PURCHASE MODES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Parallel intents that converge on one checkout</a:t>
            </a:r>
          </a:p>
        </p:txBody>
      </p:sp>
      <p:graphicFrame>
        <p:nvGraphicFramePr>
          <p:cNvPr id="6" name="Table 5"/>
          <p:cNvGraphicFramePr>
            <a:graphicFrameLocks noGrp="1"/>
          </p:cNvGraphicFramePr>
          <p:nvPr/>
        </p:nvGraphicFramePr>
        <p:xfrm>
          <a:off x="658368" y="1298448"/>
          <a:ext cx="10874960" cy="3657600"/>
        </p:xfrm>
        <a:graphic>
          <a:graphicData uri="http://schemas.openxmlformats.org/drawingml/2006/table">
            <a:tbl>
              <a:tblPr firstRow="1">
                <a:tableStyleId>{5C22544A-7EE6-4342-B048-85BDC9FD1C3A}</a:tableStyleId>
              </a:tblPr>
              <a:tblGrid>
                <a:gridCol w="2101883"/>
                <a:gridCol w="4203766"/>
                <a:gridCol w="4569311"/>
              </a:tblGrid>
              <a:tr h="329184">
                <a:tc>
                  <a:txBody>
                    <a:bodyPr wrap="square"/>
                    <a:lstStyle/>
                    <a:p>
                      <a:r>
                        <a:rPr sz="1050" b="1" i="0">
                          <a:solidFill>
                            <a:srgbClr val="F6F0E2"/>
                          </a:solidFill>
                          <a:latin typeface="Calibri"/>
                        </a:rPr>
                        <a:t/>
                      </a:r>
                    </a:p>
                  </a:txBody>
                  <a:tcPr marL="91440" marR="73152" marT="36576" marB="36576" anchor="ctr">
                    <a:solidFill>
                      <a:srgbClr val="2F5D34"/>
                    </a:solidFill>
                  </a:tcPr>
                </a:tc>
                <a:tc>
                  <a:txBody>
                    <a:bodyPr wrap="square"/>
                    <a:lstStyle/>
                    <a:p>
                      <a:r>
                        <a:rPr sz="1050" b="1" i="0">
                          <a:solidFill>
                            <a:srgbClr val="F6F0E2"/>
                          </a:solidFill>
                          <a:latin typeface="Calibri"/>
                        </a:rPr>
                        <a:t>One-time</a:t>
                      </a:r>
                    </a:p>
                  </a:txBody>
                  <a:tcPr marL="91440" marR="73152" marT="36576" marB="36576" anchor="ctr">
                    <a:solidFill>
                      <a:srgbClr val="2F5D34"/>
                    </a:solidFill>
                  </a:tcPr>
                </a:tc>
                <a:tc>
                  <a:txBody>
                    <a:bodyPr wrap="square"/>
                    <a:lstStyle/>
                    <a:p>
                      <a:r>
                        <a:rPr sz="1050" b="1" i="0">
                          <a:solidFill>
                            <a:srgbClr val="F6F0E2"/>
                          </a:solidFill>
                          <a:latin typeface="Calibri"/>
                        </a:rPr>
                        <a:t>Subscription</a:t>
                      </a:r>
                    </a:p>
                  </a:txBody>
                  <a:tcPr marL="91440" marR="73152" marT="36576" marB="36576" anchor="ctr">
                    <a:solidFill>
                      <a:srgbClr val="2F5D34"/>
                    </a:solidFill>
                  </a:tcPr>
                </a:tc>
              </a:tr>
              <a:tr h="475488">
                <a:tc>
                  <a:txBody>
                    <a:bodyPr wrap="square"/>
                    <a:lstStyle/>
                    <a:p>
                      <a:r>
                        <a:rPr sz="1150" b="1" i="0">
                          <a:solidFill>
                            <a:srgbClr val="243018"/>
                          </a:solidFill>
                          <a:latin typeface="Calibri"/>
                        </a:rPr>
                        <a:t>Customer intent</a:t>
                      </a:r>
                    </a:p>
                  </a:txBody>
                  <a:tcPr marL="91440" marR="73152" marT="36576" marB="36576" anchor="ctr">
                    <a:solidFill>
                      <a:srgbClr val="F6F0E2"/>
                    </a:solidFill>
                  </a:tcPr>
                </a:tc>
                <a:tc>
                  <a:txBody>
                    <a:bodyPr wrap="square"/>
                    <a:lstStyle/>
                    <a:p>
                      <a:r>
                        <a:rPr sz="1150" b="0" i="0">
                          <a:solidFill>
                            <a:srgbClr val="243018"/>
                          </a:solidFill>
                          <a:latin typeface="Calibri"/>
                        </a:rPr>
                        <a:t>Try it, or gift it. No commitment.</a:t>
                      </a:r>
                    </a:p>
                  </a:txBody>
                  <a:tcPr marL="91440" marR="73152" marT="36576" marB="36576" anchor="ctr">
                    <a:solidFill>
                      <a:srgbClr val="F6F0E2"/>
                    </a:solidFill>
                  </a:tcPr>
                </a:tc>
                <a:tc>
                  <a:txBody>
                    <a:bodyPr wrap="square"/>
                    <a:lstStyle/>
                    <a:p>
                      <a:r>
                        <a:rPr sz="1150" b="0" i="0">
                          <a:solidFill>
                            <a:srgbClr val="243018"/>
                          </a:solidFill>
                          <a:latin typeface="Calibri"/>
                        </a:rPr>
                        <a:t>Handle my mornings. Recurring revenue for us.</a:t>
                      </a:r>
                    </a:p>
                  </a:txBody>
                  <a:tcPr marL="91440" marR="73152" marT="36576" marB="36576" anchor="ctr">
                    <a:solidFill>
                      <a:srgbClr val="F6F0E2"/>
                    </a:solidFill>
                  </a:tcPr>
                </a:tc>
              </a:tr>
              <a:tr h="475488">
                <a:tc>
                  <a:txBody>
                    <a:bodyPr wrap="square"/>
                    <a:lstStyle/>
                    <a:p>
                      <a:r>
                        <a:rPr sz="1150" b="1" i="0">
                          <a:solidFill>
                            <a:srgbClr val="243018"/>
                          </a:solidFill>
                          <a:latin typeface="Calibri"/>
                        </a:rPr>
                        <a:t>Entry point</a:t>
                      </a:r>
                    </a:p>
                  </a:txBody>
                  <a:tcPr marL="91440" marR="73152" marT="36576" marB="36576" anchor="ctr">
                    <a:solidFill>
                      <a:srgbClr val="FFFFFF"/>
                    </a:solidFill>
                  </a:tcPr>
                </a:tc>
                <a:tc>
                  <a:txBody>
                    <a:bodyPr wrap="square"/>
                    <a:lstStyle/>
                    <a:p>
                      <a:r>
                        <a:rPr sz="1150" b="0" i="0">
                          <a:solidFill>
                            <a:srgbClr val="243018"/>
                          </a:solidFill>
                          <a:latin typeface="Calibri"/>
                        </a:rPr>
                        <a:t>Juice carousel, combos, build-your-own box</a:t>
                      </a:r>
                    </a:p>
                  </a:txBody>
                  <a:tcPr marL="91440" marR="73152" marT="36576" marB="36576" anchor="ctr">
                    <a:solidFill>
                      <a:srgbClr val="FFFFFF"/>
                    </a:solidFill>
                  </a:tcPr>
                </a:tc>
                <a:tc>
                  <a:txBody>
                    <a:bodyPr wrap="square"/>
                    <a:lstStyle/>
                    <a:p>
                      <a:r>
                        <a:rPr sz="1150" b="0" i="0">
                          <a:solidFill>
                            <a:srgbClr val="243018"/>
                          </a:solidFill>
                          <a:latin typeface="Calibri"/>
                        </a:rPr>
                        <a:t>Plans grid on the home page, or /subscribe</a:t>
                      </a:r>
                    </a:p>
                  </a:txBody>
                  <a:tcPr marL="91440" marR="73152" marT="36576" marB="36576" anchor="ctr">
                    <a:solidFill>
                      <a:srgbClr val="FFFFFF"/>
                    </a:solidFill>
                  </a:tcPr>
                </a:tc>
              </a:tr>
              <a:tr h="475488">
                <a:tc>
                  <a:txBody>
                    <a:bodyPr wrap="square"/>
                    <a:lstStyle/>
                    <a:p>
                      <a:r>
                        <a:rPr sz="1150" b="1" i="0">
                          <a:solidFill>
                            <a:srgbClr val="243018"/>
                          </a:solidFill>
                          <a:latin typeface="Calibri"/>
                        </a:rPr>
                        <a:t>Configuration</a:t>
                      </a:r>
                    </a:p>
                  </a:txBody>
                  <a:tcPr marL="91440" marR="73152" marT="36576" marB="36576" anchor="ctr">
                    <a:solidFill>
                      <a:srgbClr val="F6F0E2"/>
                    </a:solidFill>
                  </a:tcPr>
                </a:tc>
                <a:tc>
                  <a:txBody>
                    <a:bodyPr wrap="square"/>
                    <a:lstStyle/>
                    <a:p>
                      <a:r>
                        <a:rPr sz="1150" b="0" i="0">
                          <a:solidFill>
                            <a:srgbClr val="243018"/>
                          </a:solidFill>
                          <a:latin typeface="Calibri"/>
                        </a:rPr>
                        <a:t>Cart: pick bottles and quantities</a:t>
                      </a:r>
                    </a:p>
                  </a:txBody>
                  <a:tcPr marL="91440" marR="73152" marT="36576" marB="36576" anchor="ctr">
                    <a:solidFill>
                      <a:srgbClr val="F6F0E2"/>
                    </a:solidFill>
                  </a:tcPr>
                </a:tc>
                <a:tc>
                  <a:txBody>
                    <a:bodyPr wrap="square"/>
                    <a:lstStyle/>
                    <a:p>
                      <a:r>
                        <a:rPr sz="1150" b="0" i="0">
                          <a:solidFill>
                            <a:srgbClr val="243018"/>
                          </a:solidFill>
                          <a:latin typeface="Calibri"/>
                        </a:rPr>
                        <a:t>Plan card: weekly | monthly, then start date and delivery days</a:t>
                      </a:r>
                    </a:p>
                  </a:txBody>
                  <a:tcPr marL="91440" marR="73152" marT="36576" marB="36576" anchor="ctr">
                    <a:solidFill>
                      <a:srgbClr val="F6F0E2"/>
                    </a:solidFill>
                  </a:tcPr>
                </a:tc>
              </a:tr>
              <a:tr h="475488">
                <a:tc>
                  <a:txBody>
                    <a:bodyPr wrap="square"/>
                    <a:lstStyle/>
                    <a:p>
                      <a:r>
                        <a:rPr sz="1150" b="1" i="0">
                          <a:solidFill>
                            <a:srgbClr val="243018"/>
                          </a:solidFill>
                          <a:latin typeface="Calibri"/>
                        </a:rPr>
                        <a:t>Where cadence is chosen</a:t>
                      </a:r>
                    </a:p>
                  </a:txBody>
                  <a:tcPr marL="91440" marR="73152" marT="36576" marB="36576" anchor="ctr">
                    <a:solidFill>
                      <a:srgbClr val="FFFFFF"/>
                    </a:solidFill>
                  </a:tcPr>
                </a:tc>
                <a:tc>
                  <a:txBody>
                    <a:bodyPr wrap="square"/>
                    <a:lstStyle/>
                    <a:p>
                      <a:r>
                        <a:rPr sz="1150" b="0" i="0">
                          <a:solidFill>
                            <a:srgbClr val="243018"/>
                          </a:solidFill>
                          <a:latin typeface="Calibri"/>
                        </a:rPr>
                        <a:t>n/a</a:t>
                      </a:r>
                    </a:p>
                  </a:txBody>
                  <a:tcPr marL="91440" marR="73152" marT="36576" marB="36576" anchor="ctr">
                    <a:solidFill>
                      <a:srgbClr val="FFFFFF"/>
                    </a:solidFill>
                  </a:tcPr>
                </a:tc>
                <a:tc>
                  <a:txBody>
                    <a:bodyPr wrap="square"/>
                    <a:lstStyle/>
                    <a:p>
                      <a:r>
                        <a:rPr sz="1150" b="0" i="0">
                          <a:solidFill>
                            <a:srgbClr val="243018"/>
                          </a:solidFill>
                          <a:latin typeface="Calibri"/>
                        </a:rPr>
                        <a:t>On the plan card, before checkout — and never asked again</a:t>
                      </a:r>
                    </a:p>
                  </a:txBody>
                  <a:tcPr marL="91440" marR="73152" marT="36576" marB="36576" anchor="ctr">
                    <a:solidFill>
                      <a:srgbClr val="FFFFFF"/>
                    </a:solidFill>
                  </a:tcPr>
                </a:tc>
              </a:tr>
              <a:tr h="475488">
                <a:tc>
                  <a:txBody>
                    <a:bodyPr wrap="square"/>
                    <a:lstStyle/>
                    <a:p>
                      <a:r>
                        <a:rPr sz="1150" b="1" i="0">
                          <a:solidFill>
                            <a:srgbClr val="243018"/>
                          </a:solidFill>
                          <a:latin typeface="Calibri"/>
                        </a:rPr>
                        <a:t>Price authority</a:t>
                      </a:r>
                    </a:p>
                  </a:txBody>
                  <a:tcPr marL="91440" marR="73152" marT="36576" marB="36576" anchor="ctr">
                    <a:solidFill>
                      <a:srgbClr val="F6F0E2"/>
                    </a:solidFill>
                  </a:tcPr>
                </a:tc>
                <a:tc>
                  <a:txBody>
                    <a:bodyPr wrap="square"/>
                    <a:lstStyle/>
                    <a:p>
                      <a:r>
                        <a:rPr sz="1150" b="0" i="0">
                          <a:solidFill>
                            <a:srgbClr val="243018"/>
                          </a:solidFill>
                          <a:latin typeface="Calibri"/>
                        </a:rPr>
                        <a:t>Sum of cart lines, each snapshotting its own price</a:t>
                      </a:r>
                    </a:p>
                  </a:txBody>
                  <a:tcPr marL="91440" marR="73152" marT="36576" marB="36576" anchor="ctr">
                    <a:solidFill>
                      <a:srgbClr val="F6F0E2"/>
                    </a:solidFill>
                  </a:tcPr>
                </a:tc>
                <a:tc>
                  <a:txBody>
                    <a:bodyPr wrap="square"/>
                    <a:lstStyle/>
                    <a:p>
                      <a:r>
                        <a:rPr sz="1150" b="0" i="0">
                          <a:solidFill>
                            <a:srgbClr val="243018"/>
                          </a:solidFill>
                          <a:latin typeface="Calibri"/>
                        </a:rPr>
                        <a:t>Server-side plan lookup. A client-supplied total is never trusted.</a:t>
                      </a:r>
                    </a:p>
                  </a:txBody>
                  <a:tcPr marL="91440" marR="73152" marT="36576" marB="36576" anchor="ctr">
                    <a:solidFill>
                      <a:srgbClr val="F6F0E2"/>
                    </a:solidFill>
                  </a:tcPr>
                </a:tc>
              </a:tr>
              <a:tr h="475488">
                <a:tc>
                  <a:txBody>
                    <a:bodyPr wrap="square"/>
                    <a:lstStyle/>
                    <a:p>
                      <a:r>
                        <a:rPr sz="1150" b="1" i="0">
                          <a:solidFill>
                            <a:srgbClr val="243018"/>
                          </a:solidFill>
                          <a:latin typeface="Calibri"/>
                        </a:rPr>
                        <a:t>What checkout collects</a:t>
                      </a:r>
                    </a:p>
                  </a:txBody>
                  <a:tcPr marL="91440" marR="73152" marT="36576" marB="36576" anchor="ctr">
                    <a:solidFill>
                      <a:srgbClr val="FFFFFF"/>
                    </a:solidFill>
                  </a:tcPr>
                </a:tc>
                <a:tc>
                  <a:txBody>
                    <a:bodyPr wrap="square"/>
                    <a:lstStyle/>
                    <a:p>
                      <a:r>
                        <a:rPr sz="1150" b="0" i="0">
                          <a:solidFill>
                            <a:srgbClr val="243018"/>
                          </a:solidFill>
                          <a:latin typeface="Calibri"/>
                        </a:rPr>
                        <a:t>Pincode, delivery date + slot, address, payment</a:t>
                      </a:r>
                    </a:p>
                  </a:txBody>
                  <a:tcPr marL="91440" marR="73152" marT="36576" marB="36576" anchor="ctr">
                    <a:solidFill>
                      <a:srgbClr val="FFFFFF"/>
                    </a:solidFill>
                  </a:tcPr>
                </a:tc>
                <a:tc>
                  <a:txBody>
                    <a:bodyPr wrap="square"/>
                    <a:lstStyle/>
                    <a:p>
                      <a:r>
                        <a:rPr sz="1150" b="0" i="0">
                          <a:solidFill>
                            <a:srgbClr val="243018"/>
                          </a:solidFill>
                          <a:latin typeface="Calibri"/>
                        </a:rPr>
                        <a:t>Pincode, first delivery, address, payment + recurring consent</a:t>
                      </a:r>
                    </a:p>
                  </a:txBody>
                  <a:tcPr marL="91440" marR="73152" marT="36576" marB="36576" anchor="ctr">
                    <a:solidFill>
                      <a:srgbClr val="FFFFFF"/>
                    </a:solidFill>
                  </a:tcPr>
                </a:tc>
              </a:tr>
              <a:tr h="475488">
                <a:tc>
                  <a:txBody>
                    <a:bodyPr wrap="square"/>
                    <a:lstStyle/>
                    <a:p>
                      <a:r>
                        <a:rPr sz="1150" b="1" i="0">
                          <a:solidFill>
                            <a:srgbClr val="243018"/>
                          </a:solidFill>
                          <a:latin typeface="Calibri"/>
                        </a:rPr>
                        <a:t>What it creates</a:t>
                      </a:r>
                    </a:p>
                  </a:txBody>
                  <a:tcPr marL="91440" marR="73152" marT="36576" marB="36576" anchor="ctr">
                    <a:solidFill>
                      <a:srgbClr val="F6F0E2"/>
                    </a:solidFill>
                  </a:tcPr>
                </a:tc>
                <a:tc>
                  <a:txBody>
                    <a:bodyPr wrap="square"/>
                    <a:lstStyle/>
                    <a:p>
                      <a:r>
                        <a:rPr sz="1150" b="0" i="0">
                          <a:solidFill>
                            <a:srgbClr val="243018"/>
                          </a:solidFill>
                          <a:latin typeface="Calibri"/>
                        </a:rPr>
                        <a:t>An order with itemised lines</a:t>
                      </a:r>
                    </a:p>
                  </a:txBody>
                  <a:tcPr marL="91440" marR="73152" marT="36576" marB="36576" anchor="ctr">
                    <a:solidFill>
                      <a:srgbClr val="F6F0E2"/>
                    </a:solidFill>
                  </a:tcPr>
                </a:tc>
                <a:tc>
                  <a:txBody>
                    <a:bodyPr wrap="square"/>
                    <a:lstStyle/>
                    <a:p>
                      <a:r>
                        <a:rPr sz="1150" b="0" i="0">
                          <a:solidFill>
                            <a:srgbClr val="243018"/>
                          </a:solidFill>
                          <a:latin typeface="Calibri"/>
                        </a:rPr>
                        <a:t>An order with a plan slug and no lines — see the gap on slide 20</a:t>
                      </a:r>
                    </a:p>
                  </a:txBody>
                  <a:tcPr marL="91440" marR="73152" marT="36576" marB="36576" anchor="ctr">
                    <a:solidFill>
                      <a:srgbClr val="F6F0E2"/>
                    </a:solidFill>
                  </a:tcPr>
                </a:tc>
              </a:tr>
            </a:tbl>
          </a:graphicData>
        </a:graphic>
      </p:graphicFrame>
      <p:sp>
        <p:nvSpPr>
          <p:cNvPr id="7" name="Rectangle 6"/>
          <p:cNvSpPr/>
          <p:nvPr/>
        </p:nvSpPr>
        <p:spPr>
          <a:xfrm>
            <a:off x="658368" y="5212080"/>
            <a:ext cx="10874959" cy="658368"/>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5212080"/>
            <a:ext cx="45720" cy="658368"/>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5358384"/>
            <a:ext cx="10372039" cy="457200"/>
          </a:xfrm>
          <a:prstGeom prst="rect">
            <a:avLst/>
          </a:prstGeom>
          <a:noFill/>
        </p:spPr>
        <p:txBody>
          <a:bodyPr wrap="square" anchor="t" lIns="0" rIns="0" tIns="0" bIns="0">
            <a:spAutoFit/>
          </a:bodyPr>
          <a:lstStyle/>
          <a:p>
            <a:pPr algn="l">
              <a:lnSpc>
                <a:spcPct val="116000"/>
              </a:lnSpc>
              <a:spcAft>
                <a:spcPts val="0"/>
              </a:spcAft>
            </a:pPr>
            <a:r>
              <a:rPr sz="1200" b="1" i="0">
                <a:solidFill>
                  <a:srgbClr val="243018"/>
                </a:solidFill>
                <a:latin typeface="Calibri"/>
              </a:rPr>
              <a:t>The design constraint:  </a:t>
            </a:r>
            <a:r>
              <a:rPr sz="1200" b="0" i="0">
                <a:solidFill>
                  <a:srgbClr val="5B6450"/>
                </a:solidFill>
                <a:latin typeface="Calibri"/>
              </a:rPr>
              <a:t>both modes end in one checkout component running in two modes — not two checkouts. One place to get validation, serviceability and payment right, and one place where subscription-only fields must not leak into the one-time path.</a:t>
            </a:r>
          </a:p>
        </p:txBody>
      </p:sp>
      <p:sp>
        <p:nvSpPr>
          <p:cNvPr id="10" name="TextBox 9"/>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1" name="TextBox 10"/>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END-TO-END JOURNEY</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Landing to fulfilment, both paths</a:t>
            </a:r>
          </a:p>
        </p:txBody>
      </p:sp>
      <p:sp>
        <p:nvSpPr>
          <p:cNvPr id="6" name="Rectangle 5"/>
          <p:cNvSpPr/>
          <p:nvPr/>
        </p:nvSpPr>
        <p:spPr>
          <a:xfrm>
            <a:off x="658368" y="1298448"/>
            <a:ext cx="10874959" cy="4956048"/>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1408176"/>
            <a:ext cx="10582351" cy="4736592"/>
          </a:xfrm>
          <a:prstGeom prst="rect">
            <a:avLst/>
          </a:prstGeom>
          <a:noFill/>
        </p:spPr>
        <p:txBody>
          <a:bodyPr wrap="none" lIns="0" rIns="0" tIns="0" bIns="0">
            <a:spAutoFit/>
          </a:bodyPr>
          <a:lstStyle/>
          <a:p>
            <a:pPr>
              <a:lnSpc>
                <a:spcPct val="104000"/>
              </a:lnSpc>
            </a:pPr>
            <a:r>
              <a:rPr sz="869">
                <a:solidFill>
                  <a:srgbClr val="193D20"/>
                </a:solidFill>
                <a:latin typeface="Consolas"/>
              </a:rPr>
              <a:t>                            LAND ON HOME   ( no gate, no login )</a:t>
            </a:r>
          </a:p>
          <a:p>
            <a:pPr>
              <a:lnSpc>
                <a:spcPct val="104000"/>
              </a:lnSpc>
            </a:pPr>
            <a:r>
              <a:rPr sz="869">
                <a:solidFill>
                  <a:srgbClr val="193D20"/>
                </a:solidFill>
                <a:latin typeface="Consolas"/>
              </a:rPr>
              <a:t>                  Browse hero, seasonal, juices, combos, plans</a:t>
            </a:r>
          </a:p>
          <a:p>
            <a:pPr>
              <a:lnSpc>
                <a:spcPct val="104000"/>
              </a:lnSpc>
            </a:pPr>
            <a:r>
              <a:rPr sz="869">
                <a:solidFill>
                  <a:srgbClr val="193D20"/>
                </a:solidFill>
                <a:latin typeface="Consolas"/>
              </a:rPr>
              <a:t>                  Header: "Deliver to: [ pincode ]"  -- optional, non-blocking</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v                                                       v</a:t>
            </a:r>
          </a:p>
          <a:p>
            <a:pPr>
              <a:lnSpc>
                <a:spcPct val="104000"/>
              </a:lnSpc>
            </a:pPr>
            <a:r>
              <a:rPr sz="869">
                <a:solidFill>
                  <a:srgbClr val="193D20"/>
                </a:solidFill>
                <a:latin typeface="Consolas"/>
              </a:rPr>
              <a:t>      ONE-TIME PATH                                        SUBSCRIPTION PATH</a:t>
            </a:r>
          </a:p>
          <a:p>
            <a:pPr>
              <a:lnSpc>
                <a:spcPct val="104000"/>
              </a:lnSpc>
            </a:pPr>
            <a:r>
              <a:rPr sz="869">
                <a:solidFill>
                  <a:srgbClr val="193D20"/>
                </a:solidFill>
                <a:latin typeface="Consolas"/>
              </a:rPr>
              <a:t>  try / gift / no commitment                            weekly or monthly, recurring</a:t>
            </a:r>
          </a:p>
          <a:p>
            <a:pPr>
              <a:lnSpc>
                <a:spcPct val="104000"/>
              </a:lnSpc>
            </a:pPr>
            <a:r>
              <a:rPr sz="869">
                <a:solidFill>
                  <a:srgbClr val="193D20"/>
                </a:solidFill>
                <a:latin typeface="Consolas"/>
              </a:rPr>
              <a:t>            |                                                       |</a:t>
            </a:r>
          </a:p>
          <a:p>
            <a:pPr>
              <a:lnSpc>
                <a:spcPct val="104000"/>
              </a:lnSpc>
            </a:pPr>
            <a:r>
              <a:rPr sz="869">
                <a:solidFill>
                  <a:srgbClr val="193D20"/>
                </a:solidFill>
                <a:latin typeface="Consolas"/>
              </a:rPr>
              <a:t> Pick juices, a combo, or build a box             Open Plans -&gt; toggle Weekly | Monthly</a:t>
            </a:r>
          </a:p>
          <a:p>
            <a:pPr>
              <a:lnSpc>
                <a:spcPct val="104000"/>
              </a:lnSpc>
            </a:pPr>
            <a:r>
              <a:rPr sz="869">
                <a:solidFill>
                  <a:srgbClr val="193D20"/>
                </a:solidFill>
                <a:latin typeface="Consolas"/>
              </a:rPr>
              <a:t>            |                                                       |</a:t>
            </a:r>
          </a:p>
          <a:p>
            <a:pPr>
              <a:lnSpc>
                <a:spcPct val="104000"/>
              </a:lnSpc>
            </a:pPr>
            <a:r>
              <a:rPr sz="869">
                <a:solidFill>
                  <a:srgbClr val="193D20"/>
                </a:solidFill>
                <a:latin typeface="Consolas"/>
              </a:rPr>
              <a:t> Add to cart -&gt; cart drawer  ( persists )         Pick a plan -&gt; start date + days</a:t>
            </a:r>
          </a:p>
          <a:p>
            <a:pPr>
              <a:lnSpc>
                <a:spcPct val="104000"/>
              </a:lnSpc>
            </a:pPr>
            <a:r>
              <a:rPr sz="869">
                <a:solidFill>
                  <a:srgbClr val="193D20"/>
                </a:solidFill>
                <a:latin typeface="Consolas"/>
              </a:rPr>
              <a:t>            |                                                       |</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v</a:t>
            </a:r>
          </a:p>
          <a:p>
            <a:pPr>
              <a:lnSpc>
                <a:spcPct val="104000"/>
              </a:lnSpc>
            </a:pPr>
            <a:r>
              <a:rPr sz="869">
                <a:solidFill>
                  <a:srgbClr val="193D20"/>
                </a:solidFill>
                <a:latin typeface="Consolas"/>
              </a:rPr>
              <a:t>                            CHECKOUT   ( delivery-first )</a:t>
            </a:r>
          </a:p>
          <a:p>
            <a:pPr>
              <a:lnSpc>
                <a:spcPct val="104000"/>
              </a:lnSpc>
            </a:pPr>
            <a:r>
              <a:rPr sz="869">
                <a:solidFill>
                  <a:srgbClr val="193D20"/>
                </a:solidFill>
                <a:latin typeface="Consolas"/>
              </a:rPr>
              <a:t>                  1. Pincode          -&gt; HARD serviceability check</a:t>
            </a:r>
          </a:p>
          <a:p>
            <a:pPr>
              <a:lnSpc>
                <a:spcPct val="104000"/>
              </a:lnSpc>
            </a:pPr>
            <a:r>
              <a:rPr sz="869">
                <a:solidFill>
                  <a:srgbClr val="193D20"/>
                </a:solidFill>
                <a:latin typeface="Consolas"/>
              </a:rPr>
              <a:t>                  2. Delivery date + slot</a:t>
            </a:r>
          </a:p>
          <a:p>
            <a:pPr>
              <a:lnSpc>
                <a:spcPct val="104000"/>
              </a:lnSpc>
            </a:pPr>
            <a:r>
              <a:rPr sz="869">
                <a:solidFill>
                  <a:srgbClr val="193D20"/>
                </a:solidFill>
                <a:latin typeface="Consolas"/>
              </a:rPr>
              <a:t>                  3. Address + contact</a:t>
            </a:r>
          </a:p>
          <a:p>
            <a:pPr>
              <a:lnSpc>
                <a:spcPct val="104000"/>
              </a:lnSpc>
            </a:pPr>
            <a:r>
              <a:rPr sz="869">
                <a:solidFill>
                  <a:srgbClr val="193D20"/>
                </a:solidFill>
                <a:latin typeface="Consolas"/>
              </a:rPr>
              <a:t>                  4. Pay              -&gt; mock gateway, real decline path</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charge succeeds    |    charge declines</a:t>
            </a:r>
          </a:p>
          <a:p>
            <a:pPr>
              <a:lnSpc>
                <a:spcPct val="104000"/>
              </a:lnSpc>
            </a:pPr>
            <a:r>
              <a:rPr sz="869">
                <a:solidFill>
                  <a:srgbClr val="193D20"/>
                </a:solidFill>
                <a:latin typeface="Consolas"/>
              </a:rPr>
              <a:t>                                        |         `--&gt;  nothing is written</a:t>
            </a:r>
          </a:p>
          <a:p>
            <a:pPr>
              <a:lnSpc>
                <a:spcPct val="104000"/>
              </a:lnSpc>
            </a:pPr>
            <a:r>
              <a:rPr sz="869">
                <a:solidFill>
                  <a:srgbClr val="193D20"/>
                </a:solidFill>
                <a:latin typeface="Consolas"/>
              </a:rPr>
              <a:t>                                        v</a:t>
            </a:r>
          </a:p>
          <a:p>
            <a:pPr>
              <a:lnSpc>
                <a:spcPct val="104000"/>
              </a:lnSpc>
            </a:pPr>
            <a:r>
              <a:rPr sz="869">
                <a:solidFill>
                  <a:srgbClr val="193D20"/>
                </a:solidFill>
                <a:latin typeface="Consolas"/>
              </a:rPr>
              <a:t>                  ORDER PERSISTED  +  customer profile saved</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a:t>
            </a:r>
          </a:p>
          <a:p>
            <a:pPr>
              <a:lnSpc>
                <a:spcPct val="104000"/>
              </a:lnSpc>
            </a:pPr>
            <a:r>
              <a:rPr sz="869">
                <a:solidFill>
                  <a:srgbClr val="193D20"/>
                </a:solidFill>
                <a:latin typeface="Consolas"/>
              </a:rPr>
              <a:t>            v                                                       v</a:t>
            </a:r>
          </a:p>
          <a:p>
            <a:pPr>
              <a:lnSpc>
                <a:spcPct val="104000"/>
              </a:lnSpc>
            </a:pPr>
            <a:r>
              <a:rPr sz="869">
                <a:solidFill>
                  <a:srgbClr val="193D20"/>
                </a:solidFill>
                <a:latin typeface="Consolas"/>
              </a:rPr>
              <a:t>     CUSTOMER SIDE                                            OPS SIDE</a:t>
            </a:r>
          </a:p>
          <a:p>
            <a:pPr>
              <a:lnSpc>
                <a:spcPct val="104000"/>
              </a:lnSpc>
            </a:pPr>
            <a:r>
              <a:rPr sz="869">
                <a:solidFill>
                  <a:srgbClr val="193D20"/>
                </a:solidFill>
                <a:latin typeface="Consolas"/>
              </a:rPr>
              <a:t>  Confirmation page                                  Order appears in admin</a:t>
            </a:r>
          </a:p>
          <a:p>
            <a:pPr>
              <a:lnSpc>
                <a:spcPct val="104000"/>
              </a:lnSpc>
            </a:pPr>
            <a:r>
              <a:rPr sz="869">
                <a:solidFill>
                  <a:srgbClr val="193D20"/>
                </a:solidFill>
                <a:latin typeface="Consolas"/>
              </a:rPr>
              <a:t>  Account -&gt; history + timeline                      pending -&gt; confirmed -&gt; pressing</a:t>
            </a:r>
          </a:p>
          <a:p>
            <a:pPr>
              <a:lnSpc>
                <a:spcPct val="104000"/>
              </a:lnSpc>
            </a:pPr>
            <a:r>
              <a:rPr sz="869">
                <a:solidFill>
                  <a:srgbClr val="193D20"/>
                </a:solidFill>
                <a:latin typeface="Consolas"/>
              </a:rPr>
              <a:t>  /track with order ID + email                          -&gt; out-for-delivery -&gt; delivered</a:t>
            </a:r>
          </a:p>
          <a:p>
            <a:pPr>
              <a:lnSpc>
                <a:spcPct val="104000"/>
              </a:lnSpc>
            </a:pPr>
            <a:r>
              <a:rPr sz="869">
                <a:solidFill>
                  <a:srgbClr val="193D20"/>
                </a:solidFill>
                <a:latin typeface="Consolas"/>
              </a:rPr>
              <a:t>                                                     Dashboard KPIs, low-stock alerts</a:t>
            </a:r>
          </a:p>
          <a:p>
            <a:pPr>
              <a:lnSpc>
                <a:spcPct val="104000"/>
              </a:lnSpc>
            </a:pPr>
            <a:r>
              <a:rPr sz="869">
                <a:solidFill>
                  <a:srgbClr val="193D20"/>
                </a:solidFill>
                <a:latin typeface="Consolas"/>
              </a:rPr>
              <a:t>                                                     ( recipe -&gt; materials: modelled,</a:t>
            </a:r>
          </a:p>
          <a:p>
            <a:pPr>
              <a:lnSpc>
                <a:spcPct val="104000"/>
              </a:lnSpc>
            </a:pPr>
            <a:r>
              <a:rPr sz="869">
                <a:solidFill>
                  <a:srgbClr val="193D20"/>
                </a:solidFill>
                <a:latin typeface="Consolas"/>
              </a:rPr>
              <a:t>                                                       not yet deducted )</a:t>
            </a:r>
          </a:p>
        </p:txBody>
      </p:sp>
      <p:sp>
        <p:nvSpPr>
          <p:cNvPr id="8" name="TextBox 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9" name="TextBox 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KEY DECISION 1 OF 3</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Hybrid serviceability: soft while browsing, hard at checkout</a:t>
            </a:r>
          </a:p>
        </p:txBody>
      </p:sp>
      <p:graphicFrame>
        <p:nvGraphicFramePr>
          <p:cNvPr id="6" name="Table 5"/>
          <p:cNvGraphicFramePr>
            <a:graphicFrameLocks noGrp="1"/>
          </p:cNvGraphicFramePr>
          <p:nvPr/>
        </p:nvGraphicFramePr>
        <p:xfrm>
          <a:off x="658368" y="1298448"/>
          <a:ext cx="5291176" cy="2962656"/>
        </p:xfrm>
        <a:graphic>
          <a:graphicData uri="http://schemas.openxmlformats.org/drawingml/2006/table">
            <a:tbl>
              <a:tblPr firstRow="1">
                <a:tableStyleId>{5C22544A-7EE6-4342-B048-85BDC9FD1C3A}</a:tableStyleId>
              </a:tblPr>
              <a:tblGrid>
                <a:gridCol w="1924064"/>
                <a:gridCol w="3367112"/>
              </a:tblGrid>
              <a:tr h="310896">
                <a:tc>
                  <a:txBody>
                    <a:bodyPr wrap="square"/>
                    <a:lstStyle/>
                    <a:p>
                      <a:r>
                        <a:rPr sz="1050" b="1" i="0">
                          <a:solidFill>
                            <a:srgbClr val="F6F0E2"/>
                          </a:solidFill>
                          <a:latin typeface="Calibri"/>
                        </a:rPr>
                        <a:t>Where</a:t>
                      </a:r>
                    </a:p>
                  </a:txBody>
                  <a:tcPr marL="91440" marR="73152" marT="36576" marB="36576" anchor="ctr">
                    <a:solidFill>
                      <a:srgbClr val="D9772E"/>
                    </a:solidFill>
                  </a:tcPr>
                </a:tc>
                <a:tc>
                  <a:txBody>
                    <a:bodyPr wrap="square"/>
                    <a:lstStyle/>
                    <a:p>
                      <a:r>
                        <a:rPr sz="1050" b="1" i="0">
                          <a:solidFill>
                            <a:srgbClr val="F6F0E2"/>
                          </a:solidFill>
                          <a:latin typeface="Calibri"/>
                        </a:rPr>
                        <a:t>Behaviour</a:t>
                      </a:r>
                    </a:p>
                  </a:txBody>
                  <a:tcPr marL="91440" marR="73152" marT="36576" marB="36576" anchor="ctr">
                    <a:solidFill>
                      <a:srgbClr val="D9772E"/>
                    </a:solidFill>
                  </a:tcPr>
                </a:tc>
              </a:tr>
              <a:tr h="530352">
                <a:tc>
                  <a:txBody>
                    <a:bodyPr wrap="square"/>
                    <a:lstStyle/>
                    <a:p>
                      <a:r>
                        <a:rPr sz="1100" b="1" i="0">
                          <a:solidFill>
                            <a:srgbClr val="243018"/>
                          </a:solidFill>
                          <a:latin typeface="Calibri"/>
                        </a:rPr>
                        <a:t>Home, catalogue, product pages</a:t>
                      </a:r>
                    </a:p>
                  </a:txBody>
                  <a:tcPr marL="91440" marR="73152" marT="36576" marB="36576" anchor="ctr">
                    <a:solidFill>
                      <a:srgbClr val="F6F0E2"/>
                    </a:solidFill>
                  </a:tcPr>
                </a:tc>
                <a:tc>
                  <a:txBody>
                    <a:bodyPr wrap="square"/>
                    <a:lstStyle/>
                    <a:p>
                      <a:r>
                        <a:rPr sz="1100" b="0" i="0">
                          <a:solidFill>
                            <a:srgbClr val="243018"/>
                          </a:solidFill>
                          <a:latin typeface="Calibri"/>
                        </a:rPr>
                        <a:t>No check at all. Fully browsable by anyone.</a:t>
                      </a:r>
                    </a:p>
                  </a:txBody>
                  <a:tcPr marL="91440" marR="73152" marT="36576" marB="36576" anchor="ctr">
                    <a:solidFill>
                      <a:srgbClr val="F6F0E2"/>
                    </a:solidFill>
                  </a:tcPr>
                </a:tc>
              </a:tr>
              <a:tr h="530352">
                <a:tc>
                  <a:txBody>
                    <a:bodyPr wrap="square"/>
                    <a:lstStyle/>
                    <a:p>
                      <a:r>
                        <a:rPr sz="1100" b="1" i="0">
                          <a:solidFill>
                            <a:srgbClr val="243018"/>
                          </a:solidFill>
                          <a:latin typeface="Calibri"/>
                        </a:rPr>
                        <a:t>Header pincode control</a:t>
                      </a:r>
                    </a:p>
                  </a:txBody>
                  <a:tcPr marL="91440" marR="73152" marT="36576" marB="36576" anchor="ctr">
                    <a:solidFill>
                      <a:srgbClr val="FFFFFF"/>
                    </a:solidFill>
                  </a:tcPr>
                </a:tc>
                <a:tc>
                  <a:txBody>
                    <a:bodyPr wrap="square"/>
                    <a:lstStyle/>
                    <a:p>
                      <a:r>
                        <a:rPr sz="1100" b="0" i="0">
                          <a:solidFill>
                            <a:srgbClr val="243018"/>
                          </a:solidFill>
                          <a:latin typeface="Calibri"/>
                        </a:rPr>
                        <a:t>Optional and persisted. Shows a soft banner when out of area.</a:t>
                      </a:r>
                    </a:p>
                  </a:txBody>
                  <a:tcPr marL="91440" marR="73152" marT="36576" marB="36576" anchor="ctr">
                    <a:solidFill>
                      <a:srgbClr val="FFFFFF"/>
                    </a:solidFill>
                  </a:tcPr>
                </a:tc>
              </a:tr>
              <a:tr h="530352">
                <a:tc>
                  <a:txBody>
                    <a:bodyPr wrap="square"/>
                    <a:lstStyle/>
                    <a:p>
                      <a:r>
                        <a:rPr sz="1100" b="1" i="0">
                          <a:solidFill>
                            <a:srgbClr val="243018"/>
                          </a:solidFill>
                          <a:latin typeface="Calibri"/>
                        </a:rPr>
                        <a:t>Add to cart</a:t>
                      </a:r>
                    </a:p>
                  </a:txBody>
                  <a:tcPr marL="91440" marR="73152" marT="36576" marB="36576" anchor="ctr">
                    <a:solidFill>
                      <a:srgbClr val="F6F0E2"/>
                    </a:solidFill>
                  </a:tcPr>
                </a:tc>
                <a:tc>
                  <a:txBody>
                    <a:bodyPr wrap="square"/>
                    <a:lstStyle/>
                    <a:p>
                      <a:r>
                        <a:rPr sz="1100" b="0" i="0">
                          <a:solidFill>
                            <a:srgbClr val="243018"/>
                          </a:solidFill>
                          <a:latin typeface="Calibri"/>
                        </a:rPr>
                        <a:t>Allowed regardless of pincode.</a:t>
                      </a:r>
                    </a:p>
                  </a:txBody>
                  <a:tcPr marL="91440" marR="73152" marT="36576" marB="36576" anchor="ctr">
                    <a:solidFill>
                      <a:srgbClr val="F6F0E2"/>
                    </a:solidFill>
                  </a:tcPr>
                </a:tc>
              </a:tr>
              <a:tr h="530352">
                <a:tc>
                  <a:txBody>
                    <a:bodyPr wrap="square"/>
                    <a:lstStyle/>
                    <a:p>
                      <a:r>
                        <a:rPr sz="1100" b="1" i="0">
                          <a:solidFill>
                            <a:srgbClr val="243018"/>
                          </a:solidFill>
                          <a:latin typeface="Calibri"/>
                        </a:rPr>
                        <a:t>Checkout / start subscription</a:t>
                      </a:r>
                    </a:p>
                  </a:txBody>
                  <a:tcPr marL="91440" marR="73152" marT="36576" marB="36576" anchor="ctr">
                    <a:solidFill>
                      <a:srgbClr val="FFFFFF"/>
                    </a:solidFill>
                  </a:tcPr>
                </a:tc>
                <a:tc>
                  <a:txBody>
                    <a:bodyPr wrap="square"/>
                    <a:lstStyle/>
                    <a:p>
                      <a:r>
                        <a:rPr sz="1100" b="1" i="0">
                          <a:solidFill>
                            <a:srgbClr val="D4533A"/>
                          </a:solidFill>
                          <a:latin typeface="Calibri"/>
                        </a:rPr>
                        <a:t>HARD check. </a:t>
                      </a:r>
                      <a:r>
                        <a:rPr sz="1100" b="0" i="0">
                          <a:solidFill>
                            <a:srgbClr val="243018"/>
                          </a:solidFill>
                          <a:latin typeface="Calibri"/>
                        </a:rPr>
                        <a:t>Enforced in the server action, not just the form.</a:t>
                      </a:r>
                    </a:p>
                  </a:txBody>
                  <a:tcPr marL="91440" marR="73152" marT="36576" marB="36576" anchor="ctr">
                    <a:solidFill>
                      <a:srgbClr val="FFFFFF"/>
                    </a:solidFill>
                  </a:tcPr>
                </a:tc>
              </a:tr>
              <a:tr h="530352">
                <a:tc>
                  <a:txBody>
                    <a:bodyPr wrap="square"/>
                    <a:lstStyle/>
                    <a:p>
                      <a:r>
                        <a:rPr sz="1100" b="1" i="0">
                          <a:solidFill>
                            <a:srgbClr val="243018"/>
                          </a:solidFill>
                          <a:latin typeface="Calibri"/>
                        </a:rPr>
                        <a:t>Source of truth</a:t>
                      </a:r>
                    </a:p>
                  </a:txBody>
                  <a:tcPr marL="91440" marR="73152" marT="36576" marB="36576" anchor="ctr">
                    <a:solidFill>
                      <a:srgbClr val="F6F0E2"/>
                    </a:solidFill>
                  </a:tcPr>
                </a:tc>
                <a:tc>
                  <a:txBody>
                    <a:bodyPr wrap="square"/>
                    <a:lstStyle/>
                    <a:p>
                      <a:r>
                        <a:rPr sz="1100" b="0" i="0">
                          <a:solidFill>
                            <a:srgbClr val="243018"/>
                          </a:solidFill>
                          <a:latin typeface="Calibri"/>
                        </a:rPr>
                        <a:t>One function, used by the header control, the form and the action alike.</a:t>
                      </a:r>
                    </a:p>
                  </a:txBody>
                  <a:tcPr marL="91440" marR="73152" marT="36576" marB="36576" anchor="ctr">
                    <a:solidFill>
                      <a:srgbClr val="F6F0E2"/>
                    </a:solidFill>
                  </a:tcPr>
                </a:tc>
              </a:tr>
            </a:tbl>
          </a:graphicData>
        </a:graphic>
      </p:graphicFrame>
      <p:sp>
        <p:nvSpPr>
          <p:cNvPr id="7" name="TextBox 6"/>
          <p:cNvSpPr txBox="1"/>
          <p:nvPr/>
        </p:nvSpPr>
        <p:spPr>
          <a:xfrm>
            <a:off x="6242152"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WHY NOT A PINCODE GATE</a:t>
            </a:r>
          </a:p>
        </p:txBody>
      </p:sp>
      <p:sp>
        <p:nvSpPr>
          <p:cNvPr id="8" name="TextBox 7"/>
          <p:cNvSpPr txBox="1"/>
          <p:nvPr/>
        </p:nvSpPr>
        <p:spPr>
          <a:xfrm>
            <a:off x="6242152" y="1536192"/>
            <a:ext cx="5291176" cy="1005840"/>
          </a:xfrm>
          <a:prstGeom prst="rect">
            <a:avLst/>
          </a:prstGeom>
          <a:noFill/>
        </p:spPr>
        <p:txBody>
          <a:bodyPr wrap="square" anchor="t" lIns="0" rIns="0" tIns="0" bIns="0">
            <a:spAutoFit/>
          </a:bodyPr>
          <a:lstStyle/>
          <a:p>
            <a:pPr algn="l">
              <a:lnSpc>
                <a:spcPct val="118000"/>
              </a:lnSpc>
              <a:spcAft>
                <a:spcPts val="0"/>
              </a:spcAft>
            </a:pPr>
            <a:r>
              <a:rPr sz="1200" b="0" i="0">
                <a:solidFill>
                  <a:srgbClr val="5B6450"/>
                </a:solidFill>
                <a:latin typeface="Calibri"/>
              </a:rPr>
              <a:t>A gate is the obvious answer and the wrong one: it kills the first impression and hides the entire catalogue from search. But juice is perishable and delivery-day dependent, so we genuinely can't take money for an address we can't reach. Hybrid is the only option that keeps both.</a:t>
            </a:r>
          </a:p>
        </p:txBody>
      </p:sp>
      <p:sp>
        <p:nvSpPr>
          <p:cNvPr id="9" name="Rectangle 8"/>
          <p:cNvSpPr/>
          <p:nvPr/>
        </p:nvSpPr>
        <p:spPr>
          <a:xfrm>
            <a:off x="6242152" y="2688336"/>
            <a:ext cx="5291176" cy="1499616"/>
          </a:xfrm>
          <a:prstGeom prst="rect">
            <a:avLst/>
          </a:prstGeom>
          <a:solidFill>
            <a:srgbClr val="FDF4E8"/>
          </a:solidFill>
          <a:ln w="12700">
            <a:solidFill>
              <a:srgbClr val="D977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25032" y="2834640"/>
            <a:ext cx="492541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  OPEN ISSUE — NEEDS A DECISION</a:t>
            </a:r>
          </a:p>
        </p:txBody>
      </p:sp>
      <p:sp>
        <p:nvSpPr>
          <p:cNvPr id="11" name="TextBox 10"/>
          <p:cNvSpPr txBox="1"/>
          <p:nvPr/>
        </p:nvSpPr>
        <p:spPr>
          <a:xfrm>
            <a:off x="6425032" y="3072384"/>
            <a:ext cx="4925416" cy="914400"/>
          </a:xfrm>
          <a:prstGeom prst="rect">
            <a:avLst/>
          </a:prstGeom>
          <a:noFill/>
        </p:spPr>
        <p:txBody>
          <a:bodyPr wrap="square" anchor="t" lIns="0" rIns="0" tIns="0" bIns="0">
            <a:spAutoFit/>
          </a:bodyPr>
          <a:lstStyle/>
          <a:p>
            <a:pPr algn="l">
              <a:lnSpc>
                <a:spcPct val="116000"/>
              </a:lnSpc>
              <a:spcAft>
                <a:spcPts val="0"/>
              </a:spcAft>
            </a:pPr>
            <a:r>
              <a:rPr sz="1150" b="1" i="0">
                <a:solidFill>
                  <a:srgbClr val="243018"/>
                </a:solidFill>
                <a:latin typeface="Calibri"/>
              </a:rPr>
              <a:t>The allow-list is currently switched off. </a:t>
            </a:r>
            <a:r>
              <a:rPr sz="1150" b="0" i="0">
                <a:solidFill>
                  <a:srgbClr val="5B6450"/>
                </a:solidFill>
                <a:latin typeface="Calibri"/>
              </a:rPr>
              <a:t>A flag accepts every valid 6-digit pincode, so the real list — 10 pincodes across Mumbai, Bengaluru, Hyderabad and Kochi — the soft banner, and the whole hybrid contract are never exercised in practice. Before we flip it back, we have to decide what actually happens to an out-of-area visitor.</a:t>
            </a:r>
          </a:p>
        </p:txBody>
      </p:sp>
      <p:sp>
        <p:nvSpPr>
          <p:cNvPr id="12" name="TextBox 11"/>
          <p:cNvSpPr txBox="1"/>
          <p:nvPr/>
        </p:nvSpPr>
        <p:spPr>
          <a:xfrm>
            <a:off x="6242152" y="422452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THE SUB-DECISION</a:t>
            </a:r>
          </a:p>
        </p:txBody>
      </p:sp>
      <p:sp>
        <p:nvSpPr>
          <p:cNvPr id="13" name="TextBox 12"/>
          <p:cNvSpPr txBox="1"/>
          <p:nvPr/>
        </p:nvSpPr>
        <p:spPr>
          <a:xfrm>
            <a:off x="6242152" y="4462272"/>
            <a:ext cx="5291176" cy="365760"/>
          </a:xfrm>
          <a:prstGeom prst="rect">
            <a:avLst/>
          </a:prstGeom>
          <a:noFill/>
        </p:spPr>
        <p:txBody>
          <a:bodyPr wrap="square" lIns="0" rIns="0" tIns="0" bIns="0">
            <a:spAutoFit/>
          </a:bodyPr>
          <a:lstStyle/>
          <a:p>
            <a:pPr marL="173736" indent="-173736">
              <a:lnSpc>
                <a:spcPct val="114000"/>
              </a:lnSpc>
              <a:spcAft>
                <a:spcPts val="672"/>
              </a:spcAft>
            </a:pPr>
            <a:r>
              <a:rPr sz="632" b="1">
                <a:solidFill>
                  <a:srgbClr val="D9772E"/>
                </a:solidFill>
                <a:latin typeface="Calibri"/>
              </a:rPr>
              <a:t>●  </a:t>
            </a:r>
            <a:r>
              <a:rPr sz="1150" b="1">
                <a:solidFill>
                  <a:srgbClr val="243018"/>
                </a:solidFill>
                <a:latin typeface="Calibri"/>
              </a:rPr>
              <a:t>Option A</a:t>
            </a:r>
            <a:r>
              <a:rPr sz="1150">
                <a:solidFill>
                  <a:srgbClr val="5B6450"/>
                </a:solidFill>
                <a:latin typeface="Calibri"/>
              </a:rPr>
              <a:t>  capture email and pincode into a waitlist, then show the banner. Marketing gets a demand map by area.</a:t>
            </a:r>
          </a:p>
          <a:p>
            <a:pPr marL="173736" indent="-173736">
              <a:lnSpc>
                <a:spcPct val="114000"/>
              </a:lnSpc>
              <a:spcAft>
                <a:spcPts val="672"/>
              </a:spcAft>
            </a:pPr>
            <a:r>
              <a:rPr sz="632" b="1">
                <a:solidFill>
                  <a:srgbClr val="D9772E"/>
                </a:solidFill>
                <a:latin typeface="Calibri"/>
              </a:rPr>
              <a:t>●  </a:t>
            </a:r>
            <a:r>
              <a:rPr sz="1150" b="1">
                <a:solidFill>
                  <a:srgbClr val="243018"/>
                </a:solidFill>
                <a:latin typeface="Calibri"/>
              </a:rPr>
              <a:t>Option B</a:t>
            </a:r>
            <a:r>
              <a:rPr sz="1150">
                <a:solidFill>
                  <a:srgbClr val="5B6450"/>
                </a:solidFill>
                <a:latin typeface="Calibri"/>
              </a:rPr>
              <a:t>  soft-warn only and let them order anyway. Simpler, and we eat the failed deliveries.</a:t>
            </a:r>
          </a:p>
        </p:txBody>
      </p:sp>
      <p:sp>
        <p:nvSpPr>
          <p:cNvPr id="14" name="TextBox 13"/>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5" name="TextBox 14"/>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KEY DECISION 2 OF 3</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Checkout is delivery-first, because the product is perishable</a:t>
            </a:r>
          </a:p>
        </p:txBody>
      </p:sp>
      <p:sp>
        <p:nvSpPr>
          <p:cNvPr id="6" name="Rectangle 5"/>
          <p:cNvSpPr/>
          <p:nvPr/>
        </p:nvSpPr>
        <p:spPr>
          <a:xfrm>
            <a:off x="658368" y="1298448"/>
            <a:ext cx="2636444" cy="162763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298448"/>
            <a:ext cx="2636444" cy="4572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481328"/>
            <a:ext cx="457200" cy="365760"/>
          </a:xfrm>
          <a:prstGeom prst="rect">
            <a:avLst/>
          </a:prstGeom>
          <a:noFill/>
        </p:spPr>
        <p:txBody>
          <a:bodyPr wrap="square" anchor="t" lIns="0" rIns="0" tIns="0" bIns="0">
            <a:spAutoFit/>
          </a:bodyPr>
          <a:lstStyle/>
          <a:p>
            <a:pPr algn="l">
              <a:lnSpc>
                <a:spcPct val="100000"/>
              </a:lnSpc>
              <a:spcAft>
                <a:spcPts val="0"/>
              </a:spcAft>
            </a:pPr>
            <a:r>
              <a:rPr sz="2400" b="1" i="0">
                <a:solidFill>
                  <a:srgbClr val="D9772E"/>
                </a:solidFill>
                <a:latin typeface="Trebuchet MS"/>
              </a:rPr>
              <a:t>1</a:t>
            </a:r>
          </a:p>
        </p:txBody>
      </p:sp>
      <p:sp>
        <p:nvSpPr>
          <p:cNvPr id="9" name="TextBox 8"/>
          <p:cNvSpPr txBox="1"/>
          <p:nvPr/>
        </p:nvSpPr>
        <p:spPr>
          <a:xfrm>
            <a:off x="841248" y="1920240"/>
            <a:ext cx="2270684" cy="274320"/>
          </a:xfrm>
          <a:prstGeom prst="rect">
            <a:avLst/>
          </a:prstGeom>
          <a:noFill/>
        </p:spPr>
        <p:txBody>
          <a:bodyPr wrap="square" anchor="t" lIns="0" rIns="0" tIns="0" bIns="0">
            <a:spAutoFit/>
          </a:bodyPr>
          <a:lstStyle/>
          <a:p>
            <a:pPr algn="l">
              <a:lnSpc>
                <a:spcPct val="100000"/>
              </a:lnSpc>
              <a:spcAft>
                <a:spcPts val="0"/>
              </a:spcAft>
            </a:pPr>
            <a:r>
              <a:rPr sz="1350" b="1" i="0">
                <a:solidFill>
                  <a:srgbClr val="243018"/>
                </a:solidFill>
                <a:latin typeface="Trebuchet MS"/>
              </a:rPr>
              <a:t>Pincode</a:t>
            </a:r>
          </a:p>
        </p:txBody>
      </p:sp>
      <p:sp>
        <p:nvSpPr>
          <p:cNvPr id="10" name="TextBox 9"/>
          <p:cNvSpPr txBox="1"/>
          <p:nvPr/>
        </p:nvSpPr>
        <p:spPr>
          <a:xfrm>
            <a:off x="841248" y="2194560"/>
            <a:ext cx="2270684" cy="640080"/>
          </a:xfrm>
          <a:prstGeom prst="rect">
            <a:avLst/>
          </a:prstGeom>
          <a:noFill/>
        </p:spPr>
        <p:txBody>
          <a:bodyPr wrap="square" anchor="t" lIns="0" rIns="0" tIns="0" bIns="0">
            <a:spAutoFit/>
          </a:bodyPr>
          <a:lstStyle/>
          <a:p>
            <a:pPr algn="l">
              <a:lnSpc>
                <a:spcPct val="114000"/>
              </a:lnSpc>
              <a:spcAft>
                <a:spcPts val="0"/>
              </a:spcAft>
            </a:pPr>
            <a:r>
              <a:rPr sz="1100" b="0" i="0">
                <a:solidFill>
                  <a:srgbClr val="5B6450"/>
                </a:solidFill>
                <a:latin typeface="Calibri"/>
              </a:rPr>
              <a:t>The one hard serviceability check. Fails closed.</a:t>
            </a:r>
          </a:p>
        </p:txBody>
      </p:sp>
      <p:sp>
        <p:nvSpPr>
          <p:cNvPr id="11" name="Rectangle 10"/>
          <p:cNvSpPr/>
          <p:nvPr/>
        </p:nvSpPr>
        <p:spPr>
          <a:xfrm>
            <a:off x="3404540" y="1298448"/>
            <a:ext cx="2636444" cy="162763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04540" y="1298448"/>
            <a:ext cx="2636444" cy="45720"/>
          </a:xfrm>
          <a:prstGeom prst="rect">
            <a:avLst/>
          </a:prstGeom>
          <a:solidFill>
            <a:srgbClr val="E8B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7420" y="1481328"/>
            <a:ext cx="457200" cy="365760"/>
          </a:xfrm>
          <a:prstGeom prst="rect">
            <a:avLst/>
          </a:prstGeom>
          <a:noFill/>
        </p:spPr>
        <p:txBody>
          <a:bodyPr wrap="square" anchor="t" lIns="0" rIns="0" tIns="0" bIns="0">
            <a:spAutoFit/>
          </a:bodyPr>
          <a:lstStyle/>
          <a:p>
            <a:pPr algn="l">
              <a:lnSpc>
                <a:spcPct val="100000"/>
              </a:lnSpc>
              <a:spcAft>
                <a:spcPts val="0"/>
              </a:spcAft>
            </a:pPr>
            <a:r>
              <a:rPr sz="2400" b="1" i="0">
                <a:solidFill>
                  <a:srgbClr val="E8B23F"/>
                </a:solidFill>
                <a:latin typeface="Trebuchet MS"/>
              </a:rPr>
              <a:t>2</a:t>
            </a:r>
          </a:p>
        </p:txBody>
      </p:sp>
      <p:sp>
        <p:nvSpPr>
          <p:cNvPr id="14" name="TextBox 13"/>
          <p:cNvSpPr txBox="1"/>
          <p:nvPr/>
        </p:nvSpPr>
        <p:spPr>
          <a:xfrm>
            <a:off x="3587420" y="1920240"/>
            <a:ext cx="2270684" cy="274320"/>
          </a:xfrm>
          <a:prstGeom prst="rect">
            <a:avLst/>
          </a:prstGeom>
          <a:noFill/>
        </p:spPr>
        <p:txBody>
          <a:bodyPr wrap="square" anchor="t" lIns="0" rIns="0" tIns="0" bIns="0">
            <a:spAutoFit/>
          </a:bodyPr>
          <a:lstStyle/>
          <a:p>
            <a:pPr algn="l">
              <a:lnSpc>
                <a:spcPct val="100000"/>
              </a:lnSpc>
              <a:spcAft>
                <a:spcPts val="0"/>
              </a:spcAft>
            </a:pPr>
            <a:r>
              <a:rPr sz="1350" b="1" i="0">
                <a:solidFill>
                  <a:srgbClr val="243018"/>
                </a:solidFill>
                <a:latin typeface="Trebuchet MS"/>
              </a:rPr>
              <a:t>Date + slot</a:t>
            </a:r>
          </a:p>
        </p:txBody>
      </p:sp>
      <p:sp>
        <p:nvSpPr>
          <p:cNvPr id="15" name="TextBox 14"/>
          <p:cNvSpPr txBox="1"/>
          <p:nvPr/>
        </p:nvSpPr>
        <p:spPr>
          <a:xfrm>
            <a:off x="3587420" y="2194560"/>
            <a:ext cx="2270684" cy="640080"/>
          </a:xfrm>
          <a:prstGeom prst="rect">
            <a:avLst/>
          </a:prstGeom>
          <a:noFill/>
        </p:spPr>
        <p:txBody>
          <a:bodyPr wrap="square" anchor="t" lIns="0" rIns="0" tIns="0" bIns="0">
            <a:spAutoFit/>
          </a:bodyPr>
          <a:lstStyle/>
          <a:p>
            <a:pPr algn="l">
              <a:lnSpc>
                <a:spcPct val="114000"/>
              </a:lnSpc>
              <a:spcAft>
                <a:spcPts val="0"/>
              </a:spcAft>
            </a:pPr>
            <a:r>
              <a:rPr sz="1100" b="0" i="0">
                <a:solidFill>
                  <a:srgbClr val="5B6450"/>
                </a:solidFill>
                <a:latin typeface="Calibri"/>
              </a:rPr>
              <a:t>A press-and-deliver lead time of one day; three morning slots.</a:t>
            </a:r>
          </a:p>
        </p:txBody>
      </p:sp>
      <p:sp>
        <p:nvSpPr>
          <p:cNvPr id="16" name="Rectangle 15"/>
          <p:cNvSpPr/>
          <p:nvPr/>
        </p:nvSpPr>
        <p:spPr>
          <a:xfrm>
            <a:off x="6150712" y="1298448"/>
            <a:ext cx="2636444" cy="162763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50712" y="1298448"/>
            <a:ext cx="2636444" cy="45720"/>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2" y="1481328"/>
            <a:ext cx="457200" cy="365760"/>
          </a:xfrm>
          <a:prstGeom prst="rect">
            <a:avLst/>
          </a:prstGeom>
          <a:noFill/>
        </p:spPr>
        <p:txBody>
          <a:bodyPr wrap="square" anchor="t" lIns="0" rIns="0" tIns="0" bIns="0">
            <a:spAutoFit/>
          </a:bodyPr>
          <a:lstStyle/>
          <a:p>
            <a:pPr algn="l">
              <a:lnSpc>
                <a:spcPct val="100000"/>
              </a:lnSpc>
              <a:spcAft>
                <a:spcPts val="0"/>
              </a:spcAft>
            </a:pPr>
            <a:r>
              <a:rPr sz="2400" b="1" i="0">
                <a:solidFill>
                  <a:srgbClr val="5A8A4A"/>
                </a:solidFill>
                <a:latin typeface="Trebuchet MS"/>
              </a:rPr>
              <a:t>3</a:t>
            </a:r>
          </a:p>
        </p:txBody>
      </p:sp>
      <p:sp>
        <p:nvSpPr>
          <p:cNvPr id="19" name="TextBox 18"/>
          <p:cNvSpPr txBox="1"/>
          <p:nvPr/>
        </p:nvSpPr>
        <p:spPr>
          <a:xfrm>
            <a:off x="6333592" y="1920240"/>
            <a:ext cx="2270684" cy="274320"/>
          </a:xfrm>
          <a:prstGeom prst="rect">
            <a:avLst/>
          </a:prstGeom>
          <a:noFill/>
        </p:spPr>
        <p:txBody>
          <a:bodyPr wrap="square" anchor="t" lIns="0" rIns="0" tIns="0" bIns="0">
            <a:spAutoFit/>
          </a:bodyPr>
          <a:lstStyle/>
          <a:p>
            <a:pPr algn="l">
              <a:lnSpc>
                <a:spcPct val="100000"/>
              </a:lnSpc>
              <a:spcAft>
                <a:spcPts val="0"/>
              </a:spcAft>
            </a:pPr>
            <a:r>
              <a:rPr sz="1350" b="1" i="0">
                <a:solidFill>
                  <a:srgbClr val="243018"/>
                </a:solidFill>
                <a:latin typeface="Trebuchet MS"/>
              </a:rPr>
              <a:t>Address</a:t>
            </a:r>
          </a:p>
        </p:txBody>
      </p:sp>
      <p:sp>
        <p:nvSpPr>
          <p:cNvPr id="20" name="TextBox 19"/>
          <p:cNvSpPr txBox="1"/>
          <p:nvPr/>
        </p:nvSpPr>
        <p:spPr>
          <a:xfrm>
            <a:off x="6333592" y="2194560"/>
            <a:ext cx="2270684" cy="640080"/>
          </a:xfrm>
          <a:prstGeom prst="rect">
            <a:avLst/>
          </a:prstGeom>
          <a:noFill/>
        </p:spPr>
        <p:txBody>
          <a:bodyPr wrap="square" anchor="t" lIns="0" rIns="0" tIns="0" bIns="0">
            <a:spAutoFit/>
          </a:bodyPr>
          <a:lstStyle/>
          <a:p>
            <a:pPr algn="l">
              <a:lnSpc>
                <a:spcPct val="114000"/>
              </a:lnSpc>
              <a:spcAft>
                <a:spcPts val="0"/>
              </a:spcAft>
            </a:pPr>
            <a:r>
              <a:rPr sz="1100" b="0" i="0">
                <a:solidFill>
                  <a:srgbClr val="5B6450"/>
                </a:solidFill>
                <a:latin typeface="Calibri"/>
              </a:rPr>
              <a:t>Prefilled from the saved profile on repeat orders.</a:t>
            </a:r>
          </a:p>
        </p:txBody>
      </p:sp>
      <p:sp>
        <p:nvSpPr>
          <p:cNvPr id="21" name="Rectangle 20"/>
          <p:cNvSpPr/>
          <p:nvPr/>
        </p:nvSpPr>
        <p:spPr>
          <a:xfrm>
            <a:off x="8896884" y="1298448"/>
            <a:ext cx="2636444" cy="162763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896884" y="1298448"/>
            <a:ext cx="2636444" cy="45720"/>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79764" y="1481328"/>
            <a:ext cx="457200" cy="365760"/>
          </a:xfrm>
          <a:prstGeom prst="rect">
            <a:avLst/>
          </a:prstGeom>
          <a:noFill/>
        </p:spPr>
        <p:txBody>
          <a:bodyPr wrap="square" anchor="t" lIns="0" rIns="0" tIns="0" bIns="0">
            <a:spAutoFit/>
          </a:bodyPr>
          <a:lstStyle/>
          <a:p>
            <a:pPr algn="l">
              <a:lnSpc>
                <a:spcPct val="100000"/>
              </a:lnSpc>
              <a:spcAft>
                <a:spcPts val="0"/>
              </a:spcAft>
            </a:pPr>
            <a:r>
              <a:rPr sz="2400" b="1" i="0">
                <a:solidFill>
                  <a:srgbClr val="7A4A8F"/>
                </a:solidFill>
                <a:latin typeface="Trebuchet MS"/>
              </a:rPr>
              <a:t>4</a:t>
            </a:r>
          </a:p>
        </p:txBody>
      </p:sp>
      <p:sp>
        <p:nvSpPr>
          <p:cNvPr id="24" name="TextBox 23"/>
          <p:cNvSpPr txBox="1"/>
          <p:nvPr/>
        </p:nvSpPr>
        <p:spPr>
          <a:xfrm>
            <a:off x="9079764" y="1920240"/>
            <a:ext cx="2270684" cy="274320"/>
          </a:xfrm>
          <a:prstGeom prst="rect">
            <a:avLst/>
          </a:prstGeom>
          <a:noFill/>
        </p:spPr>
        <p:txBody>
          <a:bodyPr wrap="square" anchor="t" lIns="0" rIns="0" tIns="0" bIns="0">
            <a:spAutoFit/>
          </a:bodyPr>
          <a:lstStyle/>
          <a:p>
            <a:pPr algn="l">
              <a:lnSpc>
                <a:spcPct val="100000"/>
              </a:lnSpc>
              <a:spcAft>
                <a:spcPts val="0"/>
              </a:spcAft>
            </a:pPr>
            <a:r>
              <a:rPr sz="1350" b="1" i="0">
                <a:solidFill>
                  <a:srgbClr val="243018"/>
                </a:solidFill>
                <a:latin typeface="Trebuchet MS"/>
              </a:rPr>
              <a:t>Payment</a:t>
            </a:r>
          </a:p>
        </p:txBody>
      </p:sp>
      <p:sp>
        <p:nvSpPr>
          <p:cNvPr id="25" name="TextBox 24"/>
          <p:cNvSpPr txBox="1"/>
          <p:nvPr/>
        </p:nvSpPr>
        <p:spPr>
          <a:xfrm>
            <a:off x="9079764" y="2194560"/>
            <a:ext cx="2270684" cy="640080"/>
          </a:xfrm>
          <a:prstGeom prst="rect">
            <a:avLst/>
          </a:prstGeom>
          <a:noFill/>
        </p:spPr>
        <p:txBody>
          <a:bodyPr wrap="square" anchor="t" lIns="0" rIns="0" tIns="0" bIns="0">
            <a:spAutoFit/>
          </a:bodyPr>
          <a:lstStyle/>
          <a:p>
            <a:pPr algn="l">
              <a:lnSpc>
                <a:spcPct val="114000"/>
              </a:lnSpc>
              <a:spcAft>
                <a:spcPts val="0"/>
              </a:spcAft>
            </a:pPr>
            <a:r>
              <a:rPr sz="1100" b="0" i="0">
                <a:solidFill>
                  <a:srgbClr val="5B6450"/>
                </a:solidFill>
                <a:latin typeface="Calibri"/>
              </a:rPr>
              <a:t>Mocked gateway, with a real decline path and a real wait.</a:t>
            </a:r>
          </a:p>
        </p:txBody>
      </p:sp>
      <p:sp>
        <p:nvSpPr>
          <p:cNvPr id="26" name="TextBox 25"/>
          <p:cNvSpPr txBox="1"/>
          <p:nvPr/>
        </p:nvSpPr>
        <p:spPr>
          <a:xfrm>
            <a:off x="658368" y="3182112"/>
            <a:ext cx="10874959"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WHAT THIS BUYS US</a:t>
            </a:r>
          </a:p>
        </p:txBody>
      </p:sp>
      <p:sp>
        <p:nvSpPr>
          <p:cNvPr id="27" name="TextBox 26"/>
          <p:cNvSpPr txBox="1"/>
          <p:nvPr/>
        </p:nvSpPr>
        <p:spPr>
          <a:xfrm>
            <a:off x="658368" y="3419856"/>
            <a:ext cx="5291176" cy="365760"/>
          </a:xfrm>
          <a:prstGeom prst="rect">
            <a:avLst/>
          </a:prstGeom>
          <a:noFill/>
        </p:spPr>
        <p:txBody>
          <a:bodyPr wrap="square" lIns="0" rIns="0" tIns="0" bIns="0">
            <a:spAutoFit/>
          </a:bodyPr>
          <a:lstStyle/>
          <a:p>
            <a:pPr marL="173736" indent="-173736">
              <a:lnSpc>
                <a:spcPct val="114000"/>
              </a:lnSpc>
              <a:spcAft>
                <a:spcPts val="719"/>
              </a:spcAft>
            </a:pPr>
            <a:r>
              <a:rPr sz="660" b="1">
                <a:solidFill>
                  <a:srgbClr val="D9772E"/>
                </a:solidFill>
                <a:latin typeface="Calibri"/>
              </a:rPr>
              <a:t>●  </a:t>
            </a:r>
            <a:r>
              <a:rPr sz="1200" b="1">
                <a:solidFill>
                  <a:srgbClr val="243018"/>
                </a:solidFill>
                <a:latin typeface="Calibri"/>
              </a:rPr>
              <a:t>Nobody is told “no” after paying.</a:t>
            </a:r>
            <a:r>
              <a:rPr sz="1200">
                <a:solidFill>
                  <a:srgbClr val="5B6450"/>
                </a:solidFill>
                <a:latin typeface="Calibri"/>
              </a:rPr>
              <a:t>  Serviceability and date both resolve before the charge.</a:t>
            </a:r>
          </a:p>
          <a:p>
            <a:pPr marL="173736" indent="-173736">
              <a:lnSpc>
                <a:spcPct val="114000"/>
              </a:lnSpc>
              <a:spcAft>
                <a:spcPts val="719"/>
              </a:spcAft>
            </a:pPr>
            <a:r>
              <a:rPr sz="660" b="1">
                <a:solidFill>
                  <a:srgbClr val="D9772E"/>
                </a:solidFill>
                <a:latin typeface="Calibri"/>
              </a:rPr>
              <a:t>●  </a:t>
            </a:r>
            <a:r>
              <a:rPr sz="1200" b="1">
                <a:solidFill>
                  <a:srgbClr val="243018"/>
                </a:solidFill>
                <a:latin typeface="Calibri"/>
              </a:rPr>
              <a:t>A decline leaves nothing behind.</a:t>
            </a:r>
            <a:r>
              <a:rPr sz="1200">
                <a:solidFill>
                  <a:srgbClr val="5B6450"/>
                </a:solidFill>
                <a:latin typeface="Calibri"/>
              </a:rPr>
              <a:t>  Payment runs before the order is written, so there is no half-order to reconcile later.</a:t>
            </a:r>
          </a:p>
          <a:p>
            <a:pPr marL="173736" indent="-173736">
              <a:lnSpc>
                <a:spcPct val="114000"/>
              </a:lnSpc>
              <a:spcAft>
                <a:spcPts val="719"/>
              </a:spcAft>
            </a:pPr>
            <a:r>
              <a:rPr sz="660" b="1">
                <a:solidFill>
                  <a:srgbClr val="D9772E"/>
                </a:solidFill>
                <a:latin typeface="Calibri"/>
              </a:rPr>
              <a:t>●  </a:t>
            </a:r>
            <a:r>
              <a:rPr sz="1200" b="1">
                <a:solidFill>
                  <a:srgbClr val="243018"/>
                </a:solidFill>
                <a:latin typeface="Calibri"/>
              </a:rPr>
              <a:t>Ops gets a press date, not an estimate.</a:t>
            </a:r>
            <a:r>
              <a:rPr sz="1200">
                <a:solidFill>
                  <a:srgbClr val="5B6450"/>
                </a:solidFill>
                <a:latin typeface="Calibri"/>
              </a:rPr>
              <a:t>  The delivery date is a committed field on the order rather than a computed guess.</a:t>
            </a:r>
          </a:p>
        </p:txBody>
      </p:sp>
      <p:sp>
        <p:nvSpPr>
          <p:cNvPr id="28" name="TextBox 27"/>
          <p:cNvSpPr txBox="1"/>
          <p:nvPr/>
        </p:nvSpPr>
        <p:spPr>
          <a:xfrm>
            <a:off x="6242152" y="3182112"/>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WHAT'S STILL OPEN</a:t>
            </a:r>
          </a:p>
        </p:txBody>
      </p:sp>
      <p:sp>
        <p:nvSpPr>
          <p:cNvPr id="29" name="TextBox 28"/>
          <p:cNvSpPr txBox="1"/>
          <p:nvPr/>
        </p:nvSpPr>
        <p:spPr>
          <a:xfrm>
            <a:off x="6242152" y="3419856"/>
            <a:ext cx="5291176" cy="365760"/>
          </a:xfrm>
          <a:prstGeom prst="rect">
            <a:avLst/>
          </a:prstGeom>
          <a:noFill/>
        </p:spPr>
        <p:txBody>
          <a:bodyPr wrap="square" lIns="0" rIns="0" tIns="0" bIns="0">
            <a:spAutoFit/>
          </a:bodyPr>
          <a:lstStyle/>
          <a:p>
            <a:pPr marL="173736" indent="-173736">
              <a:lnSpc>
                <a:spcPct val="114000"/>
              </a:lnSpc>
              <a:spcAft>
                <a:spcPts val="719"/>
              </a:spcAft>
            </a:pPr>
            <a:r>
              <a:rPr sz="660" b="1">
                <a:solidFill>
                  <a:srgbClr val="D4533A"/>
                </a:solidFill>
                <a:latin typeface="Calibri"/>
              </a:rPr>
              <a:t>●  </a:t>
            </a:r>
            <a:r>
              <a:rPr sz="1200" b="1">
                <a:solidFill>
                  <a:srgbClr val="243018"/>
                </a:solidFill>
                <a:latin typeface="Calibri"/>
              </a:rPr>
              <a:t>The real cutoff rule.</a:t>
            </a:r>
            <a:r>
              <a:rPr sz="1200">
                <a:solidFill>
                  <a:srgbClr val="5B6450"/>
                </a:solidFill>
                <a:latin typeface="Calibri"/>
              </a:rPr>
              <a:t>  Is it “order before 8pm → next day”? How far ahead can someone book? Which days don't we deliver at all?</a:t>
            </a:r>
          </a:p>
          <a:p>
            <a:pPr marL="173736" indent="-173736">
              <a:lnSpc>
                <a:spcPct val="114000"/>
              </a:lnSpc>
              <a:spcAft>
                <a:spcPts val="719"/>
              </a:spcAft>
            </a:pPr>
            <a:r>
              <a:rPr sz="660" b="1">
                <a:solidFill>
                  <a:srgbClr val="D4533A"/>
                </a:solidFill>
                <a:latin typeface="Calibri"/>
              </a:rPr>
              <a:t>●  </a:t>
            </a:r>
            <a:r>
              <a:rPr sz="1200" b="1">
                <a:solidFill>
                  <a:srgbClr val="243018"/>
                </a:solidFill>
                <a:latin typeface="Calibri"/>
              </a:rPr>
              <a:t>Three sources currently disagree.</a:t>
            </a:r>
            <a:r>
              <a:rPr sz="1200">
                <a:solidFill>
                  <a:srgbClr val="5B6450"/>
                </a:solidFill>
                <a:latin typeface="Calibri"/>
              </a:rPr>
              <a:t>  The form pins the date to today, the lead-time helper says tomorrow onwards, and plan config starts tomorrow. That's a live bug, not a nuance — and the cancellation window depends on the same rule.</a:t>
            </a:r>
          </a:p>
        </p:txBody>
      </p:sp>
      <p:sp>
        <p:nvSpPr>
          <p:cNvPr id="30" name="TextBox 29"/>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31" name="TextBox 30"/>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KEY DECISION 3 OF 3</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A bill of materials is what makes the ops side worth building</a:t>
            </a:r>
          </a:p>
        </p:txBody>
      </p:sp>
      <p:sp>
        <p:nvSpPr>
          <p:cNvPr id="6" name="Rectangle 5"/>
          <p:cNvSpPr/>
          <p:nvPr/>
        </p:nvSpPr>
        <p:spPr>
          <a:xfrm>
            <a:off x="658368" y="1298448"/>
            <a:ext cx="10874959" cy="201168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1408176"/>
            <a:ext cx="10582351" cy="1792224"/>
          </a:xfrm>
          <a:prstGeom prst="rect">
            <a:avLst/>
          </a:prstGeom>
          <a:noFill/>
        </p:spPr>
        <p:txBody>
          <a:bodyPr wrap="none" lIns="0" rIns="0" tIns="0" bIns="0">
            <a:spAutoFit/>
          </a:bodyPr>
          <a:lstStyle/>
          <a:p>
            <a:pPr>
              <a:lnSpc>
                <a:spcPct val="104000"/>
              </a:lnSpc>
            </a:pPr>
            <a:r>
              <a:rPr sz="980">
                <a:solidFill>
                  <a:srgbClr val="193D20"/>
                </a:solidFill>
                <a:latin typeface="Consolas"/>
              </a:rPr>
              <a:t>  STOREFRONT                        SHARED DOMAIN                       OPS CONSOLE</a:t>
            </a:r>
          </a:p>
          <a:p>
            <a:pPr>
              <a:lnSpc>
                <a:spcPct val="104000"/>
              </a:lnSpc>
            </a:pPr>
            <a:r>
              <a:rPr sz="980">
                <a:solidFill>
                  <a:srgbClr val="193D20"/>
                </a:solidFill>
                <a:latin typeface="Consolas"/>
              </a:rPr>
              <a:t> </a:t>
            </a:r>
          </a:p>
          <a:p>
            <a:pPr>
              <a:lnSpc>
                <a:spcPct val="104000"/>
              </a:lnSpc>
            </a:pPr>
            <a:r>
              <a:rPr sz="980">
                <a:solidFill>
                  <a:srgbClr val="193D20"/>
                </a:solidFill>
                <a:latin typeface="Consolas"/>
              </a:rPr>
              <a:t>  Customer buys            Product  "Summer Crush"  Rs.180            Materials inventory</a:t>
            </a:r>
          </a:p>
          <a:p>
            <a:pPr>
              <a:lnSpc>
                <a:spcPct val="104000"/>
              </a:lnSpc>
            </a:pPr>
            <a:r>
              <a:rPr sz="980">
                <a:solidFill>
                  <a:srgbClr val="193D20"/>
                </a:solidFill>
                <a:latin typeface="Consolas"/>
              </a:rPr>
              <a:t>  2 x Summer Crush   ----&gt;    recipe:                       ----&gt;     watermelon   stock / reorder</a:t>
            </a:r>
          </a:p>
          <a:p>
            <a:pPr>
              <a:lnSpc>
                <a:spcPct val="104000"/>
              </a:lnSpc>
            </a:pPr>
            <a:r>
              <a:rPr sz="980">
                <a:solidFill>
                  <a:srgbClr val="193D20"/>
                </a:solidFill>
                <a:latin typeface="Consolas"/>
              </a:rPr>
              <a:t>                                watermelon   180 g                    strawberry   stock / reorder</a:t>
            </a:r>
          </a:p>
          <a:p>
            <a:pPr>
              <a:lnSpc>
                <a:spcPct val="104000"/>
              </a:lnSpc>
            </a:pPr>
            <a:r>
              <a:rPr sz="980">
                <a:solidFill>
                  <a:srgbClr val="193D20"/>
                </a:solidFill>
                <a:latin typeface="Consolas"/>
              </a:rPr>
              <a:t>  The order line                  strawberry    60 g                  lime         stock / reorder</a:t>
            </a:r>
          </a:p>
          <a:p>
            <a:pPr>
              <a:lnSpc>
                <a:spcPct val="104000"/>
              </a:lnSpc>
            </a:pPr>
            <a:r>
              <a:rPr sz="980">
                <a:solidFill>
                  <a:srgbClr val="193D20"/>
                </a:solidFill>
                <a:latin typeface="Consolas"/>
              </a:rPr>
              <a:t>  snapshots the price             lime          15 g                  mint         stock / reorder</a:t>
            </a:r>
          </a:p>
          <a:p>
            <a:pPr>
              <a:lnSpc>
                <a:spcPct val="104000"/>
              </a:lnSpc>
            </a:pPr>
            <a:r>
              <a:rPr sz="980">
                <a:solidFill>
                  <a:srgbClr val="193D20"/>
                </a:solidFill>
                <a:latin typeface="Consolas"/>
              </a:rPr>
              <a:t>  at time of sale                 mint           5 g</a:t>
            </a:r>
          </a:p>
          <a:p>
            <a:pPr>
              <a:lnSpc>
                <a:spcPct val="104000"/>
              </a:lnSpc>
            </a:pPr>
            <a:r>
              <a:rPr sz="980">
                <a:solidFill>
                  <a:srgbClr val="193D20"/>
                </a:solidFill>
                <a:latin typeface="Consolas"/>
              </a:rPr>
              <a:t>                                                                      Low-stock alert fires when</a:t>
            </a:r>
          </a:p>
          <a:p>
            <a:pPr>
              <a:lnSpc>
                <a:spcPct val="104000"/>
              </a:lnSpc>
            </a:pPr>
            <a:r>
              <a:rPr sz="980">
                <a:solidFill>
                  <a:srgbClr val="193D20"/>
                </a:solidFill>
                <a:latin typeface="Consolas"/>
              </a:rPr>
              <a:t>  15 products                 26 raw materials                        stock &lt;= reorder level</a:t>
            </a:r>
          </a:p>
          <a:p>
            <a:pPr>
              <a:lnSpc>
                <a:spcPct val="104000"/>
              </a:lnSpc>
            </a:pPr>
            <a:r>
              <a:rPr sz="980">
                <a:solidFill>
                  <a:srgbClr val="193D20"/>
                </a:solidFill>
                <a:latin typeface="Consolas"/>
              </a:rPr>
              <a:t>                              15 fruit / 6 veg / 5 other</a:t>
            </a:r>
          </a:p>
        </p:txBody>
      </p:sp>
      <p:sp>
        <p:nvSpPr>
          <p:cNvPr id="8" name="TextBox 7"/>
          <p:cNvSpPr txBox="1"/>
          <p:nvPr/>
        </p:nvSpPr>
        <p:spPr>
          <a:xfrm>
            <a:off x="658368" y="3529584"/>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WHY IT MATTERS</a:t>
            </a:r>
          </a:p>
        </p:txBody>
      </p:sp>
      <p:sp>
        <p:nvSpPr>
          <p:cNvPr id="9" name="TextBox 8"/>
          <p:cNvSpPr txBox="1"/>
          <p:nvPr/>
        </p:nvSpPr>
        <p:spPr>
          <a:xfrm>
            <a:off x="658368" y="3767328"/>
            <a:ext cx="5291176" cy="365760"/>
          </a:xfrm>
          <a:prstGeom prst="rect">
            <a:avLst/>
          </a:prstGeom>
          <a:noFill/>
        </p:spPr>
        <p:txBody>
          <a:bodyPr wrap="square" lIns="0" rIns="0" tIns="0" bIns="0">
            <a:spAutoFit/>
          </a:bodyPr>
          <a:lstStyle/>
          <a:p>
            <a:pPr marL="173736" indent="-173736">
              <a:lnSpc>
                <a:spcPct val="114000"/>
              </a:lnSpc>
              <a:spcAft>
                <a:spcPts val="672"/>
              </a:spcAft>
            </a:pPr>
            <a:r>
              <a:rPr sz="632" b="1">
                <a:solidFill>
                  <a:srgbClr val="D9772E"/>
                </a:solidFill>
                <a:latin typeface="Calibri"/>
              </a:rPr>
              <a:t>●  </a:t>
            </a:r>
            <a:r>
              <a:rPr sz="1150" b="1">
                <a:solidFill>
                  <a:srgbClr val="243018"/>
                </a:solidFill>
                <a:latin typeface="Calibri"/>
              </a:rPr>
              <a:t>It closes the loop.</a:t>
            </a:r>
            <a:r>
              <a:rPr sz="1150">
                <a:solidFill>
                  <a:srgbClr val="5B6450"/>
                </a:solidFill>
                <a:latin typeface="Calibri"/>
              </a:rPr>
              <a:t>  Without it, the ops app is a list of orders. With it, a sale connects to a purchase order for produce.</a:t>
            </a:r>
          </a:p>
          <a:p>
            <a:pPr marL="173736" indent="-173736">
              <a:lnSpc>
                <a:spcPct val="114000"/>
              </a:lnSpc>
              <a:spcAft>
                <a:spcPts val="672"/>
              </a:spcAft>
            </a:pPr>
            <a:r>
              <a:rPr sz="632" b="1">
                <a:solidFill>
                  <a:srgbClr val="D9772E"/>
                </a:solidFill>
                <a:latin typeface="Calibri"/>
              </a:rPr>
              <a:t>●  </a:t>
            </a:r>
            <a:r>
              <a:rPr sz="1150" b="1">
                <a:solidFill>
                  <a:srgbClr val="243018"/>
                </a:solidFill>
                <a:latin typeface="Calibri"/>
              </a:rPr>
              <a:t>It's why this is one domain.</a:t>
            </a:r>
            <a:r>
              <a:rPr sz="1150">
                <a:solidFill>
                  <a:srgbClr val="5B6450"/>
                </a:solidFill>
                <a:latin typeface="Calibri"/>
              </a:rPr>
              <a:t>  Both apps read the same product definitions, so a recipe change can never mean two different things.</a:t>
            </a:r>
          </a:p>
          <a:p>
            <a:pPr marL="173736" indent="-173736">
              <a:lnSpc>
                <a:spcPct val="114000"/>
              </a:lnSpc>
              <a:spcAft>
                <a:spcPts val="672"/>
              </a:spcAft>
            </a:pPr>
            <a:r>
              <a:rPr sz="632" b="1">
                <a:solidFill>
                  <a:srgbClr val="D9772E"/>
                </a:solidFill>
                <a:latin typeface="Calibri"/>
              </a:rPr>
              <a:t>●  </a:t>
            </a:r>
            <a:r>
              <a:rPr sz="1150" b="1">
                <a:solidFill>
                  <a:srgbClr val="243018"/>
                </a:solidFill>
                <a:latin typeface="Calibri"/>
              </a:rPr>
              <a:t>It's modelled now, deliberately.</a:t>
            </a:r>
            <a:r>
              <a:rPr sz="1150">
                <a:solidFill>
                  <a:srgbClr val="5B6450"/>
                </a:solidFill>
                <a:latin typeface="Calibri"/>
              </a:rPr>
              <a:t>  Getting the shape right before there's data to migrate is far cheaper than retrofitting it.</a:t>
            </a:r>
          </a:p>
        </p:txBody>
      </p:sp>
      <p:sp>
        <p:nvSpPr>
          <p:cNvPr id="10" name="TextBox 9"/>
          <p:cNvSpPr txBox="1"/>
          <p:nvPr/>
        </p:nvSpPr>
        <p:spPr>
          <a:xfrm>
            <a:off x="6242152" y="3529584"/>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THE HONEST CAVEAT</a:t>
            </a:r>
          </a:p>
        </p:txBody>
      </p:sp>
      <p:sp>
        <p:nvSpPr>
          <p:cNvPr id="11" name="TextBox 10"/>
          <p:cNvSpPr txBox="1"/>
          <p:nvPr/>
        </p:nvSpPr>
        <p:spPr>
          <a:xfrm>
            <a:off x="6242152" y="3767328"/>
            <a:ext cx="5291176" cy="365760"/>
          </a:xfrm>
          <a:prstGeom prst="rect">
            <a:avLst/>
          </a:prstGeom>
          <a:noFill/>
        </p:spPr>
        <p:txBody>
          <a:bodyPr wrap="square" lIns="0" rIns="0" tIns="0" bIns="0">
            <a:spAutoFit/>
          </a:bodyPr>
          <a:lstStyle/>
          <a:p>
            <a:pPr marL="173736" indent="-173736">
              <a:lnSpc>
                <a:spcPct val="114000"/>
              </a:lnSpc>
              <a:spcAft>
                <a:spcPts val="672"/>
              </a:spcAft>
            </a:pPr>
            <a:r>
              <a:rPr sz="632" b="1">
                <a:solidFill>
                  <a:srgbClr val="D4533A"/>
                </a:solidFill>
                <a:latin typeface="Calibri"/>
              </a:rPr>
              <a:t>●  </a:t>
            </a:r>
            <a:r>
              <a:rPr sz="1150" b="1">
                <a:solidFill>
                  <a:srgbClr val="243018"/>
                </a:solidFill>
                <a:latin typeface="Calibri"/>
              </a:rPr>
              <a:t>Nothing decrements stock yet.</a:t>
            </a:r>
            <a:r>
              <a:rPr sz="1150">
                <a:solidFill>
                  <a:srgbClr val="5B6450"/>
                </a:solidFill>
                <a:latin typeface="Calibri"/>
              </a:rPr>
              <a:t>  Recipes exist and are displayed; low-stock alerts run purely off seed values. The loop is drawn, not wired.</a:t>
            </a:r>
          </a:p>
          <a:p>
            <a:pPr marL="173736" indent="-173736">
              <a:lnSpc>
                <a:spcPct val="114000"/>
              </a:lnSpc>
              <a:spcAft>
                <a:spcPts val="672"/>
              </a:spcAft>
            </a:pPr>
            <a:r>
              <a:rPr sz="632" b="1">
                <a:solidFill>
                  <a:srgbClr val="D4533A"/>
                </a:solidFill>
                <a:latin typeface="Calibri"/>
              </a:rPr>
              <a:t>●  </a:t>
            </a:r>
            <a:r>
              <a:rPr sz="1150" b="1">
                <a:solidFill>
                  <a:srgbClr val="243018"/>
                </a:solidFill>
                <a:latin typeface="Calibri"/>
              </a:rPr>
              <a:t>The fix is a ledger, not a counter.</a:t>
            </a:r>
            <a:r>
              <a:rPr sz="1150">
                <a:solidFill>
                  <a:srgbClr val="5B6450"/>
                </a:solidFill>
                <a:latin typeface="Calibri"/>
              </a:rPr>
              <a:t>  Stock should become a sum over append-only movements — order, restock, wastage, correction — rather than a number we mutate.</a:t>
            </a:r>
          </a:p>
          <a:p>
            <a:pPr marL="173736" indent="-173736">
              <a:lnSpc>
                <a:spcPct val="114000"/>
              </a:lnSpc>
              <a:spcAft>
                <a:spcPts val="672"/>
              </a:spcAft>
            </a:pPr>
            <a:r>
              <a:rPr sz="632" b="1">
                <a:solidFill>
                  <a:srgbClr val="D4533A"/>
                </a:solidFill>
                <a:latin typeface="Calibri"/>
              </a:rPr>
              <a:t>●  </a:t>
            </a:r>
            <a:r>
              <a:rPr sz="1150" b="1">
                <a:solidFill>
                  <a:srgbClr val="243018"/>
                </a:solidFill>
                <a:latin typeface="Calibri"/>
              </a:rPr>
              <a:t>Subscriptions can't compute it at all</a:t>
            </a:r>
            <a:r>
              <a:rPr sz="1150">
                <a:solidFill>
                  <a:srgbClr val="5B6450"/>
                </a:solidFill>
                <a:latin typeface="Calibri"/>
              </a:rPr>
              <a:t>  until we decide whether subscribers pick their own bottles. See slide 16.</a:t>
            </a:r>
          </a:p>
        </p:txBody>
      </p:sp>
      <p:sp>
        <p:nvSpPr>
          <p:cNvPr id="12" name="TextBox 11"/>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3" name="TextBox 12"/>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5A8A4A"/>
                </a:solidFill>
                <a:latin typeface="Trebuchet MS"/>
              </a:rPr>
              <a:t>FOR SENIOR ARCHITECTS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System shape: two apps, five packages, one swappable seam</a:t>
            </a:r>
          </a:p>
        </p:txBody>
      </p:sp>
      <p:sp>
        <p:nvSpPr>
          <p:cNvPr id="6" name="Rectangle 5"/>
          <p:cNvSpPr/>
          <p:nvPr/>
        </p:nvSpPr>
        <p:spPr>
          <a:xfrm>
            <a:off x="658368" y="1298448"/>
            <a:ext cx="5943600" cy="3017520"/>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1408176"/>
            <a:ext cx="5650992" cy="2798064"/>
          </a:xfrm>
          <a:prstGeom prst="rect">
            <a:avLst/>
          </a:prstGeom>
          <a:noFill/>
        </p:spPr>
        <p:txBody>
          <a:bodyPr wrap="none" lIns="0" rIns="0" tIns="0" bIns="0">
            <a:spAutoFit/>
          </a:bodyPr>
          <a:lstStyle/>
          <a:p>
            <a:pPr>
              <a:lnSpc>
                <a:spcPct val="104000"/>
              </a:lnSpc>
            </a:pPr>
            <a:r>
              <a:rPr sz="940">
                <a:solidFill>
                  <a:srgbClr val="193D20"/>
                </a:solidFill>
                <a:latin typeface="Consolas"/>
              </a:rPr>
              <a:t> +------------------------+          +--------------------------+</a:t>
            </a:r>
          </a:p>
          <a:p>
            <a:pPr>
              <a:lnSpc>
                <a:spcPct val="104000"/>
              </a:lnSpc>
            </a:pPr>
            <a:r>
              <a:rPr sz="940">
                <a:solidFill>
                  <a:srgbClr val="193D20"/>
                </a:solidFill>
                <a:latin typeface="Consolas"/>
              </a:rPr>
              <a:t> |   storefront  :3000    |          |      admin  :3001        |</a:t>
            </a:r>
          </a:p>
          <a:p>
            <a:pPr>
              <a:lnSpc>
                <a:spcPct val="104000"/>
              </a:lnSpc>
            </a:pPr>
            <a:r>
              <a:rPr sz="940">
                <a:solidFill>
                  <a:srgbClr val="193D20"/>
                </a:solidFill>
                <a:latin typeface="Consolas"/>
              </a:rPr>
              <a:t> |  RSC + server actions  |          |   RSC + server actions   |</a:t>
            </a:r>
          </a:p>
          <a:p>
            <a:pPr>
              <a:lnSpc>
                <a:spcPct val="104000"/>
              </a:lnSpc>
            </a:pPr>
            <a:r>
              <a:rPr sz="940">
                <a:solidFill>
                  <a:srgbClr val="193D20"/>
                </a:solidFill>
                <a:latin typeface="Consolas"/>
              </a:rPr>
              <a:t> +-----------+------------+          +------------+-------------+</a:t>
            </a:r>
          </a:p>
          <a:p>
            <a:pPr>
              <a:lnSpc>
                <a:spcPct val="104000"/>
              </a:lnSpc>
            </a:pPr>
            <a:r>
              <a:rPr sz="940">
                <a:solidFill>
                  <a:srgbClr val="193D20"/>
                </a:solidFill>
                <a:latin typeface="Consolas"/>
              </a:rPr>
              <a:t>             |                                    |</a:t>
            </a:r>
          </a:p>
          <a:p>
            <a:pPr>
              <a:lnSpc>
                <a:spcPct val="104000"/>
              </a:lnSpc>
            </a:pPr>
            <a:r>
              <a:rPr sz="940">
                <a:solidFill>
                  <a:srgbClr val="193D20"/>
                </a:solidFill>
                <a:latin typeface="Consolas"/>
              </a:rPr>
              <a:t>             +-----------------+------------------+</a:t>
            </a:r>
          </a:p>
          <a:p>
            <a:pPr>
              <a:lnSpc>
                <a:spcPct val="104000"/>
              </a:lnSpc>
            </a:pPr>
            <a:r>
              <a:rPr sz="940">
                <a:solidFill>
                  <a:srgbClr val="193D20"/>
                </a:solidFill>
                <a:latin typeface="Consolas"/>
              </a:rPr>
              <a:t>                               v</a:t>
            </a:r>
          </a:p>
          <a:p>
            <a:pPr>
              <a:lnSpc>
                <a:spcPct val="104000"/>
              </a:lnSpc>
            </a:pPr>
            <a:r>
              <a:rPr sz="940">
                <a:solidFill>
                  <a:srgbClr val="193D20"/>
                </a:solidFill>
                <a:latin typeface="Consolas"/>
              </a:rPr>
              <a:t>          +----------------------------------------+</a:t>
            </a:r>
          </a:p>
          <a:p>
            <a:pPr>
              <a:lnSpc>
                <a:spcPct val="104000"/>
              </a:lnSpc>
            </a:pPr>
            <a:r>
              <a:rPr sz="940">
                <a:solidFill>
                  <a:srgbClr val="193D20"/>
                </a:solidFill>
                <a:latin typeface="Consolas"/>
              </a:rPr>
              <a:t>          |  @glowroot/data                        |  &lt;-- THE SEAM</a:t>
            </a:r>
          </a:p>
          <a:p>
            <a:pPr>
              <a:lnSpc>
                <a:spcPct val="104000"/>
              </a:lnSpc>
            </a:pPr>
            <a:r>
              <a:rPr sz="940">
                <a:solidFill>
                  <a:srgbClr val="193D20"/>
                </a:solidFill>
                <a:latin typeface="Consolas"/>
              </a:rPr>
              <a:t>          |  every accessor async, every return     |      mock today,</a:t>
            </a:r>
          </a:p>
          <a:p>
            <a:pPr>
              <a:lnSpc>
                <a:spcPct val="104000"/>
              </a:lnSpc>
            </a:pPr>
            <a:r>
              <a:rPr sz="940">
                <a:solidFill>
                  <a:srgbClr val="193D20"/>
                </a:solidFill>
                <a:latin typeface="Consolas"/>
              </a:rPr>
              <a:t>          |  value a @glowroot/types shape          |      Postgres later</a:t>
            </a:r>
          </a:p>
          <a:p>
            <a:pPr>
              <a:lnSpc>
                <a:spcPct val="104000"/>
              </a:lnSpc>
            </a:pPr>
            <a:r>
              <a:rPr sz="940">
                <a:solidFill>
                  <a:srgbClr val="193D20"/>
                </a:solidFill>
                <a:latin typeface="Consolas"/>
              </a:rPr>
              <a:t>          +----+-----------------------------+-----+</a:t>
            </a:r>
          </a:p>
          <a:p>
            <a:pPr>
              <a:lnSpc>
                <a:spcPct val="104000"/>
              </a:lnSpc>
            </a:pPr>
            <a:r>
              <a:rPr sz="940">
                <a:solidFill>
                  <a:srgbClr val="193D20"/>
                </a:solidFill>
                <a:latin typeface="Consolas"/>
              </a:rPr>
              <a:t>               |                             |</a:t>
            </a:r>
          </a:p>
          <a:p>
            <a:pPr>
              <a:lnSpc>
                <a:spcPct val="104000"/>
              </a:lnSpc>
            </a:pPr>
            <a:r>
              <a:rPr sz="940">
                <a:solidFill>
                  <a:srgbClr val="193D20"/>
                </a:solidFill>
                <a:latin typeface="Consolas"/>
              </a:rPr>
              <a:t>     +---------v--------+        +------------v--------------+</a:t>
            </a:r>
          </a:p>
          <a:p>
            <a:pPr>
              <a:lnSpc>
                <a:spcPct val="104000"/>
              </a:lnSpc>
            </a:pPr>
            <a:r>
              <a:rPr sz="940">
                <a:solidFill>
                  <a:srgbClr val="193D20"/>
                </a:solidFill>
                <a:latin typeface="Consolas"/>
              </a:rPr>
              <a:t>     | in-memory seeds  |        | file-backed stores        |</a:t>
            </a:r>
          </a:p>
          <a:p>
            <a:pPr>
              <a:lnSpc>
                <a:spcPct val="104000"/>
              </a:lnSpc>
            </a:pPr>
            <a:r>
              <a:rPr sz="940">
                <a:solidFill>
                  <a:srgbClr val="193D20"/>
                </a:solidFill>
                <a:latin typeface="Consolas"/>
              </a:rPr>
              <a:t>     | products         |        | orders / users / sessions |</a:t>
            </a:r>
          </a:p>
          <a:p>
            <a:pPr>
              <a:lnSpc>
                <a:spcPct val="104000"/>
              </a:lnSpc>
            </a:pPr>
            <a:r>
              <a:rPr sz="940">
                <a:solidFill>
                  <a:srgbClr val="193D20"/>
                </a:solidFill>
                <a:latin typeface="Consolas"/>
              </a:rPr>
              <a:t>     | materials        |        +------------+--------------+</a:t>
            </a:r>
          </a:p>
          <a:p>
            <a:pPr>
              <a:lnSpc>
                <a:spcPct val="104000"/>
              </a:lnSpc>
            </a:pPr>
            <a:r>
              <a:rPr sz="940">
                <a:solidFill>
                  <a:srgbClr val="193D20"/>
                </a:solidFill>
                <a:latin typeface="Consolas"/>
              </a:rPr>
              <a:t>     | combos, plans    |                     |</a:t>
            </a:r>
          </a:p>
          <a:p>
            <a:pPr>
              <a:lnSpc>
                <a:spcPct val="104000"/>
              </a:lnSpc>
            </a:pPr>
            <a:r>
              <a:rPr sz="940">
                <a:solidFill>
                  <a:srgbClr val="193D20"/>
                </a:solidFill>
                <a:latin typeface="Consolas"/>
              </a:rPr>
              <a:t>     | produce          |          JSON files at the repo root</a:t>
            </a:r>
          </a:p>
          <a:p>
            <a:pPr>
              <a:lnSpc>
                <a:spcPct val="104000"/>
              </a:lnSpc>
            </a:pPr>
            <a:r>
              <a:rPr sz="940">
                <a:solidFill>
                  <a:srgbClr val="193D20"/>
                </a:solidFill>
                <a:latin typeface="Consolas"/>
              </a:rPr>
              <a:t>     +------------------+</a:t>
            </a:r>
          </a:p>
        </p:txBody>
      </p:sp>
      <p:sp>
        <p:nvSpPr>
          <p:cNvPr id="8" name="TextBox 7"/>
          <p:cNvSpPr txBox="1"/>
          <p:nvPr/>
        </p:nvSpPr>
        <p:spPr>
          <a:xfrm>
            <a:off x="6876288" y="1298448"/>
            <a:ext cx="4657039"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THE DELIBERATE CHOICE</a:t>
            </a:r>
          </a:p>
        </p:txBody>
      </p:sp>
      <p:sp>
        <p:nvSpPr>
          <p:cNvPr id="9" name="TextBox 8"/>
          <p:cNvSpPr txBox="1"/>
          <p:nvPr/>
        </p:nvSpPr>
        <p:spPr>
          <a:xfrm>
            <a:off x="6876288" y="1536192"/>
            <a:ext cx="4657039" cy="868680"/>
          </a:xfrm>
          <a:prstGeom prst="rect">
            <a:avLst/>
          </a:prstGeom>
          <a:noFill/>
        </p:spPr>
        <p:txBody>
          <a:bodyPr wrap="square" anchor="t" lIns="0" rIns="0" tIns="0" bIns="0">
            <a:spAutoFit/>
          </a:bodyPr>
          <a:lstStyle/>
          <a:p>
            <a:pPr algn="l">
              <a:lnSpc>
                <a:spcPct val="118000"/>
              </a:lnSpc>
              <a:spcAft>
                <a:spcPts val="0"/>
              </a:spcAft>
            </a:pPr>
            <a:r>
              <a:rPr sz="1200" b="0" i="0">
                <a:solidFill>
                  <a:srgbClr val="5B6450"/>
                </a:solidFill>
                <a:latin typeface="Calibri"/>
              </a:rPr>
              <a:t>There is no separate backend service. No Express app, no API process, no database. Server-side work happens in Next.js server actions, and the data layer is simply a package both apps import.</a:t>
            </a:r>
          </a:p>
        </p:txBody>
      </p:sp>
      <p:sp>
        <p:nvSpPr>
          <p:cNvPr id="10" name="Rectangle 9"/>
          <p:cNvSpPr/>
          <p:nvPr/>
        </p:nvSpPr>
        <p:spPr>
          <a:xfrm>
            <a:off x="6876288" y="2523744"/>
            <a:ext cx="4657039" cy="1792224"/>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59168" y="2670048"/>
            <a:ext cx="4291279"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WHY THAT HOLDS UP</a:t>
            </a:r>
          </a:p>
        </p:txBody>
      </p:sp>
      <p:sp>
        <p:nvSpPr>
          <p:cNvPr id="12" name="TextBox 11"/>
          <p:cNvSpPr txBox="1"/>
          <p:nvPr/>
        </p:nvSpPr>
        <p:spPr>
          <a:xfrm>
            <a:off x="7059168" y="2907792"/>
            <a:ext cx="4291279" cy="128016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Because the accessor signatures are already the shape a real backend would expose — all async, all returning domain types. Swapping the bodies for database queries changes nothing above them. A standalone API only earns its keep when there's a non-Next consumer, and even then route handlers cover gateway webhooks fine.</a:t>
            </a:r>
          </a:p>
        </p:txBody>
      </p:sp>
      <p:sp>
        <p:nvSpPr>
          <p:cNvPr id="13" name="TextBox 12"/>
          <p:cNvSpPr txBox="1"/>
          <p:nvPr/>
        </p:nvSpPr>
        <p:spPr>
          <a:xfrm>
            <a:off x="658368" y="4443984"/>
            <a:ext cx="10874959"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WHAT I WANT YOUR EYES ON</a:t>
            </a:r>
          </a:p>
        </p:txBody>
      </p:sp>
      <p:graphicFrame>
        <p:nvGraphicFramePr>
          <p:cNvPr id="14" name="Table 13"/>
          <p:cNvGraphicFramePr>
            <a:graphicFrameLocks noGrp="1"/>
          </p:cNvGraphicFramePr>
          <p:nvPr/>
        </p:nvGraphicFramePr>
        <p:xfrm>
          <a:off x="658368" y="4681728"/>
          <a:ext cx="10874959" cy="1554480"/>
        </p:xfrm>
        <a:graphic>
          <a:graphicData uri="http://schemas.openxmlformats.org/drawingml/2006/table">
            <a:tbl>
              <a:tblPr firstRow="1">
                <a:tableStyleId>{5C22544A-7EE6-4342-B048-85BDC9FD1C3A}</a:tableStyleId>
              </a:tblPr>
              <a:tblGrid>
                <a:gridCol w="2718740"/>
                <a:gridCol w="4440608"/>
                <a:gridCol w="3715611"/>
              </a:tblGrid>
              <a:tr h="292608">
                <a:tc>
                  <a:txBody>
                    <a:bodyPr wrap="square"/>
                    <a:lstStyle/>
                    <a:p>
                      <a:r>
                        <a:rPr sz="1050" b="1" i="0">
                          <a:solidFill>
                            <a:srgbClr val="F6F0E2"/>
                          </a:solidFill>
                          <a:latin typeface="Calibri"/>
                        </a:rPr>
                        <a:t>Issue</a:t>
                      </a:r>
                    </a:p>
                  </a:txBody>
                  <a:tcPr marL="91440" marR="73152" marT="36576" marB="36576" anchor="ctr">
                    <a:solidFill>
                      <a:srgbClr val="5A8A4A"/>
                    </a:solidFill>
                  </a:tcPr>
                </a:tc>
                <a:tc>
                  <a:txBody>
                    <a:bodyPr wrap="square"/>
                    <a:lstStyle/>
                    <a:p>
                      <a:r>
                        <a:rPr sz="1050" b="1" i="0">
                          <a:solidFill>
                            <a:srgbClr val="F6F0E2"/>
                          </a:solidFill>
                          <a:latin typeface="Calibri"/>
                        </a:rPr>
                        <a:t>Where it bites</a:t>
                      </a:r>
                    </a:p>
                  </a:txBody>
                  <a:tcPr marL="91440" marR="73152" marT="36576" marB="36576" anchor="ctr">
                    <a:solidFill>
                      <a:srgbClr val="5A8A4A"/>
                    </a:solidFill>
                  </a:tcPr>
                </a:tc>
                <a:tc>
                  <a:txBody>
                    <a:bodyPr wrap="square"/>
                    <a:lstStyle/>
                    <a:p>
                      <a:r>
                        <a:rPr sz="1050" b="1" i="0">
                          <a:solidFill>
                            <a:srgbClr val="F6F0E2"/>
                          </a:solidFill>
                          <a:latin typeface="Calibri"/>
                        </a:rPr>
                        <a:t>My proposed answer</a:t>
                      </a:r>
                    </a:p>
                  </a:txBody>
                  <a:tcPr marL="91440" marR="73152" marT="36576" marB="36576" anchor="ctr">
                    <a:solidFill>
                      <a:srgbClr val="5A8A4A"/>
                    </a:solidFill>
                  </a:tcPr>
                </a:tc>
              </a:tr>
              <a:tr h="420624">
                <a:tc>
                  <a:txBody>
                    <a:bodyPr wrap="square"/>
                    <a:lstStyle/>
                    <a:p>
                      <a:r>
                        <a:rPr sz="1050" b="1" i="0">
                          <a:solidFill>
                            <a:srgbClr val="243018"/>
                          </a:solidFill>
                          <a:latin typeface="Calibri"/>
                        </a:rPr>
                        <a:t>Read-modify-write JSON with no locking</a:t>
                      </a:r>
                    </a:p>
                  </a:txBody>
                  <a:tcPr marL="91440" marR="73152" marT="36576" marB="36576" anchor="ctr">
                    <a:solidFill>
                      <a:srgbClr val="F6F0E2"/>
                    </a:solidFill>
                  </a:tcPr>
                </a:tc>
                <a:tc>
                  <a:txBody>
                    <a:bodyPr wrap="square"/>
                    <a:lstStyle/>
                    <a:p>
                      <a:r>
                        <a:rPr sz="1050" b="0" i="0">
                          <a:solidFill>
                            <a:srgbClr val="243018"/>
                          </a:solidFill>
                          <a:latin typeface="Calibri"/>
                        </a:rPr>
                        <a:t>Two concurrent checkouts and one is lost; a crash mid-write truncates the file</a:t>
                      </a:r>
                    </a:p>
                  </a:txBody>
                  <a:tcPr marL="91440" marR="73152" marT="36576" marB="36576" anchor="ctr">
                    <a:solidFill>
                      <a:srgbClr val="F6F0E2"/>
                    </a:solidFill>
                  </a:tcPr>
                </a:tc>
                <a:tc>
                  <a:txBody>
                    <a:bodyPr wrap="square"/>
                    <a:lstStyle/>
                    <a:p>
                      <a:r>
                        <a:rPr sz="1050" b="0" i="0">
                          <a:solidFill>
                            <a:srgbClr val="243018"/>
                          </a:solidFill>
                          <a:latin typeface="Calibri"/>
                        </a:rPr>
                        <a:t>Postgres behind the same accessors — Phase 4 step 3</a:t>
                      </a:r>
                    </a:p>
                  </a:txBody>
                  <a:tcPr marL="91440" marR="73152" marT="36576" marB="36576" anchor="ctr">
                    <a:solidFill>
                      <a:srgbClr val="F6F0E2"/>
                    </a:solidFill>
                  </a:tcPr>
                </a:tc>
              </a:tr>
              <a:tr h="420624">
                <a:tc>
                  <a:txBody>
                    <a:bodyPr wrap="square"/>
                    <a:lstStyle/>
                    <a:p>
                      <a:r>
                        <a:rPr sz="1050" b="1" i="0">
                          <a:solidFill>
                            <a:srgbClr val="243018"/>
                          </a:solidFill>
                          <a:latin typeface="Calibri"/>
                        </a:rPr>
                        <a:t>The data package exports fs and crypto from its root</a:t>
                      </a:r>
                    </a:p>
                  </a:txBody>
                  <a:tcPr marL="91440" marR="73152" marT="36576" marB="36576" anchor="ctr">
                    <a:solidFill>
                      <a:srgbClr val="FFFFFF"/>
                    </a:solidFill>
                  </a:tcPr>
                </a:tc>
                <a:tc>
                  <a:txBody>
                    <a:bodyPr wrap="square"/>
                    <a:lstStyle/>
                    <a:p>
                      <a:r>
                        <a:rPr sz="1050" b="0" i="0">
                          <a:solidFill>
                            <a:srgbClr val="243018"/>
                          </a:solidFill>
                          <a:latin typeface="Calibri"/>
                        </a:rPr>
                        <a:t>One careless import from a client component breaks the build. Worse with a DB client in there.</a:t>
                      </a:r>
                    </a:p>
                  </a:txBody>
                  <a:tcPr marL="91440" marR="73152" marT="36576" marB="36576" anchor="ctr">
                    <a:solidFill>
                      <a:srgbClr val="FFFFFF"/>
                    </a:solidFill>
                  </a:tcPr>
                </a:tc>
                <a:tc>
                  <a:txBody>
                    <a:bodyPr wrap="square"/>
                    <a:lstStyle/>
                    <a:p>
                      <a:r>
                        <a:rPr sz="1050" b="0" i="0">
                          <a:solidFill>
                            <a:srgbClr val="243018"/>
                          </a:solidFill>
                          <a:latin typeface="Calibri"/>
                        </a:rPr>
                        <a:t>Split into a client-safe catalogue entry and a server-only entry</a:t>
                      </a:r>
                    </a:p>
                  </a:txBody>
                  <a:tcPr marL="91440" marR="73152" marT="36576" marB="36576" anchor="ctr">
                    <a:solidFill>
                      <a:srgbClr val="FFFFFF"/>
                    </a:solidFill>
                  </a:tcPr>
                </a:tc>
              </a:tr>
              <a:tr h="420624">
                <a:tc>
                  <a:txBody>
                    <a:bodyPr wrap="square"/>
                    <a:lstStyle/>
                    <a:p>
                      <a:r>
                        <a:rPr sz="1050" b="1" i="0">
                          <a:solidFill>
                            <a:srgbClr val="243018"/>
                          </a:solidFill>
                          <a:latin typeface="Calibri"/>
                        </a:rPr>
                        <a:t>No idempotency on order placement</a:t>
                      </a:r>
                    </a:p>
                  </a:txBody>
                  <a:tcPr marL="91440" marR="73152" marT="36576" marB="36576" anchor="ctr">
                    <a:solidFill>
                      <a:srgbClr val="F6F0E2"/>
                    </a:solidFill>
                  </a:tcPr>
                </a:tc>
                <a:tc>
                  <a:txBody>
                    <a:bodyPr wrap="square"/>
                    <a:lstStyle/>
                    <a:p>
                      <a:r>
                        <a:rPr sz="1050" b="0" i="0">
                          <a:solidFill>
                            <a:srgbClr val="243018"/>
                          </a:solidFill>
                          <a:latin typeface="Calibri"/>
                        </a:rPr>
                        <a:t>Double-submit means two charges and two orders; the guard is client-side only</a:t>
                      </a:r>
                    </a:p>
                  </a:txBody>
                  <a:tcPr marL="91440" marR="73152" marT="36576" marB="36576" anchor="ctr">
                    <a:solidFill>
                      <a:srgbClr val="F6F0E2"/>
                    </a:solidFill>
                  </a:tcPr>
                </a:tc>
                <a:tc>
                  <a:txBody>
                    <a:bodyPr wrap="square"/>
                    <a:lstStyle/>
                    <a:p>
                      <a:r>
                        <a:rPr sz="1050" b="0" i="0">
                          <a:solidFill>
                            <a:srgbClr val="243018"/>
                          </a:solidFill>
                          <a:latin typeface="Calibri"/>
                        </a:rPr>
                        <a:t>A unique request ID per attempt, inserted under a unique index</a:t>
                      </a:r>
                    </a:p>
                  </a:txBody>
                  <a:tcPr marL="91440" marR="73152" marT="36576" marB="36576" anchor="ctr">
                    <a:solidFill>
                      <a:srgbClr val="F6F0E2"/>
                    </a:solidFill>
                  </a:tcPr>
                </a:tc>
              </a:tr>
            </a:tbl>
          </a:graphicData>
        </a:graphic>
      </p:graphicFrame>
      <p:sp>
        <p:nvSpPr>
          <p:cNvPr id="15" name="TextBox 14"/>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6" name="TextBox 15"/>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5A8A4A"/>
                </a:solidFill>
                <a:latin typeface="Trebuchet MS"/>
              </a:rPr>
              <a:t>FOR SENIOR ARCHITECTS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Domain model: the invariants I want defended</a:t>
            </a:r>
          </a:p>
        </p:txBody>
      </p:sp>
      <p:sp>
        <p:nvSpPr>
          <p:cNvPr id="6" name="TextBox 5"/>
          <p:cNvSpPr txBox="1"/>
          <p:nvPr/>
        </p:nvSpPr>
        <p:spPr>
          <a:xfrm>
            <a:off x="658368"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THE SIX ENTITIES</a:t>
            </a:r>
          </a:p>
        </p:txBody>
      </p:sp>
      <p:sp>
        <p:nvSpPr>
          <p:cNvPr id="7" name="TextBox 6"/>
          <p:cNvSpPr txBox="1"/>
          <p:nvPr/>
        </p:nvSpPr>
        <p:spPr>
          <a:xfrm>
            <a:off x="658368" y="1536192"/>
            <a:ext cx="5291176" cy="365760"/>
          </a:xfrm>
          <a:prstGeom prst="rect">
            <a:avLst/>
          </a:prstGeom>
          <a:noFill/>
        </p:spPr>
        <p:txBody>
          <a:bodyPr wrap="square" lIns="0" rIns="0" tIns="0" bIns="0">
            <a:spAutoFit/>
          </a:bodyPr>
          <a:lstStyle/>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Product</a:t>
            </a:r>
            <a:r>
              <a:rPr sz="1150">
                <a:solidFill>
                  <a:srgbClr val="5B6450"/>
                </a:solidFill>
                <a:latin typeface="Calibri"/>
              </a:rPr>
              <a:t>  slug-keyed, and carries a recipe of raw materials</a:t>
            </a:r>
          </a:p>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Material</a:t>
            </a:r>
            <a:r>
              <a:rPr sz="1150">
                <a:solidFill>
                  <a:srgbClr val="5B6450"/>
                </a:solidFill>
                <a:latin typeface="Calibri"/>
              </a:rPr>
              <a:t>  raw produce, with a stock level and a reorder threshold</a:t>
            </a:r>
          </a:p>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Combo / Bundle / Plan</a:t>
            </a:r>
            <a:r>
              <a:rPr sz="1150">
                <a:solidFill>
                  <a:srgbClr val="5B6450"/>
                </a:solidFill>
                <a:latin typeface="Calibri"/>
              </a:rPr>
              <a:t>  curated sets, and the three subscription tiers</a:t>
            </a:r>
          </a:p>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Order</a:t>
            </a:r>
            <a:r>
              <a:rPr sz="1150">
                <a:solidFill>
                  <a:srgbClr val="5B6450"/>
                </a:solidFill>
                <a:latin typeface="Calibri"/>
              </a:rPr>
              <a:t>  customer, items, type, status, total, delivery date and slot, optional payment, append-only history</a:t>
            </a:r>
          </a:p>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Payment</a:t>
            </a:r>
            <a:r>
              <a:rPr sz="1150">
                <a:solidFill>
                  <a:srgbClr val="5B6450"/>
                </a:solidFill>
                <a:latin typeface="Calibri"/>
              </a:rPr>
              <a:t>  method, status, gateway reference, masked instrument hint</a:t>
            </a:r>
          </a:p>
          <a:p>
            <a:pPr marL="173736" indent="-173736">
              <a:lnSpc>
                <a:spcPct val="114000"/>
              </a:lnSpc>
              <a:spcAft>
                <a:spcPts val="624"/>
              </a:spcAft>
            </a:pPr>
            <a:r>
              <a:rPr sz="632" b="1">
                <a:solidFill>
                  <a:srgbClr val="D9772E"/>
                </a:solidFill>
                <a:latin typeface="Calibri"/>
              </a:rPr>
              <a:t>●  </a:t>
            </a:r>
            <a:r>
              <a:rPr sz="1150" b="1">
                <a:solidFill>
                  <a:srgbClr val="243018"/>
                </a:solidFill>
                <a:latin typeface="Calibri"/>
              </a:rPr>
              <a:t>User / Session</a:t>
            </a:r>
            <a:r>
              <a:rPr sz="1150">
                <a:solidFill>
                  <a:srgbClr val="5B6450"/>
                </a:solidFill>
                <a:latin typeface="Calibri"/>
              </a:rPr>
              <a:t>  email-keyed user; opaque server session with a hashed token</a:t>
            </a:r>
          </a:p>
        </p:txBody>
      </p:sp>
      <p:sp>
        <p:nvSpPr>
          <p:cNvPr id="8" name="TextBox 7"/>
          <p:cNvSpPr txBox="1"/>
          <p:nvPr/>
        </p:nvSpPr>
        <p:spPr>
          <a:xfrm>
            <a:off x="658368" y="3547872"/>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5A8A4A"/>
                </a:solidFill>
                <a:latin typeface="Trebuchet MS"/>
              </a:rPr>
              <a:t>FOUR INVARIANTS ALREADY IN PLACE</a:t>
            </a:r>
          </a:p>
        </p:txBody>
      </p:sp>
      <p:sp>
        <p:nvSpPr>
          <p:cNvPr id="9" name="TextBox 8"/>
          <p:cNvSpPr txBox="1"/>
          <p:nvPr/>
        </p:nvSpPr>
        <p:spPr>
          <a:xfrm>
            <a:off x="658368" y="3785616"/>
            <a:ext cx="5291176" cy="365760"/>
          </a:xfrm>
          <a:prstGeom prst="rect">
            <a:avLst/>
          </a:prstGeom>
          <a:noFill/>
        </p:spPr>
        <p:txBody>
          <a:bodyPr wrap="square" lIns="0" rIns="0" tIns="0" bIns="0">
            <a:spAutoFit/>
          </a:bodyPr>
          <a:lstStyle/>
          <a:p>
            <a:pPr marL="173736" indent="-173736">
              <a:lnSpc>
                <a:spcPct val="114000"/>
              </a:lnSpc>
              <a:spcAft>
                <a:spcPts val="624"/>
              </a:spcAft>
            </a:pPr>
            <a:r>
              <a:rPr sz="632" b="1">
                <a:solidFill>
                  <a:srgbClr val="5A8A4A"/>
                </a:solidFill>
                <a:latin typeface="Calibri"/>
              </a:rPr>
              <a:t>●  </a:t>
            </a:r>
            <a:r>
              <a:rPr sz="1150" b="1">
                <a:solidFill>
                  <a:srgbClr val="243018"/>
                </a:solidFill>
                <a:latin typeface="Calibri"/>
              </a:rPr>
              <a:t>Order lines snapshot their price.</a:t>
            </a:r>
            <a:r>
              <a:rPr sz="1150">
                <a:solidFill>
                  <a:srgbClr val="5B6450"/>
                </a:solidFill>
                <a:latin typeface="Calibri"/>
              </a:rPr>
              <a:t>  A later catalogue price change cannot rewrite history.</a:t>
            </a:r>
          </a:p>
          <a:p>
            <a:pPr marL="173736" indent="-173736">
              <a:lnSpc>
                <a:spcPct val="114000"/>
              </a:lnSpc>
              <a:spcAft>
                <a:spcPts val="624"/>
              </a:spcAft>
            </a:pPr>
            <a:r>
              <a:rPr sz="632" b="1">
                <a:solidFill>
                  <a:srgbClr val="5A8A4A"/>
                </a:solidFill>
                <a:latin typeface="Calibri"/>
              </a:rPr>
              <a:t>●  </a:t>
            </a:r>
            <a:r>
              <a:rPr sz="1150" b="1">
                <a:solidFill>
                  <a:srgbClr val="243018"/>
                </a:solidFill>
                <a:latin typeface="Calibri"/>
              </a:rPr>
              <a:t>Order history is append-only.</a:t>
            </a:r>
            <a:r>
              <a:rPr sz="1150">
                <a:solidFill>
                  <a:srgbClr val="5B6450"/>
                </a:solidFill>
                <a:latin typeface="Calibri"/>
              </a:rPr>
              <a:t>  It's the audit trail and the customer-facing timeline in one object.</a:t>
            </a:r>
          </a:p>
          <a:p>
            <a:pPr marL="173736" indent="-173736">
              <a:lnSpc>
                <a:spcPct val="114000"/>
              </a:lnSpc>
              <a:spcAft>
                <a:spcPts val="624"/>
              </a:spcAft>
            </a:pPr>
            <a:r>
              <a:rPr sz="632" b="1">
                <a:solidFill>
                  <a:srgbClr val="5A8A4A"/>
                </a:solidFill>
                <a:latin typeface="Calibri"/>
              </a:rPr>
              <a:t>●  </a:t>
            </a:r>
            <a:r>
              <a:rPr sz="1150" b="1">
                <a:solidFill>
                  <a:srgbClr val="243018"/>
                </a:solidFill>
                <a:latin typeface="Calibri"/>
              </a:rPr>
              <a:t>Only a masked instrument hint is stored.</a:t>
            </a:r>
            <a:r>
              <a:rPr sz="1150">
                <a:solidFill>
                  <a:srgbClr val="5B6450"/>
                </a:solidFill>
                <a:latin typeface="Calibri"/>
              </a:rPr>
              <a:t>  Never a full card number or UPI handle.</a:t>
            </a:r>
          </a:p>
          <a:p>
            <a:pPr marL="173736" indent="-173736">
              <a:lnSpc>
                <a:spcPct val="114000"/>
              </a:lnSpc>
              <a:spcAft>
                <a:spcPts val="624"/>
              </a:spcAft>
            </a:pPr>
            <a:r>
              <a:rPr sz="632" b="1">
                <a:solidFill>
                  <a:srgbClr val="5A8A4A"/>
                </a:solidFill>
                <a:latin typeface="Calibri"/>
              </a:rPr>
              <a:t>●  </a:t>
            </a:r>
            <a:r>
              <a:rPr sz="1150" b="1">
                <a:solidFill>
                  <a:srgbClr val="243018"/>
                </a:solidFill>
                <a:latin typeface="Calibri"/>
              </a:rPr>
              <a:t>The password hash never crosses the boundary.</a:t>
            </a:r>
            <a:r>
              <a:rPr sz="1150">
                <a:solidFill>
                  <a:srgbClr val="5B6450"/>
                </a:solidFill>
                <a:latin typeface="Calibri"/>
              </a:rPr>
              <a:t>  A stripped public shape is the only user object a client can ever see.</a:t>
            </a:r>
          </a:p>
        </p:txBody>
      </p:sp>
      <p:sp>
        <p:nvSpPr>
          <p:cNvPr id="10" name="TextBox 9"/>
          <p:cNvSpPr txBox="1"/>
          <p:nvPr/>
        </p:nvSpPr>
        <p:spPr>
          <a:xfrm>
            <a:off x="6242152"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THE MODELLING DEBT, WORST FIRST</a:t>
            </a:r>
          </a:p>
        </p:txBody>
      </p:sp>
      <p:graphicFrame>
        <p:nvGraphicFramePr>
          <p:cNvPr id="11" name="Table 10"/>
          <p:cNvGraphicFramePr>
            <a:graphicFrameLocks noGrp="1"/>
          </p:cNvGraphicFramePr>
          <p:nvPr/>
        </p:nvGraphicFramePr>
        <p:xfrm>
          <a:off x="6242152" y="1536192"/>
          <a:ext cx="5291176" cy="3584448"/>
        </p:xfrm>
        <a:graphic>
          <a:graphicData uri="http://schemas.openxmlformats.org/drawingml/2006/table">
            <a:tbl>
              <a:tblPr firstRow="1">
                <a:tableStyleId>{5C22544A-7EE6-4342-B048-85BDC9FD1C3A}</a:tableStyleId>
              </a:tblPr>
              <a:tblGrid>
                <a:gridCol w="1736167"/>
                <a:gridCol w="3555009"/>
              </a:tblGrid>
              <a:tr h="292608">
                <a:tc>
                  <a:txBody>
                    <a:bodyPr wrap="square"/>
                    <a:lstStyle/>
                    <a:p>
                      <a:r>
                        <a:rPr sz="1050" b="1" i="0">
                          <a:solidFill>
                            <a:srgbClr val="F6F0E2"/>
                          </a:solidFill>
                          <a:latin typeface="Calibri"/>
                        </a:rPr>
                        <a:t>Debt</a:t>
                      </a:r>
                    </a:p>
                  </a:txBody>
                  <a:tcPr marL="91440" marR="73152" marT="36576" marB="36576" anchor="ctr">
                    <a:solidFill>
                      <a:srgbClr val="D4533A"/>
                    </a:solidFill>
                  </a:tcPr>
                </a:tc>
                <a:tc>
                  <a:txBody>
                    <a:bodyPr wrap="square"/>
                    <a:lstStyle/>
                    <a:p>
                      <a:r>
                        <a:rPr sz="1050" b="1" i="0">
                          <a:solidFill>
                            <a:srgbClr val="F6F0E2"/>
                          </a:solidFill>
                          <a:latin typeface="Calibri"/>
                        </a:rPr>
                        <a:t>Consequence</a:t>
                      </a:r>
                    </a:p>
                  </a:txBody>
                  <a:tcPr marL="91440" marR="73152" marT="36576" marB="36576" anchor="ctr">
                    <a:solidFill>
                      <a:srgbClr val="D4533A"/>
                    </a:solidFill>
                  </a:tcPr>
                </a:tc>
              </a:tr>
              <a:tr h="658368">
                <a:tc>
                  <a:txBody>
                    <a:bodyPr wrap="square"/>
                    <a:lstStyle/>
                    <a:p>
                      <a:r>
                        <a:rPr sz="1050" b="1" i="0">
                          <a:solidFill>
                            <a:srgbClr val="243018"/>
                          </a:solidFill>
                          <a:latin typeface="Calibri"/>
                        </a:rPr>
                        <a:t>Email is the primary key</a:t>
                      </a:r>
                    </a:p>
                  </a:txBody>
                  <a:tcPr marL="91440" marR="73152" marT="36576" marB="36576" anchor="ctr">
                    <a:solidFill>
                      <a:srgbClr val="F6F0E2"/>
                    </a:solidFill>
                  </a:tcPr>
                </a:tc>
                <a:tc>
                  <a:txBody>
                    <a:bodyPr wrap="square"/>
                    <a:lstStyle/>
                    <a:p>
                      <a:r>
                        <a:rPr sz="1050" b="0" i="0">
                          <a:solidFill>
                            <a:srgbClr val="243018"/>
                          </a:solidFill>
                          <a:latin typeface="Calibri"/>
                        </a:rPr>
                        <a:t>There is no stable user ID. Change an email and the order history detaches; every future foreign key has nothing to point at.</a:t>
                      </a:r>
                    </a:p>
                  </a:txBody>
                  <a:tcPr marL="91440" marR="73152" marT="36576" marB="36576" anchor="ctr">
                    <a:solidFill>
                      <a:srgbClr val="F6F0E2"/>
                    </a:solidFill>
                  </a:tcPr>
                </a:tc>
              </a:tr>
              <a:tr h="658368">
                <a:tc>
                  <a:txBody>
                    <a:bodyPr wrap="square"/>
                    <a:lstStyle/>
                    <a:p>
                      <a:r>
                        <a:rPr sz="1050" b="1" i="0">
                          <a:solidFill>
                            <a:srgbClr val="243018"/>
                          </a:solidFill>
                          <a:latin typeface="Calibri"/>
                        </a:rPr>
                        <a:t>A subscription is not an entity</a:t>
                      </a:r>
                    </a:p>
                  </a:txBody>
                  <a:tcPr marL="91440" marR="73152" marT="36576" marB="36576" anchor="ctr">
                    <a:solidFill>
                      <a:srgbClr val="FFFFFF"/>
                    </a:solidFill>
                  </a:tcPr>
                </a:tc>
                <a:tc>
                  <a:txBody>
                    <a:bodyPr wrap="square"/>
                    <a:lstStyle/>
                    <a:p>
                      <a:r>
                        <a:rPr sz="1050" b="0" i="0">
                          <a:solidFill>
                            <a:srgbClr val="243018"/>
                          </a:solidFill>
                          <a:latin typeface="Calibri"/>
                        </a:rPr>
                        <a:t>Cadence, start date and days are used to price and display, then dropped. Nothing generates delivery two; there's nothing to pause.</a:t>
                      </a:r>
                    </a:p>
                  </a:txBody>
                  <a:tcPr marL="91440" marR="73152" marT="36576" marB="36576" anchor="ctr">
                    <a:solidFill>
                      <a:srgbClr val="FFFFFF"/>
                    </a:solidFill>
                  </a:tcPr>
                </a:tc>
              </a:tr>
              <a:tr h="658368">
                <a:tc>
                  <a:txBody>
                    <a:bodyPr wrap="square"/>
                    <a:lstStyle/>
                    <a:p>
                      <a:r>
                        <a:rPr sz="1050" b="1" i="0">
                          <a:solidFill>
                            <a:srgbClr val="243018"/>
                          </a:solidFill>
                          <a:latin typeface="Calibri"/>
                        </a:rPr>
                        <a:t>Stock is a mutable number</a:t>
                      </a:r>
                    </a:p>
                  </a:txBody>
                  <a:tcPr marL="91440" marR="73152" marT="36576" marB="36576" anchor="ctr">
                    <a:solidFill>
                      <a:srgbClr val="F6F0E2"/>
                    </a:solidFill>
                  </a:tcPr>
                </a:tc>
                <a:tc>
                  <a:txBody>
                    <a:bodyPr wrap="square"/>
                    <a:lstStyle/>
                    <a:p>
                      <a:r>
                        <a:rPr sz="1050" b="0" i="0">
                          <a:solidFill>
                            <a:srgbClr val="243018"/>
                          </a:solidFill>
                          <a:latin typeface="Calibri"/>
                        </a:rPr>
                        <a:t>Not auditable and not idempotency-friendly. Should be a cached sum over an append-only movement ledger.</a:t>
                      </a:r>
                    </a:p>
                  </a:txBody>
                  <a:tcPr marL="91440" marR="73152" marT="36576" marB="36576" anchor="ctr">
                    <a:solidFill>
                      <a:srgbClr val="F6F0E2"/>
                    </a:solidFill>
                  </a:tcPr>
                </a:tc>
              </a:tr>
              <a:tr h="658368">
                <a:tc>
                  <a:txBody>
                    <a:bodyPr wrap="square"/>
                    <a:lstStyle/>
                    <a:p>
                      <a:r>
                        <a:rPr sz="1050" b="1" i="0">
                          <a:solidFill>
                            <a:srgbClr val="243018"/>
                          </a:solidFill>
                          <a:latin typeface="Calibri"/>
                        </a:rPr>
                        <a:t>Order IDs are four random digits</a:t>
                      </a:r>
                    </a:p>
                  </a:txBody>
                  <a:tcPr marL="91440" marR="73152" marT="36576" marB="36576" anchor="ctr">
                    <a:solidFill>
                      <a:srgbClr val="FFFFFF"/>
                    </a:solidFill>
                  </a:tcPr>
                </a:tc>
                <a:tc>
                  <a:txBody>
                    <a:bodyPr wrap="square"/>
                    <a:lstStyle/>
                    <a:p>
                      <a:r>
                        <a:rPr sz="1050" b="0" i="0">
                          <a:solidFill>
                            <a:srgbClr val="243018"/>
                          </a:solidFill>
                          <a:latin typeface="Calibri"/>
                        </a:rPr>
                        <a:t>A 9,000-value space with no uniqueness check on insert. Collisions are a matter of when, not if.</a:t>
                      </a:r>
                    </a:p>
                  </a:txBody>
                  <a:tcPr marL="91440" marR="73152" marT="36576" marB="36576" anchor="ctr">
                    <a:solidFill>
                      <a:srgbClr val="FFFFFF"/>
                    </a:solidFill>
                  </a:tcPr>
                </a:tc>
              </a:tr>
              <a:tr h="658368">
                <a:tc>
                  <a:txBody>
                    <a:bodyPr wrap="square"/>
                    <a:lstStyle/>
                    <a:p>
                      <a:r>
                        <a:rPr sz="1050" b="1" i="0">
                          <a:solidFill>
                            <a:srgbClr val="243018"/>
                          </a:solidFill>
                          <a:latin typeface="Calibri"/>
                        </a:rPr>
                        <a:t>Status transitions are unconstrained</a:t>
                      </a:r>
                    </a:p>
                  </a:txBody>
                  <a:tcPr marL="91440" marR="73152" marT="36576" marB="36576" anchor="ctr">
                    <a:solidFill>
                      <a:srgbClr val="F6F0E2"/>
                    </a:solidFill>
                  </a:tcPr>
                </a:tc>
                <a:tc>
                  <a:txBody>
                    <a:bodyPr wrap="square"/>
                    <a:lstStyle/>
                    <a:p>
                      <a:r>
                        <a:rPr sz="1050" b="0" i="0">
                          <a:solidFill>
                            <a:srgbClr val="243018"/>
                          </a:solidFill>
                          <a:latin typeface="Calibri"/>
                        </a:rPr>
                        <a:t>Any status can be set from any other. The lifecycle graph should be enforced server-side.</a:t>
                      </a:r>
                    </a:p>
                  </a:txBody>
                  <a:tcPr marL="91440" marR="73152" marT="36576" marB="36576" anchor="ctr">
                    <a:solidFill>
                      <a:srgbClr val="F6F0E2"/>
                    </a:solidFill>
                  </a:tcPr>
                </a:tc>
              </a:tr>
            </a:tbl>
          </a:graphicData>
        </a:graphic>
      </p:graphicFrame>
      <p:sp>
        <p:nvSpPr>
          <p:cNvPr id="12" name="TextBox 11"/>
          <p:cNvSpPr txBox="1"/>
          <p:nvPr/>
        </p:nvSpPr>
        <p:spPr>
          <a:xfrm>
            <a:off x="6242152" y="5212080"/>
            <a:ext cx="5291176" cy="457200"/>
          </a:xfrm>
          <a:prstGeom prst="rect">
            <a:avLst/>
          </a:prstGeom>
          <a:noFill/>
        </p:spPr>
        <p:txBody>
          <a:bodyPr wrap="square" anchor="t" lIns="0" rIns="0" tIns="0" bIns="0">
            <a:spAutoFit/>
          </a:bodyPr>
          <a:lstStyle/>
          <a:p>
            <a:pPr algn="l">
              <a:lnSpc>
                <a:spcPct val="115000"/>
              </a:lnSpc>
              <a:spcAft>
                <a:spcPts val="0"/>
              </a:spcAft>
            </a:pPr>
            <a:r>
              <a:rPr sz="1150" b="1" i="0">
                <a:solidFill>
                  <a:srgbClr val="243018"/>
                </a:solidFill>
                <a:latin typeface="Calibri"/>
              </a:rPr>
              <a:t>The one I most want fixed before there's real data:  </a:t>
            </a:r>
            <a:r>
              <a:rPr sz="1150" b="0" i="0">
                <a:solidFill>
                  <a:srgbClr val="5B6450"/>
                </a:solidFill>
                <a:latin typeface="Calibri"/>
              </a:rPr>
              <a:t>the missing user ID. Cheap now, expensive after launch.</a:t>
            </a:r>
          </a:p>
        </p:txBody>
      </p:sp>
      <p:sp>
        <p:nvSpPr>
          <p:cNvPr id="13" name="TextBox 12"/>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4" name="TextBox 13"/>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5A8A4A"/>
                </a:solidFill>
                <a:latin typeface="Trebuchet MS"/>
              </a:rPr>
              <a:t>FOR ARCHITECTS &amp; SECURITY</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Identity: what's real, and the one hole left</a:t>
            </a:r>
          </a:p>
        </p:txBody>
      </p:sp>
      <p:sp>
        <p:nvSpPr>
          <p:cNvPr id="6" name="Rectangle 5"/>
          <p:cNvSpPr/>
          <p:nvPr/>
        </p:nvSpPr>
        <p:spPr>
          <a:xfrm>
            <a:off x="658368" y="1298448"/>
            <a:ext cx="3515258" cy="181051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1298448"/>
            <a:ext cx="3515258" cy="45720"/>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 y="1481328"/>
            <a:ext cx="3149498" cy="182880"/>
          </a:xfrm>
          <a:prstGeom prst="rect">
            <a:avLst/>
          </a:prstGeom>
          <a:noFill/>
        </p:spPr>
        <p:txBody>
          <a:bodyPr wrap="square" anchor="t" lIns="0" rIns="0" tIns="0" bIns="0">
            <a:spAutoFit/>
          </a:bodyPr>
          <a:lstStyle/>
          <a:p>
            <a:pPr algn="l">
              <a:lnSpc>
                <a:spcPct val="100000"/>
              </a:lnSpc>
              <a:spcAft>
                <a:spcPts val="0"/>
              </a:spcAft>
            </a:pPr>
            <a:r>
              <a:rPr sz="900" b="1" i="0">
                <a:solidFill>
                  <a:srgbClr val="5A8A4A"/>
                </a:solidFill>
                <a:latin typeface="Trebuchet MS"/>
              </a:rPr>
              <a:t>DONE</a:t>
            </a:r>
          </a:p>
        </p:txBody>
      </p:sp>
      <p:sp>
        <p:nvSpPr>
          <p:cNvPr id="9" name="TextBox 8"/>
          <p:cNvSpPr txBox="1"/>
          <p:nvPr/>
        </p:nvSpPr>
        <p:spPr>
          <a:xfrm>
            <a:off x="841248" y="1682496"/>
            <a:ext cx="3149498"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Passwords are real</a:t>
            </a:r>
          </a:p>
        </p:txBody>
      </p:sp>
      <p:sp>
        <p:nvSpPr>
          <p:cNvPr id="10" name="TextBox 9"/>
          <p:cNvSpPr txBox="1"/>
          <p:nvPr/>
        </p:nvSpPr>
        <p:spPr>
          <a:xfrm>
            <a:off x="841248" y="1956816"/>
            <a:ext cx="3149498" cy="1060704"/>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Salted PBKDF2-SHA256 at 120,000 iterations with a 32-byte key, stored as salt plus digest. Plaintext never touches disk, and verification is constant-time with a length check first.</a:t>
            </a:r>
          </a:p>
        </p:txBody>
      </p:sp>
      <p:sp>
        <p:nvSpPr>
          <p:cNvPr id="11" name="Rectangle 10"/>
          <p:cNvSpPr/>
          <p:nvPr/>
        </p:nvSpPr>
        <p:spPr>
          <a:xfrm>
            <a:off x="4338218" y="1298448"/>
            <a:ext cx="3515258" cy="181051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38218" y="1298448"/>
            <a:ext cx="3515258" cy="45720"/>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1098" y="1481328"/>
            <a:ext cx="3149498" cy="182880"/>
          </a:xfrm>
          <a:prstGeom prst="rect">
            <a:avLst/>
          </a:prstGeom>
          <a:noFill/>
        </p:spPr>
        <p:txBody>
          <a:bodyPr wrap="square" anchor="t" lIns="0" rIns="0" tIns="0" bIns="0">
            <a:spAutoFit/>
          </a:bodyPr>
          <a:lstStyle/>
          <a:p>
            <a:pPr algn="l">
              <a:lnSpc>
                <a:spcPct val="100000"/>
              </a:lnSpc>
              <a:spcAft>
                <a:spcPts val="0"/>
              </a:spcAft>
            </a:pPr>
            <a:r>
              <a:rPr sz="900" b="1" i="0">
                <a:solidFill>
                  <a:srgbClr val="5A8A4A"/>
                </a:solidFill>
                <a:latin typeface="Trebuchet MS"/>
              </a:rPr>
              <a:t>DONE</a:t>
            </a:r>
          </a:p>
        </p:txBody>
      </p:sp>
      <p:sp>
        <p:nvSpPr>
          <p:cNvPr id="14" name="TextBox 13"/>
          <p:cNvSpPr txBox="1"/>
          <p:nvPr/>
        </p:nvSpPr>
        <p:spPr>
          <a:xfrm>
            <a:off x="4521098" y="1682496"/>
            <a:ext cx="3149498"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Sessions are server-side</a:t>
            </a:r>
          </a:p>
        </p:txBody>
      </p:sp>
      <p:sp>
        <p:nvSpPr>
          <p:cNvPr id="15" name="TextBox 14"/>
          <p:cNvSpPr txBox="1"/>
          <p:nvPr/>
        </p:nvSpPr>
        <p:spPr>
          <a:xfrm>
            <a:off x="4521098" y="1956816"/>
            <a:ext cx="3149498" cy="1060704"/>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Sign-in mints 32 random bytes. The hex goes to the browser in an HTTP-only, same-site cookie; only its SHA-256 digest is stored. Opaque, so it carries no claims — and revocable, which a signed token wouldn't be.</a:t>
            </a:r>
          </a:p>
        </p:txBody>
      </p:sp>
      <p:sp>
        <p:nvSpPr>
          <p:cNvPr id="16" name="Rectangle 15"/>
          <p:cNvSpPr/>
          <p:nvPr/>
        </p:nvSpPr>
        <p:spPr>
          <a:xfrm>
            <a:off x="8018068" y="1298448"/>
            <a:ext cx="3515258" cy="181051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18068" y="1298448"/>
            <a:ext cx="3515258" cy="45720"/>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1481328"/>
            <a:ext cx="3149498" cy="182880"/>
          </a:xfrm>
          <a:prstGeom prst="rect">
            <a:avLst/>
          </a:prstGeom>
          <a:noFill/>
        </p:spPr>
        <p:txBody>
          <a:bodyPr wrap="square" anchor="t" lIns="0" rIns="0" tIns="0" bIns="0">
            <a:spAutoFit/>
          </a:bodyPr>
          <a:lstStyle/>
          <a:p>
            <a:pPr algn="l">
              <a:lnSpc>
                <a:spcPct val="100000"/>
              </a:lnSpc>
              <a:spcAft>
                <a:spcPts val="0"/>
              </a:spcAft>
            </a:pPr>
            <a:r>
              <a:rPr sz="900" b="1" i="0">
                <a:solidFill>
                  <a:srgbClr val="D4533A"/>
                </a:solidFill>
                <a:latin typeface="Trebuchet MS"/>
              </a:rPr>
              <a:t>OPEN — BLOCKING</a:t>
            </a:r>
          </a:p>
        </p:txBody>
      </p:sp>
      <p:sp>
        <p:nvSpPr>
          <p:cNvPr id="19" name="TextBox 18"/>
          <p:cNvSpPr txBox="1"/>
          <p:nvPr/>
        </p:nvSpPr>
        <p:spPr>
          <a:xfrm>
            <a:off x="8200948" y="1682496"/>
            <a:ext cx="3149498" cy="274320"/>
          </a:xfrm>
          <a:prstGeom prst="rect">
            <a:avLst/>
          </a:prstGeom>
          <a:noFill/>
        </p:spPr>
        <p:txBody>
          <a:bodyPr wrap="square" anchor="t" lIns="0" rIns="0" tIns="0" bIns="0">
            <a:spAutoFit/>
          </a:bodyPr>
          <a:lstStyle/>
          <a:p>
            <a:pPr algn="l">
              <a:lnSpc>
                <a:spcPct val="100000"/>
              </a:lnSpc>
              <a:spcAft>
                <a:spcPts val="0"/>
              </a:spcAft>
            </a:pPr>
            <a:r>
              <a:rPr sz="1300" b="1" i="0">
                <a:solidFill>
                  <a:srgbClr val="243018"/>
                </a:solidFill>
                <a:latin typeface="Trebuchet MS"/>
              </a:rPr>
              <a:t>The admin app has no auth</a:t>
            </a:r>
          </a:p>
        </p:txBody>
      </p:sp>
      <p:sp>
        <p:nvSpPr>
          <p:cNvPr id="20" name="TextBox 19"/>
          <p:cNvSpPr txBox="1"/>
          <p:nvPr/>
        </p:nvSpPr>
        <p:spPr>
          <a:xfrm>
            <a:off x="8200948" y="1956816"/>
            <a:ext cx="3149498" cy="1060704"/>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Anyone who can reach the admin port can change any order's status. No login, no role check, and no record of who did what. This is the highest-priority item on the roadmap.</a:t>
            </a:r>
          </a:p>
        </p:txBody>
      </p:sp>
      <p:sp>
        <p:nvSpPr>
          <p:cNvPr id="21" name="TextBox 20"/>
          <p:cNvSpPr txBox="1"/>
          <p:nvPr/>
        </p:nvSpPr>
        <p:spPr>
          <a:xfrm>
            <a:off x="658368" y="3346704"/>
            <a:ext cx="5852160"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THE GUEST-TO-REGISTERED PATH — THE BIT WORTH UNDERSTANDING</a:t>
            </a:r>
          </a:p>
        </p:txBody>
      </p:sp>
      <p:graphicFrame>
        <p:nvGraphicFramePr>
          <p:cNvPr id="22" name="Table 21"/>
          <p:cNvGraphicFramePr>
            <a:graphicFrameLocks noGrp="1"/>
          </p:cNvGraphicFramePr>
          <p:nvPr/>
        </p:nvGraphicFramePr>
        <p:xfrm>
          <a:off x="658368" y="3584448"/>
          <a:ext cx="5852160" cy="1225296"/>
        </p:xfrm>
        <a:graphic>
          <a:graphicData uri="http://schemas.openxmlformats.org/drawingml/2006/table">
            <a:tbl>
              <a:tblPr firstRow="1">
                <a:tableStyleId>{5C22544A-7EE6-4342-B048-85BDC9FD1C3A}</a:tableStyleId>
              </a:tblPr>
              <a:tblGrid>
                <a:gridCol w="2438400"/>
                <a:gridCol w="1056640"/>
                <a:gridCol w="1219200"/>
                <a:gridCol w="1137920"/>
              </a:tblGrid>
              <a:tr h="292608">
                <a:tc>
                  <a:txBody>
                    <a:bodyPr wrap="square"/>
                    <a:lstStyle/>
                    <a:p>
                      <a:r>
                        <a:rPr sz="1050" b="1" i="0">
                          <a:solidFill>
                            <a:srgbClr val="F6F0E2"/>
                          </a:solidFill>
                          <a:latin typeface="Calibri"/>
                        </a:rPr>
                        <a:t>State of an email</a:t>
                      </a:r>
                    </a:p>
                  </a:txBody>
                  <a:tcPr marL="91440" marR="73152" marT="36576" marB="36576" anchor="ctr">
                    <a:solidFill>
                      <a:srgbClr val="2F5D34"/>
                    </a:solidFill>
                  </a:tcPr>
                </a:tc>
                <a:tc>
                  <a:txBody>
                    <a:bodyPr wrap="square"/>
                    <a:lstStyle/>
                    <a:p>
                      <a:r>
                        <a:rPr sz="1050" b="1" i="0">
                          <a:solidFill>
                            <a:srgbClr val="F6F0E2"/>
                          </a:solidFill>
                          <a:latin typeface="Calibri"/>
                        </a:rPr>
                        <a:t>User record</a:t>
                      </a:r>
                    </a:p>
                  </a:txBody>
                  <a:tcPr marL="91440" marR="73152" marT="36576" marB="36576" anchor="ctr">
                    <a:solidFill>
                      <a:srgbClr val="2F5D34"/>
                    </a:solidFill>
                  </a:tcPr>
                </a:tc>
                <a:tc>
                  <a:txBody>
                    <a:bodyPr wrap="square"/>
                    <a:lstStyle/>
                    <a:p>
                      <a:r>
                        <a:rPr sz="1050" b="1" i="0">
                          <a:solidFill>
                            <a:srgbClr val="F6F0E2"/>
                          </a:solidFill>
                          <a:latin typeface="Calibri"/>
                        </a:rPr>
                        <a:t>Has credentials</a:t>
                      </a:r>
                    </a:p>
                  </a:txBody>
                  <a:tcPr marL="91440" marR="73152" marT="36576" marB="36576" anchor="ctr">
                    <a:solidFill>
                      <a:srgbClr val="2F5D34"/>
                    </a:solidFill>
                  </a:tcPr>
                </a:tc>
                <a:tc>
                  <a:txBody>
                    <a:bodyPr wrap="square"/>
                    <a:lstStyle/>
                    <a:p>
                      <a:r>
                        <a:rPr sz="1050" b="1" i="0">
                          <a:solidFill>
                            <a:srgbClr val="F6F0E2"/>
                          </a:solidFill>
                          <a:latin typeface="Calibri"/>
                        </a:rPr>
                        <a:t>Can check out</a:t>
                      </a:r>
                    </a:p>
                  </a:txBody>
                  <a:tcPr marL="91440" marR="73152" marT="36576" marB="36576" anchor="ctr">
                    <a:solidFill>
                      <a:srgbClr val="2F5D34"/>
                    </a:solidFill>
                  </a:tcPr>
                </a:tc>
              </a:tr>
              <a:tr h="310896">
                <a:tc>
                  <a:txBody>
                    <a:bodyPr wrap="square"/>
                    <a:lstStyle/>
                    <a:p>
                      <a:r>
                        <a:rPr sz="1050" b="1" i="0">
                          <a:solidFill>
                            <a:srgbClr val="243018"/>
                          </a:solidFill>
                          <a:latin typeface="Calibri"/>
                        </a:rPr>
                        <a:t>Unknown</a:t>
                      </a:r>
                    </a:p>
                  </a:txBody>
                  <a:tcPr marL="91440" marR="73152" marT="36576" marB="36576" anchor="ctr">
                    <a:solidFill>
                      <a:srgbClr val="F6F0E2"/>
                    </a:solidFill>
                  </a:tcPr>
                </a:tc>
                <a:tc>
                  <a:txBody>
                    <a:bodyPr wrap="square"/>
                    <a:lstStyle/>
                    <a:p>
                      <a:r>
                        <a:rPr sz="1050" b="0" i="0">
                          <a:solidFill>
                            <a:srgbClr val="243018"/>
                          </a:solidFill>
                          <a:latin typeface="Calibri"/>
                        </a:rPr>
                        <a:t>none</a:t>
                      </a:r>
                    </a:p>
                  </a:txBody>
                  <a:tcPr marL="91440" marR="73152" marT="36576" marB="36576" anchor="ctr">
                    <a:solidFill>
                      <a:srgbClr val="F6F0E2"/>
                    </a:solidFill>
                  </a:tcPr>
                </a:tc>
                <a:tc>
                  <a:txBody>
                    <a:bodyPr wrap="square"/>
                    <a:lstStyle/>
                    <a:p>
                      <a:r>
                        <a:rPr sz="1050" b="0" i="0">
                          <a:solidFill>
                            <a:srgbClr val="243018"/>
                          </a:solidFill>
                          <a:latin typeface="Calibri"/>
                        </a:rPr>
                        <a:t>—</a:t>
                      </a:r>
                    </a:p>
                  </a:txBody>
                  <a:tcPr marL="91440" marR="73152" marT="36576" marB="36576" anchor="ctr">
                    <a:solidFill>
                      <a:srgbClr val="F6F0E2"/>
                    </a:solidFill>
                  </a:tcPr>
                </a:tc>
                <a:tc>
                  <a:txBody>
                    <a:bodyPr wrap="square"/>
                    <a:lstStyle/>
                    <a:p>
                      <a:r>
                        <a:rPr sz="1050" b="0" i="0">
                          <a:solidFill>
                            <a:srgbClr val="243018"/>
                          </a:solidFill>
                          <a:latin typeface="Calibri"/>
                        </a:rPr>
                        <a:t>no</a:t>
                      </a:r>
                    </a:p>
                  </a:txBody>
                  <a:tcPr marL="91440" marR="73152" marT="36576" marB="36576" anchor="ctr">
                    <a:solidFill>
                      <a:srgbClr val="F6F0E2"/>
                    </a:solidFill>
                  </a:tcPr>
                </a:tc>
              </a:tr>
              <a:tr h="310896">
                <a:tc>
                  <a:txBody>
                    <a:bodyPr wrap="square"/>
                    <a:lstStyle/>
                    <a:p>
                      <a:r>
                        <a:rPr sz="1050" b="1" i="0">
                          <a:solidFill>
                            <a:srgbClr val="243018"/>
                          </a:solidFill>
                          <a:latin typeface="Calibri"/>
                        </a:rPr>
                        <a:t>Guest — ordered, never registered</a:t>
                      </a:r>
                    </a:p>
                  </a:txBody>
                  <a:tcPr marL="91440" marR="73152" marT="36576" marB="36576" anchor="ctr">
                    <a:solidFill>
                      <a:srgbClr val="FFFFFF"/>
                    </a:solidFill>
                  </a:tcPr>
                </a:tc>
                <a:tc>
                  <a:txBody>
                    <a:bodyPr wrap="square"/>
                    <a:lstStyle/>
                    <a:p>
                      <a:r>
                        <a:rPr sz="1050" b="0" i="0">
                          <a:solidFill>
                            <a:srgbClr val="243018"/>
                          </a:solidFill>
                          <a:latin typeface="Calibri"/>
                        </a:rPr>
                        <a:t>exists</a:t>
                      </a:r>
                    </a:p>
                  </a:txBody>
                  <a:tcPr marL="91440" marR="73152" marT="36576" marB="36576" anchor="ctr">
                    <a:solidFill>
                      <a:srgbClr val="FFFFFF"/>
                    </a:solidFill>
                  </a:tcPr>
                </a:tc>
                <a:tc>
                  <a:txBody>
                    <a:bodyPr wrap="square"/>
                    <a:lstStyle/>
                    <a:p>
                      <a:r>
                        <a:rPr sz="1050" b="0" i="0">
                          <a:solidFill>
                            <a:srgbClr val="243018"/>
                          </a:solidFill>
                          <a:latin typeface="Calibri"/>
                        </a:rPr>
                        <a:t>no</a:t>
                      </a:r>
                    </a:p>
                  </a:txBody>
                  <a:tcPr marL="91440" marR="73152" marT="36576" marB="36576" anchor="ctr">
                    <a:solidFill>
                      <a:srgbClr val="FFFFFF"/>
                    </a:solidFill>
                  </a:tcPr>
                </a:tc>
                <a:tc>
                  <a:txBody>
                    <a:bodyPr wrap="square"/>
                    <a:lstStyle/>
                    <a:p>
                      <a:r>
                        <a:rPr sz="1050" b="0" i="0">
                          <a:solidFill>
                            <a:srgbClr val="243018"/>
                          </a:solidFill>
                          <a:latin typeface="Calibri"/>
                        </a:rPr>
                        <a:t>no, today</a:t>
                      </a:r>
                    </a:p>
                  </a:txBody>
                  <a:tcPr marL="91440" marR="73152" marT="36576" marB="36576" anchor="ctr">
                    <a:solidFill>
                      <a:srgbClr val="FFFFFF"/>
                    </a:solidFill>
                  </a:tcPr>
                </a:tc>
              </a:tr>
              <a:tr h="310896">
                <a:tc>
                  <a:txBody>
                    <a:bodyPr wrap="square"/>
                    <a:lstStyle/>
                    <a:p>
                      <a:r>
                        <a:rPr sz="1050" b="1" i="0">
                          <a:solidFill>
                            <a:srgbClr val="243018"/>
                          </a:solidFill>
                          <a:latin typeface="Calibri"/>
                        </a:rPr>
                        <a:t>Registered</a:t>
                      </a:r>
                    </a:p>
                  </a:txBody>
                  <a:tcPr marL="91440" marR="73152" marT="36576" marB="36576" anchor="ctr">
                    <a:solidFill>
                      <a:srgbClr val="F6F0E2"/>
                    </a:solidFill>
                  </a:tcPr>
                </a:tc>
                <a:tc>
                  <a:txBody>
                    <a:bodyPr wrap="square"/>
                    <a:lstStyle/>
                    <a:p>
                      <a:r>
                        <a:rPr sz="1050" b="0" i="0">
                          <a:solidFill>
                            <a:srgbClr val="243018"/>
                          </a:solidFill>
                          <a:latin typeface="Calibri"/>
                        </a:rPr>
                        <a:t>exists</a:t>
                      </a:r>
                    </a:p>
                  </a:txBody>
                  <a:tcPr marL="91440" marR="73152" marT="36576" marB="36576" anchor="ctr">
                    <a:solidFill>
                      <a:srgbClr val="F6F0E2"/>
                    </a:solidFill>
                  </a:tcPr>
                </a:tc>
                <a:tc>
                  <a:txBody>
                    <a:bodyPr wrap="square"/>
                    <a:lstStyle/>
                    <a:p>
                      <a:r>
                        <a:rPr sz="1050" b="0" i="0">
                          <a:solidFill>
                            <a:srgbClr val="243018"/>
                          </a:solidFill>
                          <a:latin typeface="Calibri"/>
                        </a:rPr>
                        <a:t>yes</a:t>
                      </a:r>
                    </a:p>
                  </a:txBody>
                  <a:tcPr marL="91440" marR="73152" marT="36576" marB="36576" anchor="ctr">
                    <a:solidFill>
                      <a:srgbClr val="F6F0E2"/>
                    </a:solidFill>
                  </a:tcPr>
                </a:tc>
                <a:tc>
                  <a:txBody>
                    <a:bodyPr wrap="square"/>
                    <a:lstStyle/>
                    <a:p>
                      <a:r>
                        <a:rPr sz="1050" b="0" i="0">
                          <a:solidFill>
                            <a:srgbClr val="243018"/>
                          </a:solidFill>
                          <a:latin typeface="Calibri"/>
                        </a:rPr>
                        <a:t>yes</a:t>
                      </a:r>
                    </a:p>
                  </a:txBody>
                  <a:tcPr marL="91440" marR="73152" marT="36576" marB="36576" anchor="ctr">
                    <a:solidFill>
                      <a:srgbClr val="F6F0E2"/>
                    </a:solidFill>
                  </a:tcPr>
                </a:tc>
              </a:tr>
            </a:tbl>
          </a:graphicData>
        </a:graphic>
      </p:graphicFrame>
      <p:sp>
        <p:nvSpPr>
          <p:cNvPr id="23" name="TextBox 22"/>
          <p:cNvSpPr txBox="1"/>
          <p:nvPr/>
        </p:nvSpPr>
        <p:spPr>
          <a:xfrm>
            <a:off x="658368" y="4974335"/>
            <a:ext cx="5852160" cy="73152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Checking out without an account creates a passwordless record. Signing up later with the same email fills in the credentials rather than duplicating — so the customer's entire order history is there the moment they register.</a:t>
            </a:r>
          </a:p>
        </p:txBody>
      </p:sp>
      <p:sp>
        <p:nvSpPr>
          <p:cNvPr id="24" name="TextBox 23"/>
          <p:cNvSpPr txBox="1"/>
          <p:nvPr/>
        </p:nvSpPr>
        <p:spPr>
          <a:xfrm>
            <a:off x="6784848" y="3346704"/>
            <a:ext cx="4748479"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TWO TRADE-OFFS I WANT SIGNED OFF, NOT INHERITED</a:t>
            </a:r>
          </a:p>
        </p:txBody>
      </p:sp>
      <p:sp>
        <p:nvSpPr>
          <p:cNvPr id="25" name="TextBox 24"/>
          <p:cNvSpPr txBox="1"/>
          <p:nvPr/>
        </p:nvSpPr>
        <p:spPr>
          <a:xfrm>
            <a:off x="6784848" y="3584448"/>
            <a:ext cx="4748479" cy="365760"/>
          </a:xfrm>
          <a:prstGeom prst="rect">
            <a:avLst/>
          </a:prstGeom>
          <a:noFill/>
        </p:spPr>
        <p:txBody>
          <a:bodyPr wrap="square" lIns="0" rIns="0" tIns="0" bIns="0">
            <a:spAutoFit/>
          </a:bodyPr>
          <a:lstStyle/>
          <a:p>
            <a:pPr marL="173736" indent="-173736">
              <a:lnSpc>
                <a:spcPct val="114000"/>
              </a:lnSpc>
              <a:spcAft>
                <a:spcPts val="672"/>
              </a:spcAft>
            </a:pPr>
            <a:r>
              <a:rPr sz="605" b="1">
                <a:solidFill>
                  <a:srgbClr val="D4533A"/>
                </a:solidFill>
                <a:latin typeface="Calibri"/>
              </a:rPr>
              <a:t>●  </a:t>
            </a:r>
            <a:r>
              <a:rPr sz="1100" b="1">
                <a:solidFill>
                  <a:srgbClr val="243018"/>
                </a:solidFill>
                <a:latin typeface="Calibri"/>
              </a:rPr>
              <a:t>Email enumeration is accepted.</a:t>
            </a:r>
            <a:r>
              <a:rPr sz="1100">
                <a:solidFill>
                  <a:srgbClr val="5B6450"/>
                </a:solidFill>
                <a:latin typeface="Calibri"/>
              </a:rPr>
              <a:t>  Sign-in reveals whether an email is registered, so the UI can offer sign-up instead of a dead end. More informative than production auth usually is. The UX value is real; the mitigation is rate limiting, which we don't have yet.</a:t>
            </a:r>
          </a:p>
          <a:p>
            <a:pPr marL="173736" indent="-173736">
              <a:lnSpc>
                <a:spcPct val="114000"/>
              </a:lnSpc>
              <a:spcAft>
                <a:spcPts val="672"/>
              </a:spcAft>
            </a:pPr>
            <a:r>
              <a:rPr sz="605" b="1">
                <a:solidFill>
                  <a:srgbClr val="D4533A"/>
                </a:solidFill>
                <a:latin typeface="Calibri"/>
              </a:rPr>
              <a:t>●  </a:t>
            </a:r>
            <a:r>
              <a:rPr sz="1100" b="1">
                <a:solidFill>
                  <a:srgbClr val="243018"/>
                </a:solidFill>
                <a:latin typeface="Calibri"/>
              </a:rPr>
              <a:t>Guest checkout contradicts itself.</a:t>
            </a:r>
            <a:r>
              <a:rPr sz="1100">
                <a:solidFill>
                  <a:srgbClr val="5B6450"/>
                </a:solidFill>
                <a:latin typeface="Calibri"/>
              </a:rPr>
              <a:t>  The UI offers “continue as guest” and guest records get created, but placing an order rejects an unregistered email. Pick one. I'd allow real guest checkout — the machinery exists and it converts better.</a:t>
            </a:r>
          </a:p>
          <a:p>
            <a:pPr marL="173736" indent="-173736">
              <a:lnSpc>
                <a:spcPct val="114000"/>
              </a:lnSpc>
              <a:spcAft>
                <a:spcPts val="672"/>
              </a:spcAft>
            </a:pPr>
            <a:r>
              <a:rPr sz="605" b="1">
                <a:solidFill>
                  <a:srgbClr val="D4533A"/>
                </a:solidFill>
                <a:latin typeface="Calibri"/>
              </a:rPr>
              <a:t>●  </a:t>
            </a:r>
            <a:r>
              <a:rPr sz="1100" b="1">
                <a:solidFill>
                  <a:srgbClr val="243018"/>
                </a:solidFill>
                <a:latin typeface="Calibri"/>
              </a:rPr>
              <a:t>Also missing entirely:</a:t>
            </a:r>
            <a:r>
              <a:rPr sz="1100">
                <a:solidFill>
                  <a:srgbClr val="5B6450"/>
                </a:solidFill>
                <a:latin typeface="Calibri"/>
              </a:rPr>
              <a:t>  any password reset path, and rate limiting on sign-in.</a:t>
            </a:r>
          </a:p>
        </p:txBody>
      </p:sp>
      <p:sp>
        <p:nvSpPr>
          <p:cNvPr id="26" name="TextBox 25"/>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27" name="TextBox 26"/>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7A4A8F"/>
                </a:solidFill>
                <a:latin typeface="Trebuchet MS"/>
              </a:rPr>
              <a:t>FOR UI / UX DESIGNERS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The design system is inherited, not invented</a:t>
            </a:r>
          </a:p>
        </p:txBody>
      </p:sp>
      <p:sp>
        <p:nvSpPr>
          <p:cNvPr id="6" name="TextBox 5"/>
          <p:cNvSpPr txBox="1"/>
          <p:nvPr/>
        </p:nvSpPr>
        <p:spPr>
          <a:xfrm>
            <a:off x="658368" y="1298448"/>
            <a:ext cx="10874959" cy="365760"/>
          </a:xfrm>
          <a:prstGeom prst="rect">
            <a:avLst/>
          </a:prstGeom>
          <a:noFill/>
        </p:spPr>
        <p:txBody>
          <a:bodyPr wrap="square" anchor="t" lIns="0" rIns="0" tIns="0" bIns="0">
            <a:spAutoFit/>
          </a:bodyPr>
          <a:lstStyle/>
          <a:p>
            <a:pPr algn="l">
              <a:lnSpc>
                <a:spcPct val="118000"/>
              </a:lnSpc>
              <a:spcAft>
                <a:spcPts val="0"/>
              </a:spcAft>
            </a:pPr>
            <a:r>
              <a:rPr sz="1250" b="0" i="0">
                <a:solidFill>
                  <a:srgbClr val="5B6450"/>
                </a:solidFill>
                <a:latin typeface="Calibri"/>
              </a:rPr>
              <a:t>The original hand-built prototype already had a coherent token system. It was lifted straight into a shared Tailwind preset, so both apps speak one design language from one file — the look didn't change, we just gained reusable parts.</a:t>
            </a:r>
          </a:p>
        </p:txBody>
      </p:sp>
      <p:sp>
        <p:nvSpPr>
          <p:cNvPr id="7" name="TextBox 6"/>
          <p:cNvSpPr txBox="1"/>
          <p:nvPr/>
        </p:nvSpPr>
        <p:spPr>
          <a:xfrm>
            <a:off x="658368" y="1810512"/>
            <a:ext cx="10874959" cy="219456"/>
          </a:xfrm>
          <a:prstGeom prst="rect">
            <a:avLst/>
          </a:prstGeom>
          <a:noFill/>
        </p:spPr>
        <p:txBody>
          <a:bodyPr wrap="square" anchor="t" lIns="0" rIns="0" tIns="0" bIns="0">
            <a:spAutoFit/>
          </a:bodyPr>
          <a:lstStyle/>
          <a:p>
            <a:pPr algn="l">
              <a:lnSpc>
                <a:spcPct val="100000"/>
              </a:lnSpc>
              <a:spcAft>
                <a:spcPts val="0"/>
              </a:spcAft>
            </a:pPr>
            <a:r>
              <a:rPr sz="1000" b="1" i="0">
                <a:solidFill>
                  <a:srgbClr val="7A4A8F"/>
                </a:solidFill>
                <a:latin typeface="Trebuchet MS"/>
              </a:rPr>
              <a:t>COLOUR TOKENS</a:t>
            </a:r>
          </a:p>
        </p:txBody>
      </p:sp>
      <p:sp>
        <p:nvSpPr>
          <p:cNvPr id="8" name="Rectangle 7"/>
          <p:cNvSpPr/>
          <p:nvPr/>
        </p:nvSpPr>
        <p:spPr>
          <a:xfrm>
            <a:off x="658368" y="2048256"/>
            <a:ext cx="822427" cy="731520"/>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leaf</a:t>
            </a:r>
          </a:p>
        </p:txBody>
      </p:sp>
      <p:sp>
        <p:nvSpPr>
          <p:cNvPr id="10" name="TextBox 9"/>
          <p:cNvSpPr txBox="1"/>
          <p:nvPr/>
        </p:nvSpPr>
        <p:spPr>
          <a:xfrm>
            <a:off x="658368"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#2F5D34</a:t>
            </a:r>
          </a:p>
        </p:txBody>
      </p:sp>
      <p:sp>
        <p:nvSpPr>
          <p:cNvPr id="11" name="Rectangle 10"/>
          <p:cNvSpPr/>
          <p:nvPr/>
        </p:nvSpPr>
        <p:spPr>
          <a:xfrm>
            <a:off x="1572235" y="2048256"/>
            <a:ext cx="822427" cy="731520"/>
          </a:xfrm>
          <a:prstGeom prst="rect">
            <a:avLst/>
          </a:prstGeom>
          <a:solidFill>
            <a:srgbClr val="19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72235"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leaf.deep</a:t>
            </a:r>
          </a:p>
        </p:txBody>
      </p:sp>
      <p:sp>
        <p:nvSpPr>
          <p:cNvPr id="13" name="TextBox 12"/>
          <p:cNvSpPr txBox="1"/>
          <p:nvPr/>
        </p:nvSpPr>
        <p:spPr>
          <a:xfrm>
            <a:off x="1572235"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#193D20</a:t>
            </a:r>
          </a:p>
        </p:txBody>
      </p:sp>
      <p:sp>
        <p:nvSpPr>
          <p:cNvPr id="14" name="Rectangle 13"/>
          <p:cNvSpPr/>
          <p:nvPr/>
        </p:nvSpPr>
        <p:spPr>
          <a:xfrm>
            <a:off x="2486102" y="2048256"/>
            <a:ext cx="822427" cy="731520"/>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86102"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leaf.soft</a:t>
            </a:r>
          </a:p>
        </p:txBody>
      </p:sp>
      <p:sp>
        <p:nvSpPr>
          <p:cNvPr id="16" name="TextBox 15"/>
          <p:cNvSpPr txBox="1"/>
          <p:nvPr/>
        </p:nvSpPr>
        <p:spPr>
          <a:xfrm>
            <a:off x="2486102"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#5A8A4A</a:t>
            </a:r>
          </a:p>
        </p:txBody>
      </p:sp>
      <p:sp>
        <p:nvSpPr>
          <p:cNvPr id="17" name="Rectangle 16"/>
          <p:cNvSpPr/>
          <p:nvPr/>
        </p:nvSpPr>
        <p:spPr>
          <a:xfrm>
            <a:off x="3399969" y="2048256"/>
            <a:ext cx="822427" cy="73152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399969"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carrot</a:t>
            </a:r>
          </a:p>
        </p:txBody>
      </p:sp>
      <p:sp>
        <p:nvSpPr>
          <p:cNvPr id="19" name="TextBox 18"/>
          <p:cNvSpPr txBox="1"/>
          <p:nvPr/>
        </p:nvSpPr>
        <p:spPr>
          <a:xfrm>
            <a:off x="3399969"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#D9772E</a:t>
            </a:r>
          </a:p>
        </p:txBody>
      </p:sp>
      <p:sp>
        <p:nvSpPr>
          <p:cNvPr id="20" name="Rectangle 19"/>
          <p:cNvSpPr/>
          <p:nvPr/>
        </p:nvSpPr>
        <p:spPr>
          <a:xfrm>
            <a:off x="4313836" y="2048256"/>
            <a:ext cx="822427" cy="731520"/>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313836"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berry</a:t>
            </a:r>
          </a:p>
        </p:txBody>
      </p:sp>
      <p:sp>
        <p:nvSpPr>
          <p:cNvPr id="22" name="TextBox 21"/>
          <p:cNvSpPr txBox="1"/>
          <p:nvPr/>
        </p:nvSpPr>
        <p:spPr>
          <a:xfrm>
            <a:off x="4313836"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#7A4A8F</a:t>
            </a:r>
          </a:p>
        </p:txBody>
      </p:sp>
      <p:sp>
        <p:nvSpPr>
          <p:cNvPr id="23" name="Rectangle 22"/>
          <p:cNvSpPr/>
          <p:nvPr/>
        </p:nvSpPr>
        <p:spPr>
          <a:xfrm>
            <a:off x="5227703" y="2048256"/>
            <a:ext cx="822427" cy="731520"/>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27703"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apple</a:t>
            </a:r>
          </a:p>
        </p:txBody>
      </p:sp>
      <p:sp>
        <p:nvSpPr>
          <p:cNvPr id="25" name="TextBox 24"/>
          <p:cNvSpPr txBox="1"/>
          <p:nvPr/>
        </p:nvSpPr>
        <p:spPr>
          <a:xfrm>
            <a:off x="5227703"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#D4533A</a:t>
            </a:r>
          </a:p>
        </p:txBody>
      </p:sp>
      <p:sp>
        <p:nvSpPr>
          <p:cNvPr id="26" name="Rectangle 25"/>
          <p:cNvSpPr/>
          <p:nvPr/>
        </p:nvSpPr>
        <p:spPr>
          <a:xfrm>
            <a:off x="6141570" y="2048256"/>
            <a:ext cx="822427" cy="731520"/>
          </a:xfrm>
          <a:prstGeom prst="rect">
            <a:avLst/>
          </a:prstGeom>
          <a:solidFill>
            <a:srgbClr val="E8B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41570"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243018"/>
                </a:solidFill>
                <a:latin typeface="Trebuchet MS"/>
              </a:rPr>
              <a:t>gold</a:t>
            </a:r>
          </a:p>
        </p:txBody>
      </p:sp>
      <p:sp>
        <p:nvSpPr>
          <p:cNvPr id="28" name="TextBox 27"/>
          <p:cNvSpPr txBox="1"/>
          <p:nvPr/>
        </p:nvSpPr>
        <p:spPr>
          <a:xfrm>
            <a:off x="6141570"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243018"/>
                </a:solidFill>
                <a:latin typeface="Consolas"/>
              </a:rPr>
              <a:t>#E8B23F</a:t>
            </a:r>
          </a:p>
        </p:txBody>
      </p:sp>
      <p:sp>
        <p:nvSpPr>
          <p:cNvPr id="29" name="Rectangle 28"/>
          <p:cNvSpPr/>
          <p:nvPr/>
        </p:nvSpPr>
        <p:spPr>
          <a:xfrm>
            <a:off x="7055437" y="2048256"/>
            <a:ext cx="822427" cy="731520"/>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5437"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243018"/>
                </a:solidFill>
                <a:latin typeface="Trebuchet MS"/>
              </a:rPr>
              <a:t>cream</a:t>
            </a:r>
          </a:p>
        </p:txBody>
      </p:sp>
      <p:sp>
        <p:nvSpPr>
          <p:cNvPr id="31" name="TextBox 30"/>
          <p:cNvSpPr txBox="1"/>
          <p:nvPr/>
        </p:nvSpPr>
        <p:spPr>
          <a:xfrm>
            <a:off x="7055437"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243018"/>
                </a:solidFill>
                <a:latin typeface="Consolas"/>
              </a:rPr>
              <a:t>#F6F0E2</a:t>
            </a:r>
          </a:p>
        </p:txBody>
      </p:sp>
      <p:sp>
        <p:nvSpPr>
          <p:cNvPr id="32" name="Rectangle 31"/>
          <p:cNvSpPr/>
          <p:nvPr/>
        </p:nvSpPr>
        <p:spPr>
          <a:xfrm>
            <a:off x="7969304" y="2048256"/>
            <a:ext cx="822427" cy="731520"/>
          </a:xfrm>
          <a:prstGeom prst="rect">
            <a:avLst/>
          </a:prstGeom>
          <a:solidFill>
            <a:srgbClr val="FBF8F0"/>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69304"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243018"/>
                </a:solidFill>
                <a:latin typeface="Trebuchet MS"/>
              </a:rPr>
              <a:t>paper</a:t>
            </a:r>
          </a:p>
        </p:txBody>
      </p:sp>
      <p:sp>
        <p:nvSpPr>
          <p:cNvPr id="34" name="TextBox 33"/>
          <p:cNvSpPr txBox="1"/>
          <p:nvPr/>
        </p:nvSpPr>
        <p:spPr>
          <a:xfrm>
            <a:off x="7969304"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243018"/>
                </a:solidFill>
                <a:latin typeface="Consolas"/>
              </a:rPr>
              <a:t>#FBF8F0</a:t>
            </a:r>
          </a:p>
        </p:txBody>
      </p:sp>
      <p:sp>
        <p:nvSpPr>
          <p:cNvPr id="35" name="Rectangle 34"/>
          <p:cNvSpPr/>
          <p:nvPr/>
        </p:nvSpPr>
        <p:spPr>
          <a:xfrm>
            <a:off x="8883171" y="2048256"/>
            <a:ext cx="822427" cy="731520"/>
          </a:xfrm>
          <a:prstGeom prst="rect">
            <a:avLst/>
          </a:prstGeom>
          <a:solidFill>
            <a:srgbClr val="2430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83171"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ink</a:t>
            </a:r>
          </a:p>
        </p:txBody>
      </p:sp>
      <p:sp>
        <p:nvSpPr>
          <p:cNvPr id="37" name="TextBox 36"/>
          <p:cNvSpPr txBox="1"/>
          <p:nvPr/>
        </p:nvSpPr>
        <p:spPr>
          <a:xfrm>
            <a:off x="8883171"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#243018</a:t>
            </a:r>
          </a:p>
        </p:txBody>
      </p:sp>
      <p:sp>
        <p:nvSpPr>
          <p:cNvPr id="38" name="Rectangle 37"/>
          <p:cNvSpPr/>
          <p:nvPr/>
        </p:nvSpPr>
        <p:spPr>
          <a:xfrm>
            <a:off x="9797038" y="2048256"/>
            <a:ext cx="822427" cy="731520"/>
          </a:xfrm>
          <a:prstGeom prst="rect">
            <a:avLst/>
          </a:prstGeom>
          <a:solidFill>
            <a:srgbClr val="5B64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797038"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FFFFFF"/>
                </a:solidFill>
                <a:latin typeface="Trebuchet MS"/>
              </a:rPr>
              <a:t>ink.soft</a:t>
            </a:r>
          </a:p>
        </p:txBody>
      </p:sp>
      <p:sp>
        <p:nvSpPr>
          <p:cNvPr id="40" name="TextBox 39"/>
          <p:cNvSpPr txBox="1"/>
          <p:nvPr/>
        </p:nvSpPr>
        <p:spPr>
          <a:xfrm>
            <a:off x="9797038"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FFFFFF"/>
                </a:solidFill>
                <a:latin typeface="Consolas"/>
              </a:rPr>
              <a:t>#5B6450</a:t>
            </a:r>
          </a:p>
        </p:txBody>
      </p:sp>
      <p:sp>
        <p:nvSpPr>
          <p:cNvPr id="41" name="Rectangle 40"/>
          <p:cNvSpPr/>
          <p:nvPr/>
        </p:nvSpPr>
        <p:spPr>
          <a:xfrm>
            <a:off x="10710905" y="2048256"/>
            <a:ext cx="822427" cy="731520"/>
          </a:xfrm>
          <a:prstGeom prst="rect">
            <a:avLst/>
          </a:prstGeom>
          <a:solidFill>
            <a:srgbClr val="E0D6B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710905" y="2212848"/>
            <a:ext cx="822427" cy="219456"/>
          </a:xfrm>
          <a:prstGeom prst="rect">
            <a:avLst/>
          </a:prstGeom>
          <a:noFill/>
        </p:spPr>
        <p:txBody>
          <a:bodyPr wrap="square" anchor="t" lIns="0" rIns="0" tIns="0" bIns="0">
            <a:spAutoFit/>
          </a:bodyPr>
          <a:lstStyle/>
          <a:p>
            <a:pPr algn="ctr">
              <a:lnSpc>
                <a:spcPct val="100000"/>
              </a:lnSpc>
              <a:spcAft>
                <a:spcPts val="0"/>
              </a:spcAft>
            </a:pPr>
            <a:r>
              <a:rPr sz="900" b="1" i="0">
                <a:solidFill>
                  <a:srgbClr val="243018"/>
                </a:solidFill>
                <a:latin typeface="Trebuchet MS"/>
              </a:rPr>
              <a:t>line</a:t>
            </a:r>
          </a:p>
        </p:txBody>
      </p:sp>
      <p:sp>
        <p:nvSpPr>
          <p:cNvPr id="43" name="TextBox 42"/>
          <p:cNvSpPr txBox="1"/>
          <p:nvPr/>
        </p:nvSpPr>
        <p:spPr>
          <a:xfrm>
            <a:off x="10710905" y="2432304"/>
            <a:ext cx="822427" cy="201168"/>
          </a:xfrm>
          <a:prstGeom prst="rect">
            <a:avLst/>
          </a:prstGeom>
          <a:noFill/>
        </p:spPr>
        <p:txBody>
          <a:bodyPr wrap="square" anchor="t" lIns="0" rIns="0" tIns="0" bIns="0">
            <a:spAutoFit/>
          </a:bodyPr>
          <a:lstStyle/>
          <a:p>
            <a:pPr algn="ctr">
              <a:lnSpc>
                <a:spcPct val="100000"/>
              </a:lnSpc>
              <a:spcAft>
                <a:spcPts val="0"/>
              </a:spcAft>
            </a:pPr>
            <a:r>
              <a:rPr sz="800" b="0" i="0">
                <a:solidFill>
                  <a:srgbClr val="243018"/>
                </a:solidFill>
                <a:latin typeface="Consolas"/>
              </a:rPr>
              <a:t>#E0D6BF</a:t>
            </a:r>
          </a:p>
        </p:txBody>
      </p:sp>
      <p:sp>
        <p:nvSpPr>
          <p:cNvPr id="44" name="TextBox 43"/>
          <p:cNvSpPr txBox="1"/>
          <p:nvPr/>
        </p:nvSpPr>
        <p:spPr>
          <a:xfrm>
            <a:off x="658368" y="2999232"/>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7A4A8F"/>
                </a:solidFill>
                <a:latin typeface="Trebuchet MS"/>
              </a:rPr>
              <a:t>TYPE &amp; COMPONENT INVENTORY</a:t>
            </a:r>
          </a:p>
        </p:txBody>
      </p:sp>
      <p:sp>
        <p:nvSpPr>
          <p:cNvPr id="45" name="TextBox 44"/>
          <p:cNvSpPr txBox="1"/>
          <p:nvPr/>
        </p:nvSpPr>
        <p:spPr>
          <a:xfrm>
            <a:off x="658368" y="3236976"/>
            <a:ext cx="5291176"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Three type families</a:t>
            </a:r>
            <a:r>
              <a:rPr sz="1100">
                <a:solidFill>
                  <a:srgbClr val="5B6450"/>
                </a:solidFill>
                <a:latin typeface="Calibri"/>
              </a:rPr>
              <a:t>  a display face for headings, a body face, and a script accent — all set in the shared preset</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6 shared components</a:t>
            </a:r>
            <a:r>
              <a:rPr sz="1100">
                <a:solidFill>
                  <a:srgbClr val="5B6450"/>
                </a:solidFill>
                <a:latin typeface="Calibri"/>
              </a:rPr>
              <a:t>  button, badge, card, eyebrow, product card, stats band — imported by both apps</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33 storefront components</a:t>
            </a:r>
            <a:r>
              <a:rPr sz="1100">
                <a:solidFill>
                  <a:srgbClr val="5B6450"/>
                </a:solidFill>
                <a:latin typeface="Calibri"/>
              </a:rPr>
              <a:t>  10 are direct ports of prototype sections; the rest are the journey the prototype only hinted at</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3 admin components</a:t>
            </a:r>
            <a:r>
              <a:rPr sz="1100">
                <a:solidFill>
                  <a:srgbClr val="5B6450"/>
                </a:solidFill>
                <a:latin typeface="Calibri"/>
              </a:rPr>
              <a:t>  nav, status badge, status changer — intentionally thin</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15 storefront routes, 5 admin routes</a:t>
            </a:r>
            <a:r>
              <a:rPr sz="1100">
                <a:solidFill>
                  <a:srgbClr val="5B6450"/>
                </a:solidFill>
                <a:latin typeface="Calibri"/>
              </a:rPr>
              <a:t>  including build-your-own box, account order history, and public tracking</a:t>
            </a:r>
          </a:p>
        </p:txBody>
      </p:sp>
      <p:sp>
        <p:nvSpPr>
          <p:cNvPr id="46" name="TextBox 45"/>
          <p:cNvSpPr txBox="1"/>
          <p:nvPr/>
        </p:nvSpPr>
        <p:spPr>
          <a:xfrm>
            <a:off x="6242152" y="2999232"/>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7A4A8F"/>
                </a:solidFill>
                <a:latin typeface="Trebuchet MS"/>
              </a:rPr>
              <a:t>WHAT MUST BE INTERACTIVE ON THE CLIENT</a:t>
            </a:r>
          </a:p>
        </p:txBody>
      </p:sp>
      <p:sp>
        <p:nvSpPr>
          <p:cNvPr id="47" name="TextBox 46"/>
          <p:cNvSpPr txBox="1"/>
          <p:nvPr/>
        </p:nvSpPr>
        <p:spPr>
          <a:xfrm>
            <a:off x="6242152" y="3236976"/>
            <a:ext cx="5291176"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Juice carousel</a:t>
            </a:r>
            <a:r>
              <a:rPr sz="1100">
                <a:solidFill>
                  <a:srgbClr val="5B6450"/>
                </a:solidFill>
                <a:latin typeface="Calibri"/>
              </a:rPr>
              <a:t>  and the seasonal produce rings</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Weekly / monthly billing toggle</a:t>
            </a:r>
            <a:r>
              <a:rPr sz="1100">
                <a:solidFill>
                  <a:srgbClr val="5B6450"/>
                </a:solidFill>
                <a:latin typeface="Calibri"/>
              </a:rPr>
              <a:t>  cadence is chosen here, on the plan card, and never asked again</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Cart drawer and fly-to-cart</a:t>
            </a:r>
            <a:r>
              <a:rPr sz="1100">
                <a:solidFill>
                  <a:srgbClr val="5B6450"/>
                </a:solidFill>
                <a:latin typeface="Calibri"/>
              </a:rPr>
              <a:t>  cart and pincode both persist across reloads</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Build-your-own box builder</a:t>
            </a:r>
            <a:r>
              <a:rPr sz="1100">
                <a:solidFill>
                  <a:srgbClr val="5B6450"/>
                </a:solidFill>
                <a:latin typeface="Calibri"/>
              </a:rPr>
              <a:t>  two different fills of the same box stay separate cart lines</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Checkout form</a:t>
            </a:r>
            <a:r>
              <a:rPr sz="1100">
                <a:solidFill>
                  <a:srgbClr val="5B6450"/>
                </a:solidFill>
                <a:latin typeface="Calibri"/>
              </a:rPr>
              <a:t>  inline validation, gated on touch and submit rather than firing on every keystroke</a:t>
            </a:r>
          </a:p>
          <a:p>
            <a:pPr marL="173736" indent="-173736">
              <a:lnSpc>
                <a:spcPct val="114000"/>
              </a:lnSpc>
              <a:spcAft>
                <a:spcPts val="624"/>
              </a:spcAft>
            </a:pPr>
            <a:r>
              <a:rPr sz="605" b="1">
                <a:solidFill>
                  <a:srgbClr val="7A4A8F"/>
                </a:solidFill>
                <a:latin typeface="Calibri"/>
              </a:rPr>
              <a:t>●  </a:t>
            </a:r>
            <a:r>
              <a:rPr sz="1100" b="1">
                <a:solidFill>
                  <a:srgbClr val="243018"/>
                </a:solidFill>
                <a:latin typeface="Calibri"/>
              </a:rPr>
              <a:t>Mobile drawer and shop mega-menu</a:t>
            </a:r>
            <a:r>
              <a:rPr sz="1100">
                <a:solidFill>
                  <a:srgbClr val="5B6450"/>
                </a:solidFill>
                <a:latin typeface="Calibri"/>
              </a:rPr>
              <a:t>  two columns: seasonal, and juices + bundles</a:t>
            </a:r>
          </a:p>
        </p:txBody>
      </p:sp>
      <p:sp>
        <p:nvSpPr>
          <p:cNvPr id="48" name="TextBox 4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49" name="TextBox 4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7A4A8F"/>
                </a:solidFill>
                <a:latin typeface="Trebuchet MS"/>
              </a:rPr>
              <a:t>FOR UI / UX DESIGNERS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The states we owe, and the calls I need from you</a:t>
            </a:r>
          </a:p>
        </p:txBody>
      </p:sp>
      <p:sp>
        <p:nvSpPr>
          <p:cNvPr id="6" name="TextBox 5"/>
          <p:cNvSpPr txBox="1"/>
          <p:nvPr/>
        </p:nvSpPr>
        <p:spPr>
          <a:xfrm>
            <a:off x="658368"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5A8A4A"/>
                </a:solidFill>
                <a:latin typeface="Trebuchet MS"/>
              </a:rPr>
              <a:t>STATES ALREADY HANDLED</a:t>
            </a:r>
          </a:p>
        </p:txBody>
      </p:sp>
      <p:sp>
        <p:nvSpPr>
          <p:cNvPr id="7" name="TextBox 6"/>
          <p:cNvSpPr txBox="1"/>
          <p:nvPr/>
        </p:nvSpPr>
        <p:spPr>
          <a:xfrm>
            <a:off x="658368" y="1536192"/>
            <a:ext cx="5291176"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Empty cart</a:t>
            </a:r>
            <a:r>
              <a:rPr sz="1100">
                <a:solidFill>
                  <a:srgbClr val="5B6450"/>
                </a:solidFill>
                <a:latin typeface="Calibri"/>
              </a:rPr>
              <a:t>  in the drawer</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Unknown order</a:t>
            </a:r>
            <a:r>
              <a:rPr sz="1100">
                <a:solidFill>
                  <a:srgbClr val="5B6450"/>
                </a:solidFill>
                <a:latin typeface="Calibri"/>
              </a:rPr>
              <a:t>  on both the confirmation and tracking paths</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Invalid pincode and inline field errors</a:t>
            </a:r>
            <a:r>
              <a:rPr sz="1100">
                <a:solidFill>
                  <a:srgbClr val="5B6450"/>
                </a:solidFill>
                <a:latin typeface="Calibri"/>
              </a:rPr>
              <a:t>  at checkout</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Payment decline</a:t>
            </a:r>
            <a:r>
              <a:rPr sz="1100">
                <a:solidFill>
                  <a:srgbClr val="5B6450"/>
                </a:solidFill>
                <a:latin typeface="Calibri"/>
              </a:rPr>
              <a:t>  the mock gateway has a real failure path, deliberately triggerable from the UI</a:t>
            </a:r>
          </a:p>
          <a:p>
            <a:pPr marL="173736" indent="-173736">
              <a:lnSpc>
                <a:spcPct val="114000"/>
              </a:lnSpc>
              <a:spcAft>
                <a:spcPts val="624"/>
              </a:spcAft>
            </a:pPr>
            <a:r>
              <a:rPr sz="605" b="1">
                <a:solidFill>
                  <a:srgbClr val="5A8A4A"/>
                </a:solidFill>
                <a:latin typeface="Calibri"/>
              </a:rPr>
              <a:t>●  </a:t>
            </a:r>
            <a:r>
              <a:rPr sz="1100" b="1">
                <a:solidFill>
                  <a:srgbClr val="243018"/>
                </a:solidFill>
                <a:latin typeface="Calibri"/>
              </a:rPr>
              <a:t>Order timeline</a:t>
            </a:r>
            <a:r>
              <a:rPr sz="1100">
                <a:solidFill>
                  <a:srgbClr val="5B6450"/>
                </a:solidFill>
                <a:latin typeface="Calibri"/>
              </a:rPr>
              <a:t>  renders even for seed orders that predate history tracking</a:t>
            </a:r>
          </a:p>
        </p:txBody>
      </p:sp>
      <p:sp>
        <p:nvSpPr>
          <p:cNvPr id="8" name="TextBox 7"/>
          <p:cNvSpPr txBox="1"/>
          <p:nvPr/>
        </p:nvSpPr>
        <p:spPr>
          <a:xfrm>
            <a:off x="658368" y="321868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STATES STILL MISSING</a:t>
            </a:r>
          </a:p>
        </p:txBody>
      </p:sp>
      <p:sp>
        <p:nvSpPr>
          <p:cNvPr id="9" name="TextBox 8"/>
          <p:cNvSpPr txBox="1"/>
          <p:nvPr/>
        </p:nvSpPr>
        <p:spPr>
          <a:xfrm>
            <a:off x="658368" y="3456432"/>
            <a:ext cx="5291176"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Out-of-area</a:t>
            </a:r>
            <a:r>
              <a:rPr sz="1100">
                <a:solidFill>
                  <a:srgbClr val="5B6450"/>
                </a:solidFill>
                <a:latin typeface="Calibri"/>
              </a:rPr>
              <a:t>  the contract promises “join the waitlist”; there is no waitlist, so there's nothing to design against yet</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Logged-out header</a:t>
            </a:r>
            <a:r>
              <a:rPr sz="1100">
                <a:solidFill>
                  <a:srgbClr val="5B6450"/>
                </a:solidFill>
                <a:latin typeface="Calibri"/>
              </a:rPr>
              <a:t>  the account control renders nothing when signed out, so the login page is reachable only by typing the URL</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Subscription management</a:t>
            </a:r>
            <a:r>
              <a:rPr sz="1100">
                <a:solidFill>
                  <a:srgbClr val="5B6450"/>
                </a:solidFill>
                <a:latin typeface="Calibri"/>
              </a:rPr>
              <a:t>  no pause, skip, swap or cancel screens — blocked on the model decision</a:t>
            </a:r>
          </a:p>
          <a:p>
            <a:pPr marL="173736" indent="-173736">
              <a:lnSpc>
                <a:spcPct val="114000"/>
              </a:lnSpc>
              <a:spcAft>
                <a:spcPts val="624"/>
              </a:spcAft>
            </a:pPr>
            <a:r>
              <a:rPr sz="605" b="1">
                <a:solidFill>
                  <a:srgbClr val="D4533A"/>
                </a:solidFill>
                <a:latin typeface="Calibri"/>
              </a:rPr>
              <a:t>●  </a:t>
            </a:r>
            <a:r>
              <a:rPr sz="1100" b="1">
                <a:solidFill>
                  <a:srgbClr val="243018"/>
                </a:solidFill>
                <a:latin typeface="Calibri"/>
              </a:rPr>
              <a:t>Notifications</a:t>
            </a:r>
            <a:r>
              <a:rPr sz="1100">
                <a:solidFill>
                  <a:srgbClr val="5B6450"/>
                </a:solidFill>
                <a:latin typeface="Calibri"/>
              </a:rPr>
              <a:t>  no confirmation email or delivery-day reminder to design</a:t>
            </a:r>
          </a:p>
        </p:txBody>
      </p:sp>
      <p:sp>
        <p:nvSpPr>
          <p:cNvPr id="10" name="TextBox 9"/>
          <p:cNvSpPr txBox="1"/>
          <p:nvPr/>
        </p:nvSpPr>
        <p:spPr>
          <a:xfrm>
            <a:off x="6242152"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7A4A8F"/>
                </a:solidFill>
                <a:latin typeface="Trebuchet MS"/>
              </a:rPr>
              <a:t>FIVE CALLS I NEED FROM DESIGN</a:t>
            </a:r>
          </a:p>
        </p:txBody>
      </p:sp>
      <p:graphicFrame>
        <p:nvGraphicFramePr>
          <p:cNvPr id="11" name="Table 10"/>
          <p:cNvGraphicFramePr>
            <a:graphicFrameLocks noGrp="1"/>
          </p:cNvGraphicFramePr>
          <p:nvPr/>
        </p:nvGraphicFramePr>
        <p:xfrm>
          <a:off x="6242152" y="1536192"/>
          <a:ext cx="5291176" cy="3950208"/>
        </p:xfrm>
        <a:graphic>
          <a:graphicData uri="http://schemas.openxmlformats.org/drawingml/2006/table">
            <a:tbl>
              <a:tblPr firstRow="1">
                <a:tableStyleId>{5C22544A-7EE6-4342-B048-85BDC9FD1C3A}</a:tableStyleId>
              </a:tblPr>
              <a:tblGrid>
                <a:gridCol w="1984191"/>
                <a:gridCol w="3306985"/>
              </a:tblGrid>
              <a:tr h="292608">
                <a:tc>
                  <a:txBody>
                    <a:bodyPr wrap="square"/>
                    <a:lstStyle/>
                    <a:p>
                      <a:r>
                        <a:rPr sz="1050" b="1" i="0">
                          <a:solidFill>
                            <a:srgbClr val="F6F0E2"/>
                          </a:solidFill>
                          <a:latin typeface="Calibri"/>
                        </a:rPr>
                        <a:t>Question</a:t>
                      </a:r>
                    </a:p>
                  </a:txBody>
                  <a:tcPr marL="91440" marR="73152" marT="36576" marB="36576" anchor="ctr">
                    <a:solidFill>
                      <a:srgbClr val="7A4A8F"/>
                    </a:solidFill>
                  </a:tcPr>
                </a:tc>
                <a:tc>
                  <a:txBody>
                    <a:bodyPr wrap="square"/>
                    <a:lstStyle/>
                    <a:p>
                      <a:r>
                        <a:rPr sz="1050" b="1" i="0">
                          <a:solidFill>
                            <a:srgbClr val="F6F0E2"/>
                          </a:solidFill>
                          <a:latin typeface="Calibri"/>
                        </a:rPr>
                        <a:t>My leaning</a:t>
                      </a:r>
                    </a:p>
                  </a:txBody>
                  <a:tcPr marL="91440" marR="73152" marT="36576" marB="36576" anchor="ctr">
                    <a:solidFill>
                      <a:srgbClr val="7A4A8F"/>
                    </a:solidFill>
                  </a:tcPr>
                </a:tc>
              </a:tr>
              <a:tr h="731520">
                <a:tc>
                  <a:txBody>
                    <a:bodyPr wrap="square"/>
                    <a:lstStyle/>
                    <a:p>
                      <a:r>
                        <a:rPr sz="1050" b="1" i="0">
                          <a:solidFill>
                            <a:srgbClr val="243018"/>
                          </a:solidFill>
                          <a:latin typeface="Calibri"/>
                        </a:rPr>
                        <a:t>Should a logged-out visitor be able to find the login page?</a:t>
                      </a:r>
                    </a:p>
                  </a:txBody>
                  <a:tcPr marL="91440" marR="73152" marT="36576" marB="36576" anchor="ctr">
                    <a:solidFill>
                      <a:srgbClr val="F6F0E2"/>
                    </a:solidFill>
                  </a:tcPr>
                </a:tc>
                <a:tc>
                  <a:txBody>
                    <a:bodyPr wrap="square"/>
                    <a:lstStyle/>
                    <a:p>
                      <a:r>
                        <a:rPr sz="1050" b="0" i="0">
                          <a:solidFill>
                            <a:srgbClr val="243018"/>
                          </a:solidFill>
                          <a:latin typeface="Calibri"/>
                        </a:rPr>
                        <a:t>Yes — add the entry point. If hiding it was deliberate, let's write that down so it stops reading as a bug.</a:t>
                      </a:r>
                    </a:p>
                  </a:txBody>
                  <a:tcPr marL="91440" marR="73152" marT="36576" marB="36576" anchor="ctr">
                    <a:solidFill>
                      <a:srgbClr val="F6F0E2"/>
                    </a:solidFill>
                  </a:tcPr>
                </a:tc>
              </a:tr>
              <a:tr h="731520">
                <a:tc>
                  <a:txBody>
                    <a:bodyPr wrap="square"/>
                    <a:lstStyle/>
                    <a:p>
                      <a:r>
                        <a:rPr sz="1050" b="1" i="0">
                          <a:solidFill>
                            <a:srgbClr val="243018"/>
                          </a:solidFill>
                          <a:latin typeface="Calibri"/>
                        </a:rPr>
                        <a:t>“Add to cart” or “add to order”?</a:t>
                      </a:r>
                    </a:p>
                  </a:txBody>
                  <a:tcPr marL="91440" marR="73152" marT="36576" marB="36576" anchor="ctr">
                    <a:solidFill>
                      <a:srgbClr val="FFFFFF"/>
                    </a:solidFill>
                  </a:tcPr>
                </a:tc>
                <a:tc>
                  <a:txBody>
                    <a:bodyPr wrap="square"/>
                    <a:lstStyle/>
                    <a:p>
                      <a:r>
                        <a:rPr sz="1050" b="0" i="0">
                          <a:solidFill>
                            <a:srgbClr val="243018"/>
                          </a:solidFill>
                          <a:latin typeface="Calibri"/>
                        </a:rPr>
                        <a:t>Decide once and apply everywhere: button, drawer title, and the noun in all copy.</a:t>
                      </a:r>
                    </a:p>
                  </a:txBody>
                  <a:tcPr marL="91440" marR="73152" marT="36576" marB="36576" anchor="ctr">
                    <a:solidFill>
                      <a:srgbClr val="FFFFFF"/>
                    </a:solidFill>
                  </a:tcPr>
                </a:tc>
              </a:tr>
              <a:tr h="731520">
                <a:tc>
                  <a:txBody>
                    <a:bodyPr wrap="square"/>
                    <a:lstStyle/>
                    <a:p>
                      <a:r>
                        <a:rPr sz="1050" b="1" i="0">
                          <a:solidFill>
                            <a:srgbClr val="243018"/>
                          </a:solidFill>
                          <a:latin typeface="Calibri"/>
                        </a:rPr>
                        <a:t>Cart drawer only, or a full /cart page too?</a:t>
                      </a:r>
                    </a:p>
                  </a:txBody>
                  <a:tcPr marL="91440" marR="73152" marT="36576" marB="36576" anchor="ctr">
                    <a:solidFill>
                      <a:srgbClr val="F6F0E2"/>
                    </a:solidFill>
                  </a:tcPr>
                </a:tc>
                <a:tc>
                  <a:txBody>
                    <a:bodyPr wrap="square"/>
                    <a:lstStyle/>
                    <a:p>
                      <a:r>
                        <a:rPr sz="1050" b="0" i="0">
                          <a:solidFill>
                            <a:srgbClr val="243018"/>
                          </a:solidFill>
                          <a:latin typeface="Calibri"/>
                        </a:rPr>
                        <a:t>Drawer-first is fine, but a cart can't be deep-linked today and there's no full-page review step.</a:t>
                      </a:r>
                    </a:p>
                  </a:txBody>
                  <a:tcPr marL="91440" marR="73152" marT="36576" marB="36576" anchor="ctr">
                    <a:solidFill>
                      <a:srgbClr val="F6F0E2"/>
                    </a:solidFill>
                  </a:tcPr>
                </a:tc>
              </a:tr>
              <a:tr h="731520">
                <a:tc>
                  <a:txBody>
                    <a:bodyPr wrap="square"/>
                    <a:lstStyle/>
                    <a:p>
                      <a:r>
                        <a:rPr sz="1050" b="1" i="0">
                          <a:solidFill>
                            <a:srgbClr val="243018"/>
                          </a:solidFill>
                          <a:latin typeface="Calibri"/>
                        </a:rPr>
                        <a:t>Do subscribers pick their own bottles?</a:t>
                      </a:r>
                    </a:p>
                  </a:txBody>
                  <a:tcPr marL="91440" marR="73152" marT="36576" marB="36576" anchor="ctr">
                    <a:solidFill>
                      <a:srgbClr val="FFFFFF"/>
                    </a:solidFill>
                  </a:tcPr>
                </a:tc>
                <a:tc>
                  <a:txBody>
                    <a:bodyPr wrap="square"/>
                    <a:lstStyle/>
                    <a:p>
                      <a:r>
                        <a:rPr sz="1050" b="0" i="0">
                          <a:solidFill>
                            <a:srgbClr val="243018"/>
                          </a:solidFill>
                          <a:latin typeface="Calibri"/>
                        </a:rPr>
                        <a:t>The contract says mix and match, the form doesn't collect it, and the confirmation says we choose. This also decides whether ops can forecast produce for subscribers at all.</a:t>
                      </a:r>
                    </a:p>
                  </a:txBody>
                  <a:tcPr marL="91440" marR="73152" marT="36576" marB="36576" anchor="ctr">
                    <a:solidFill>
                      <a:srgbClr val="FFFFFF"/>
                    </a:solidFill>
                  </a:tcPr>
                </a:tc>
              </a:tr>
              <a:tr h="731520">
                <a:tc>
                  <a:txBody>
                    <a:bodyPr wrap="square"/>
                    <a:lstStyle/>
                    <a:p>
                      <a:r>
                        <a:rPr sz="1050" b="1" i="0">
                          <a:solidFill>
                            <a:srgbClr val="243018"/>
                          </a:solidFill>
                          <a:latin typeface="Calibri"/>
                        </a:rPr>
                        <a:t>Should the soft banner escalate?</a:t>
                      </a:r>
                    </a:p>
                  </a:txBody>
                  <a:tcPr marL="91440" marR="73152" marT="36576" marB="36576" anchor="ctr">
                    <a:solidFill>
                      <a:srgbClr val="F6F0E2"/>
                    </a:solidFill>
                  </a:tcPr>
                </a:tc>
                <a:tc>
                  <a:txBody>
                    <a:bodyPr wrap="square"/>
                    <a:lstStyle/>
                    <a:p>
                      <a:r>
                        <a:rPr sz="1050" b="0" i="0">
                          <a:solidFill>
                            <a:srgbClr val="243018"/>
                          </a:solidFill>
                          <a:latin typeface="Calibri"/>
                        </a:rPr>
                        <a:t>Today someone out of area can browse, fill the whole checkout, and only then be blocked. That's the intended hybrid — worth confirming it still feels right.</a:t>
                      </a:r>
                    </a:p>
                  </a:txBody>
                  <a:tcPr marL="91440" marR="73152" marT="36576" marB="36576" anchor="ctr">
                    <a:solidFill>
                      <a:srgbClr val="F6F0E2"/>
                    </a:solidFill>
                  </a:tcPr>
                </a:tc>
              </a:tr>
            </a:tbl>
          </a:graphicData>
        </a:graphic>
      </p:graphicFrame>
      <p:sp>
        <p:nvSpPr>
          <p:cNvPr id="12" name="TextBox 11"/>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3" name="TextBox 12"/>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E8B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E8B23F"/>
                </a:solidFill>
                <a:latin typeface="Trebuchet MS"/>
              </a:rPr>
              <a:t>FOR MARKETING</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What the site does for acquisition — and the one leak</a:t>
            </a:r>
          </a:p>
        </p:txBody>
      </p:sp>
      <p:sp>
        <p:nvSpPr>
          <p:cNvPr id="6" name="TextBox 5"/>
          <p:cNvSpPr txBox="1"/>
          <p:nvPr/>
        </p:nvSpPr>
        <p:spPr>
          <a:xfrm>
            <a:off x="658368"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WHAT THE ARCHITECTURE GIVES YOU</a:t>
            </a:r>
          </a:p>
        </p:txBody>
      </p:sp>
      <p:sp>
        <p:nvSpPr>
          <p:cNvPr id="7" name="TextBox 6"/>
          <p:cNvSpPr txBox="1"/>
          <p:nvPr/>
        </p:nvSpPr>
        <p:spPr>
          <a:xfrm>
            <a:off x="658368" y="1536192"/>
            <a:ext cx="5291176" cy="365760"/>
          </a:xfrm>
          <a:prstGeom prst="rect">
            <a:avLst/>
          </a:prstGeom>
          <a:noFill/>
        </p:spPr>
        <p:txBody>
          <a:bodyPr wrap="square" lIns="0" rIns="0" tIns="0" bIns="0">
            <a:spAutoFit/>
          </a:bodyPr>
          <a:lstStyle/>
          <a:p>
            <a:pPr marL="173736" indent="-173736">
              <a:lnSpc>
                <a:spcPct val="114000"/>
              </a:lnSpc>
              <a:spcAft>
                <a:spcPts val="624"/>
              </a:spcAft>
            </a:pPr>
            <a:r>
              <a:rPr sz="605" b="1">
                <a:solidFill>
                  <a:srgbClr val="D9772E"/>
                </a:solidFill>
                <a:latin typeface="Calibri"/>
              </a:rPr>
              <a:t>●  </a:t>
            </a:r>
            <a:r>
              <a:rPr sz="1100" b="1">
                <a:solidFill>
                  <a:srgbClr val="243018"/>
                </a:solidFill>
                <a:latin typeface="Calibri"/>
              </a:rPr>
              <a:t>A fully crawlable catalogue.</a:t>
            </a:r>
            <a:r>
              <a:rPr sz="1100">
                <a:solidFill>
                  <a:srgbClr val="5B6450"/>
                </a:solidFill>
                <a:latin typeface="Calibri"/>
              </a:rPr>
              <a:t>  No gate and no login wall. Every product, combo and seasonal page is server-rendered and indexable.</a:t>
            </a:r>
          </a:p>
          <a:p>
            <a:pPr marL="173736" indent="-173736">
              <a:lnSpc>
                <a:spcPct val="114000"/>
              </a:lnSpc>
              <a:spcAft>
                <a:spcPts val="624"/>
              </a:spcAft>
            </a:pPr>
            <a:r>
              <a:rPr sz="605" b="1">
                <a:solidFill>
                  <a:srgbClr val="D9772E"/>
                </a:solidFill>
                <a:latin typeface="Calibri"/>
              </a:rPr>
              <a:t>●  </a:t>
            </a:r>
            <a:r>
              <a:rPr sz="1100" b="1">
                <a:solidFill>
                  <a:srgbClr val="243018"/>
                </a:solidFill>
                <a:latin typeface="Calibri"/>
              </a:rPr>
              <a:t>A balanced home page.</a:t>
            </a:r>
            <a:r>
              <a:rPr sz="1100">
                <a:solidFill>
                  <a:srgbClr val="5B6450"/>
                </a:solidFill>
                <a:latin typeface="Calibri"/>
              </a:rPr>
              <a:t>  One-time and subscription get equal weight and cross-link, so a gifter can become a subscriber without starting over.</a:t>
            </a:r>
          </a:p>
          <a:p>
            <a:pPr marL="173736" indent="-173736">
              <a:lnSpc>
                <a:spcPct val="114000"/>
              </a:lnSpc>
              <a:spcAft>
                <a:spcPts val="624"/>
              </a:spcAft>
            </a:pPr>
            <a:r>
              <a:rPr sz="605" b="1">
                <a:solidFill>
                  <a:srgbClr val="D9772E"/>
                </a:solidFill>
                <a:latin typeface="Calibri"/>
              </a:rPr>
              <a:t>●  </a:t>
            </a:r>
            <a:r>
              <a:rPr sz="1100" b="1">
                <a:solidFill>
                  <a:srgbClr val="243018"/>
                </a:solidFill>
                <a:latin typeface="Calibri"/>
              </a:rPr>
              <a:t>Seasonality as data, not copy.</a:t>
            </a:r>
            <a:r>
              <a:rPr sz="1100">
                <a:solidFill>
                  <a:srgbClr val="5B6450"/>
                </a:solidFill>
                <a:latin typeface="Calibri"/>
              </a:rPr>
              <a:t>  Peak-season produce is modelled, so “what's in season now” can drive a campaign without a code change.</a:t>
            </a:r>
          </a:p>
          <a:p>
            <a:pPr marL="173736" indent="-173736">
              <a:lnSpc>
                <a:spcPct val="114000"/>
              </a:lnSpc>
              <a:spcAft>
                <a:spcPts val="624"/>
              </a:spcAft>
            </a:pPr>
            <a:r>
              <a:rPr sz="605" b="1">
                <a:solidFill>
                  <a:srgbClr val="D9772E"/>
                </a:solidFill>
                <a:latin typeface="Calibri"/>
              </a:rPr>
              <a:t>●  </a:t>
            </a:r>
            <a:r>
              <a:rPr sz="1100" b="1">
                <a:solidFill>
                  <a:srgbClr val="243018"/>
                </a:solidFill>
                <a:latin typeface="Calibri"/>
              </a:rPr>
              <a:t>Pressed-to-order as the story.</a:t>
            </a:r>
            <a:r>
              <a:rPr sz="1100">
                <a:solidFill>
                  <a:srgbClr val="5B6450"/>
                </a:solidFill>
                <a:latin typeface="Calibri"/>
              </a:rPr>
              <a:t>  Next-day delivery and a real press date are structural facts we can promise, not claims we have to soften.</a:t>
            </a:r>
          </a:p>
        </p:txBody>
      </p:sp>
      <p:sp>
        <p:nvSpPr>
          <p:cNvPr id="8" name="TextBox 7"/>
          <p:cNvSpPr txBox="1"/>
          <p:nvPr/>
        </p:nvSpPr>
        <p:spPr>
          <a:xfrm>
            <a:off x="658368" y="340156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MESSAGING THE PRODUCT CAN BACK UP</a:t>
            </a:r>
          </a:p>
        </p:txBody>
      </p:sp>
      <p:sp>
        <p:nvSpPr>
          <p:cNvPr id="9" name="TextBox 8"/>
          <p:cNvSpPr txBox="1"/>
          <p:nvPr/>
        </p:nvSpPr>
        <p:spPr>
          <a:xfrm>
            <a:off x="658368" y="3639312"/>
            <a:ext cx="5291176" cy="731520"/>
          </a:xfrm>
          <a:prstGeom prst="rect">
            <a:avLst/>
          </a:prstGeom>
          <a:noFill/>
        </p:spPr>
        <p:txBody>
          <a:bodyPr wrap="square" anchor="t" lIns="0" rIns="0" tIns="0" bIns="0">
            <a:spAutoFit/>
          </a:bodyPr>
          <a:lstStyle/>
          <a:p>
            <a:pPr algn="l">
              <a:lnSpc>
                <a:spcPct val="130000"/>
              </a:lnSpc>
              <a:spcAft>
                <a:spcPts val="0"/>
              </a:spcAft>
            </a:pPr>
            <a:r>
              <a:rPr sz="1200" b="0" i="0">
                <a:solidFill>
                  <a:srgbClr val="5B6450"/>
                </a:solidFill>
                <a:latin typeface="Calibri"/>
              </a:rPr>
              <a:t>Pressed the night before  ·  Delivered before breakfast  ·  Peak-season produce  ·  Three plans, from a starter to a family reset  ·  Build your own box  ·  Gift it without a subscription</a:t>
            </a:r>
          </a:p>
        </p:txBody>
      </p:sp>
      <p:sp>
        <p:nvSpPr>
          <p:cNvPr id="10" name="Rectangle 9"/>
          <p:cNvSpPr/>
          <p:nvPr/>
        </p:nvSpPr>
        <p:spPr>
          <a:xfrm>
            <a:off x="658368" y="4517136"/>
            <a:ext cx="5291176" cy="1207008"/>
          </a:xfrm>
          <a:prstGeom prst="rect">
            <a:avLst/>
          </a:prstGeom>
          <a:solidFill>
            <a:srgbClr val="FDF4E8"/>
          </a:solidFill>
          <a:ln w="12700">
            <a:solidFill>
              <a:srgbClr val="D977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4663440"/>
            <a:ext cx="492541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  THE LEAK</a:t>
            </a:r>
          </a:p>
        </p:txBody>
      </p:sp>
      <p:sp>
        <p:nvSpPr>
          <p:cNvPr id="12" name="TextBox 11"/>
          <p:cNvSpPr txBox="1"/>
          <p:nvPr/>
        </p:nvSpPr>
        <p:spPr>
          <a:xfrm>
            <a:off x="841248" y="4901184"/>
            <a:ext cx="4925416" cy="658368"/>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We promise out-of-area visitors a waitlist and capture nothing. Everyone who lands, wants it, and can't buy is lost silently — and we lose the demand-by-pincode map that would tell us which city to open next.</a:t>
            </a:r>
          </a:p>
        </p:txBody>
      </p:sp>
      <p:sp>
        <p:nvSpPr>
          <p:cNvPr id="13" name="TextBox 12"/>
          <p:cNvSpPr txBox="1"/>
          <p:nvPr/>
        </p:nvSpPr>
        <p:spPr>
          <a:xfrm>
            <a:off x="6242152"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9772E"/>
                </a:solidFill>
                <a:latin typeface="Trebuchet MS"/>
              </a:rPr>
              <a:t>THE FUNNEL, AND WHERE IT BREAKS TODAY</a:t>
            </a:r>
          </a:p>
        </p:txBody>
      </p:sp>
      <p:graphicFrame>
        <p:nvGraphicFramePr>
          <p:cNvPr id="14" name="Table 13"/>
          <p:cNvGraphicFramePr>
            <a:graphicFrameLocks noGrp="1"/>
          </p:cNvGraphicFramePr>
          <p:nvPr/>
        </p:nvGraphicFramePr>
        <p:xfrm>
          <a:off x="6242152" y="1536192"/>
          <a:ext cx="5291176" cy="3364992"/>
        </p:xfrm>
        <a:graphic>
          <a:graphicData uri="http://schemas.openxmlformats.org/drawingml/2006/table">
            <a:tbl>
              <a:tblPr firstRow="1">
                <a:tableStyleId>{5C22544A-7EE6-4342-B048-85BDC9FD1C3A}</a:tableStyleId>
              </a:tblPr>
              <a:tblGrid>
                <a:gridCol w="2019533"/>
                <a:gridCol w="928985"/>
                <a:gridCol w="2342658"/>
              </a:tblGrid>
              <a:tr h="292608">
                <a:tc>
                  <a:txBody>
                    <a:bodyPr wrap="square"/>
                    <a:lstStyle/>
                    <a:p>
                      <a:r>
                        <a:rPr sz="1050" b="1" i="0">
                          <a:solidFill>
                            <a:srgbClr val="F6F0E2"/>
                          </a:solidFill>
                          <a:latin typeface="Calibri"/>
                        </a:rPr>
                        <a:t>Stage</a:t>
                      </a:r>
                    </a:p>
                  </a:txBody>
                  <a:tcPr marL="91440" marR="73152" marT="36576" marB="36576" anchor="ctr">
                    <a:solidFill>
                      <a:srgbClr val="D9772E"/>
                    </a:solidFill>
                  </a:tcPr>
                </a:tc>
                <a:tc>
                  <a:txBody>
                    <a:bodyPr wrap="square"/>
                    <a:lstStyle/>
                    <a:p>
                      <a:r>
                        <a:rPr sz="1050" b="1" i="0">
                          <a:solidFill>
                            <a:srgbClr val="F6F0E2"/>
                          </a:solidFill>
                          <a:latin typeface="Calibri"/>
                        </a:rPr>
                        <a:t>Status</a:t>
                      </a:r>
                    </a:p>
                  </a:txBody>
                  <a:tcPr marL="91440" marR="73152" marT="36576" marB="36576" anchor="ctr">
                    <a:solidFill>
                      <a:srgbClr val="D9772E"/>
                    </a:solidFill>
                  </a:tcPr>
                </a:tc>
                <a:tc>
                  <a:txBody>
                    <a:bodyPr wrap="square"/>
                    <a:lstStyle/>
                    <a:p>
                      <a:r>
                        <a:rPr sz="1050" b="1" i="0">
                          <a:solidFill>
                            <a:srgbClr val="F6F0E2"/>
                          </a:solidFill>
                          <a:latin typeface="Calibri"/>
                        </a:rPr>
                        <a:t>Gap</a:t>
                      </a:r>
                    </a:p>
                  </a:txBody>
                  <a:tcPr marL="91440" marR="73152" marT="36576" marB="36576" anchor="ctr">
                    <a:solidFill>
                      <a:srgbClr val="D9772E"/>
                    </a:solidFill>
                  </a:tcPr>
                </a:tc>
              </a:tr>
              <a:tr h="384048">
                <a:tc>
                  <a:txBody>
                    <a:bodyPr wrap="square"/>
                    <a:lstStyle/>
                    <a:p>
                      <a:r>
                        <a:rPr sz="1050" b="1" i="0">
                          <a:solidFill>
                            <a:srgbClr val="243018"/>
                          </a:solidFill>
                          <a:latin typeface="Calibri"/>
                        </a:rPr>
                        <a:t>Land &amp; browse</a:t>
                      </a:r>
                    </a:p>
                  </a:txBody>
                  <a:tcPr marL="91440" marR="73152" marT="36576" marB="36576" anchor="ctr">
                    <a:solidFill>
                      <a:srgbClr val="F6F0E2"/>
                    </a:solidFill>
                  </a:tcPr>
                </a:tc>
                <a:tc>
                  <a:txBody>
                    <a:bodyPr wrap="square"/>
                    <a:lstStyle/>
                    <a:p>
                      <a:r>
                        <a:rPr sz="1050" b="1" i="0">
                          <a:solidFill>
                            <a:srgbClr val="5A8A4A"/>
                          </a:solidFill>
                          <a:latin typeface="Calibri"/>
                        </a:rPr>
                        <a:t>■ Built</a:t>
                      </a:r>
                    </a:p>
                  </a:txBody>
                  <a:tcPr marL="91440" marR="73152" marT="36576" marB="36576" anchor="ctr">
                    <a:solidFill>
                      <a:srgbClr val="F6F0E2"/>
                    </a:solidFill>
                  </a:tcPr>
                </a:tc>
                <a:tc>
                  <a:txBody>
                    <a:bodyPr wrap="square"/>
                    <a:lstStyle/>
                    <a:p>
                      <a:r>
                        <a:rPr sz="1050" b="0" i="0">
                          <a:solidFill>
                            <a:srgbClr val="243018"/>
                          </a:solidFill>
                          <a:latin typeface="Calibri"/>
                        </a:rPr>
                        <a:t>None — this part is solid</a:t>
                      </a:r>
                    </a:p>
                  </a:txBody>
                  <a:tcPr marL="91440" marR="73152" marT="36576" marB="36576" anchor="ctr">
                    <a:solidFill>
                      <a:srgbClr val="F6F0E2"/>
                    </a:solidFill>
                  </a:tcPr>
                </a:tc>
              </a:tr>
              <a:tr h="384048">
                <a:tc>
                  <a:txBody>
                    <a:bodyPr wrap="square"/>
                    <a:lstStyle/>
                    <a:p>
                      <a:r>
                        <a:rPr sz="1050" b="1" i="0">
                          <a:solidFill>
                            <a:srgbClr val="243018"/>
                          </a:solidFill>
                          <a:latin typeface="Calibri"/>
                        </a:rPr>
                        <a:t>Consider — detail, seasonal, combos</a:t>
                      </a:r>
                    </a:p>
                  </a:txBody>
                  <a:tcPr marL="91440" marR="73152" marT="36576" marB="36576" anchor="ctr">
                    <a:solidFill>
                      <a:srgbClr val="FFFFFF"/>
                    </a:solidFill>
                  </a:tcPr>
                </a:tc>
                <a:tc>
                  <a:txBody>
                    <a:bodyPr wrap="square"/>
                    <a:lstStyle/>
                    <a:p>
                      <a:r>
                        <a:rPr sz="1050" b="1" i="0">
                          <a:solidFill>
                            <a:srgbClr val="5A8A4A"/>
                          </a:solidFill>
                          <a:latin typeface="Calibri"/>
                        </a:rPr>
                        <a:t>■ Built</a:t>
                      </a:r>
                    </a:p>
                  </a:txBody>
                  <a:tcPr marL="91440" marR="73152" marT="36576" marB="36576" anchor="ctr">
                    <a:solidFill>
                      <a:srgbClr val="FFFFFF"/>
                    </a:solidFill>
                  </a:tcPr>
                </a:tc>
                <a:tc>
                  <a:txBody>
                    <a:bodyPr wrap="square"/>
                    <a:lstStyle/>
                    <a:p>
                      <a:r>
                        <a:rPr sz="1050" b="0" i="0">
                          <a:solidFill>
                            <a:srgbClr val="243018"/>
                          </a:solidFill>
                          <a:latin typeface="Calibri"/>
                        </a:rPr>
                        <a:t>None</a:t>
                      </a:r>
                    </a:p>
                  </a:txBody>
                  <a:tcPr marL="91440" marR="73152" marT="36576" marB="36576" anchor="ctr">
                    <a:solidFill>
                      <a:srgbClr val="FFFFFF"/>
                    </a:solidFill>
                  </a:tcPr>
                </a:tc>
              </a:tr>
              <a:tr h="384048">
                <a:tc>
                  <a:txBody>
                    <a:bodyPr wrap="square"/>
                    <a:lstStyle/>
                    <a:p>
                      <a:r>
                        <a:rPr sz="1050" b="1" i="0">
                          <a:solidFill>
                            <a:srgbClr val="243018"/>
                          </a:solidFill>
                          <a:latin typeface="Calibri"/>
                        </a:rPr>
                        <a:t>Add to cart</a:t>
                      </a:r>
                    </a:p>
                  </a:txBody>
                  <a:tcPr marL="91440" marR="73152" marT="36576" marB="36576" anchor="ctr">
                    <a:solidFill>
                      <a:srgbClr val="F6F0E2"/>
                    </a:solidFill>
                  </a:tcPr>
                </a:tc>
                <a:tc>
                  <a:txBody>
                    <a:bodyPr wrap="square"/>
                    <a:lstStyle/>
                    <a:p>
                      <a:r>
                        <a:rPr sz="1050" b="1" i="0">
                          <a:solidFill>
                            <a:srgbClr val="5A8A4A"/>
                          </a:solidFill>
                          <a:latin typeface="Calibri"/>
                        </a:rPr>
                        <a:t>■ Built</a:t>
                      </a:r>
                    </a:p>
                  </a:txBody>
                  <a:tcPr marL="91440" marR="73152" marT="36576" marB="36576" anchor="ctr">
                    <a:solidFill>
                      <a:srgbClr val="F6F0E2"/>
                    </a:solidFill>
                  </a:tcPr>
                </a:tc>
                <a:tc>
                  <a:txBody>
                    <a:bodyPr wrap="square"/>
                    <a:lstStyle/>
                    <a:p>
                      <a:r>
                        <a:rPr sz="1050" b="0" i="0">
                          <a:solidFill>
                            <a:srgbClr val="243018"/>
                          </a:solidFill>
                          <a:latin typeface="Calibri"/>
                        </a:rPr>
                        <a:t>None</a:t>
                      </a:r>
                    </a:p>
                  </a:txBody>
                  <a:tcPr marL="91440" marR="73152" marT="36576" marB="36576" anchor="ctr">
                    <a:solidFill>
                      <a:srgbClr val="F6F0E2"/>
                    </a:solidFill>
                  </a:tcPr>
                </a:tc>
              </a:tr>
              <a:tr h="384048">
                <a:tc>
                  <a:txBody>
                    <a:bodyPr wrap="square"/>
                    <a:lstStyle/>
                    <a:p>
                      <a:r>
                        <a:rPr sz="1050" b="1" i="0">
                          <a:solidFill>
                            <a:srgbClr val="243018"/>
                          </a:solidFill>
                          <a:latin typeface="Calibri"/>
                        </a:rPr>
                        <a:t>Check out</a:t>
                      </a:r>
                    </a:p>
                  </a:txBody>
                  <a:tcPr marL="91440" marR="73152" marT="36576" marB="36576" anchor="ctr">
                    <a:solidFill>
                      <a:srgbClr val="FFFFFF"/>
                    </a:solidFill>
                  </a:tcPr>
                </a:tc>
                <a:tc>
                  <a:txBody>
                    <a:bodyPr wrap="square"/>
                    <a:lstStyle/>
                    <a:p>
                      <a:r>
                        <a:rPr sz="1050" b="1" i="0">
                          <a:solidFill>
                            <a:srgbClr val="E8B23F"/>
                          </a:solidFill>
                          <a:latin typeface="Calibri"/>
                        </a:rPr>
                        <a:t>■ Partial</a:t>
                      </a:r>
                    </a:p>
                  </a:txBody>
                  <a:tcPr marL="91440" marR="73152" marT="36576" marB="36576" anchor="ctr">
                    <a:solidFill>
                      <a:srgbClr val="FFFFFF"/>
                    </a:solidFill>
                  </a:tcPr>
                </a:tc>
                <a:tc>
                  <a:txBody>
                    <a:bodyPr wrap="square"/>
                    <a:lstStyle/>
                    <a:p>
                      <a:r>
                        <a:rPr sz="1050" b="0" i="0">
                          <a:solidFill>
                            <a:srgbClr val="243018"/>
                          </a:solidFill>
                          <a:latin typeface="Calibri"/>
                        </a:rPr>
                        <a:t>Requires an account; guest checkout is half-built</a:t>
                      </a:r>
                    </a:p>
                  </a:txBody>
                  <a:tcPr marL="91440" marR="73152" marT="36576" marB="36576" anchor="ctr">
                    <a:solidFill>
                      <a:srgbClr val="FFFFFF"/>
                    </a:solidFill>
                  </a:tcPr>
                </a:tc>
              </a:tr>
              <a:tr h="384048">
                <a:tc>
                  <a:txBody>
                    <a:bodyPr wrap="square"/>
                    <a:lstStyle/>
                    <a:p>
                      <a:r>
                        <a:rPr sz="1050" b="1" i="0">
                          <a:solidFill>
                            <a:srgbClr val="243018"/>
                          </a:solidFill>
                          <a:latin typeface="Calibri"/>
                        </a:rPr>
                        <a:t>Confirm</a:t>
                      </a:r>
                    </a:p>
                  </a:txBody>
                  <a:tcPr marL="91440" marR="73152" marT="36576" marB="36576" anchor="ctr">
                    <a:solidFill>
                      <a:srgbClr val="F6F0E2"/>
                    </a:solidFill>
                  </a:tcPr>
                </a:tc>
                <a:tc>
                  <a:txBody>
                    <a:bodyPr wrap="square"/>
                    <a:lstStyle/>
                    <a:p>
                      <a:r>
                        <a:rPr sz="1050" b="1" i="0">
                          <a:solidFill>
                            <a:srgbClr val="E8B23F"/>
                          </a:solidFill>
                          <a:latin typeface="Calibri"/>
                        </a:rPr>
                        <a:t>■ Partial</a:t>
                      </a:r>
                    </a:p>
                  </a:txBody>
                  <a:tcPr marL="91440" marR="73152" marT="36576" marB="36576" anchor="ctr">
                    <a:solidFill>
                      <a:srgbClr val="F6F0E2"/>
                    </a:solidFill>
                  </a:tcPr>
                </a:tc>
                <a:tc>
                  <a:txBody>
                    <a:bodyPr wrap="square"/>
                    <a:lstStyle/>
                    <a:p>
                      <a:r>
                        <a:rPr sz="1050" b="0" i="0">
                          <a:solidFill>
                            <a:srgbClr val="243018"/>
                          </a:solidFill>
                          <a:latin typeface="Calibri"/>
                        </a:rPr>
                        <a:t>On-screen only — no confirmation email</a:t>
                      </a:r>
                    </a:p>
                  </a:txBody>
                  <a:tcPr marL="91440" marR="73152" marT="36576" marB="36576" anchor="ctr">
                    <a:solidFill>
                      <a:srgbClr val="F6F0E2"/>
                    </a:solidFill>
                  </a:tcPr>
                </a:tc>
              </a:tr>
              <a:tr h="384048">
                <a:tc>
                  <a:txBody>
                    <a:bodyPr wrap="square"/>
                    <a:lstStyle/>
                    <a:p>
                      <a:r>
                        <a:rPr sz="1050" b="1" i="0">
                          <a:solidFill>
                            <a:srgbClr val="243018"/>
                          </a:solidFill>
                          <a:latin typeface="Calibri"/>
                        </a:rPr>
                        <a:t>Retain / repeat</a:t>
                      </a:r>
                    </a:p>
                  </a:txBody>
                  <a:tcPr marL="91440" marR="73152" marT="36576" marB="36576" anchor="ctr">
                    <a:solidFill>
                      <a:srgbClr val="FFFFFF"/>
                    </a:solidFill>
                  </a:tcPr>
                </a:tc>
                <a:tc>
                  <a:txBody>
                    <a:bodyPr wrap="square"/>
                    <a:lstStyle/>
                    <a:p>
                      <a:r>
                        <a:rPr sz="1050" b="1" i="0">
                          <a:solidFill>
                            <a:srgbClr val="E8B23F"/>
                          </a:solidFill>
                          <a:latin typeface="Calibri"/>
                        </a:rPr>
                        <a:t>■ Partial</a:t>
                      </a:r>
                    </a:p>
                  </a:txBody>
                  <a:tcPr marL="91440" marR="73152" marT="36576" marB="36576" anchor="ctr">
                    <a:solidFill>
                      <a:srgbClr val="FFFFFF"/>
                    </a:solidFill>
                  </a:tcPr>
                </a:tc>
                <a:tc>
                  <a:txBody>
                    <a:bodyPr wrap="square"/>
                    <a:lstStyle/>
                    <a:p>
                      <a:r>
                        <a:rPr sz="1050" b="0" i="0">
                          <a:solidFill>
                            <a:srgbClr val="243018"/>
                          </a:solidFill>
                          <a:latin typeface="Calibri"/>
                        </a:rPr>
                        <a:t>Order history exists; no reorder button</a:t>
                      </a:r>
                    </a:p>
                  </a:txBody>
                  <a:tcPr marL="91440" marR="73152" marT="36576" marB="36576" anchor="ctr">
                    <a:solidFill>
                      <a:srgbClr val="FFFFFF"/>
                    </a:solidFill>
                  </a:tcPr>
                </a:tc>
              </a:tr>
              <a:tr h="384048">
                <a:tc>
                  <a:txBody>
                    <a:bodyPr wrap="square"/>
                    <a:lstStyle/>
                    <a:p>
                      <a:r>
                        <a:rPr sz="1050" b="1" i="0">
                          <a:solidFill>
                            <a:srgbClr val="243018"/>
                          </a:solidFill>
                          <a:latin typeface="Calibri"/>
                        </a:rPr>
                        <a:t>Subscribe &amp; stay</a:t>
                      </a:r>
                    </a:p>
                  </a:txBody>
                  <a:tcPr marL="91440" marR="73152" marT="36576" marB="36576" anchor="ctr">
                    <a:solidFill>
                      <a:srgbClr val="F6F0E2"/>
                    </a:solidFill>
                  </a:tcPr>
                </a:tc>
                <a:tc>
                  <a:txBody>
                    <a:bodyPr wrap="square"/>
                    <a:lstStyle/>
                    <a:p>
                      <a:r>
                        <a:rPr sz="1050" b="1" i="0">
                          <a:solidFill>
                            <a:srgbClr val="D4533A"/>
                          </a:solidFill>
                          <a:latin typeface="Calibri"/>
                        </a:rPr>
                        <a:t>■ Not built</a:t>
                      </a:r>
                    </a:p>
                  </a:txBody>
                  <a:tcPr marL="91440" marR="73152" marT="36576" marB="36576" anchor="ctr">
                    <a:solidFill>
                      <a:srgbClr val="F6F0E2"/>
                    </a:solidFill>
                  </a:tcPr>
                </a:tc>
                <a:tc>
                  <a:txBody>
                    <a:bodyPr wrap="square"/>
                    <a:lstStyle/>
                    <a:p>
                      <a:r>
                        <a:rPr sz="1050" b="0" i="0">
                          <a:solidFill>
                            <a:srgbClr val="243018"/>
                          </a:solidFill>
                          <a:latin typeface="Calibri"/>
                        </a:rPr>
                        <a:t>No recurring delivery, no pause or skip</a:t>
                      </a:r>
                    </a:p>
                  </a:txBody>
                  <a:tcPr marL="91440" marR="73152" marT="36576" marB="36576" anchor="ctr">
                    <a:solidFill>
                      <a:srgbClr val="F6F0E2"/>
                    </a:solidFill>
                  </a:tcPr>
                </a:tc>
              </a:tr>
              <a:tr h="384048">
                <a:tc>
                  <a:txBody>
                    <a:bodyPr wrap="square"/>
                    <a:lstStyle/>
                    <a:p>
                      <a:r>
                        <a:rPr sz="1050" b="1" i="0">
                          <a:solidFill>
                            <a:srgbClr val="243018"/>
                          </a:solidFill>
                          <a:latin typeface="Calibri"/>
                        </a:rPr>
                        <a:t>Out of area</a:t>
                      </a:r>
                    </a:p>
                  </a:txBody>
                  <a:tcPr marL="91440" marR="73152" marT="36576" marB="36576" anchor="ctr">
                    <a:solidFill>
                      <a:srgbClr val="FFFFFF"/>
                    </a:solidFill>
                  </a:tcPr>
                </a:tc>
                <a:tc>
                  <a:txBody>
                    <a:bodyPr wrap="square"/>
                    <a:lstStyle/>
                    <a:p>
                      <a:r>
                        <a:rPr sz="1050" b="1" i="0">
                          <a:solidFill>
                            <a:srgbClr val="D4533A"/>
                          </a:solidFill>
                          <a:latin typeface="Calibri"/>
                        </a:rPr>
                        <a:t>■ Not built</a:t>
                      </a:r>
                    </a:p>
                  </a:txBody>
                  <a:tcPr marL="91440" marR="73152" marT="36576" marB="36576" anchor="ctr">
                    <a:solidFill>
                      <a:srgbClr val="FFFFFF"/>
                    </a:solidFill>
                  </a:tcPr>
                </a:tc>
                <a:tc>
                  <a:txBody>
                    <a:bodyPr wrap="square"/>
                    <a:lstStyle/>
                    <a:p>
                      <a:r>
                        <a:rPr sz="1050" b="0" i="0">
                          <a:solidFill>
                            <a:srgbClr val="243018"/>
                          </a:solidFill>
                          <a:latin typeface="Calibri"/>
                        </a:rPr>
                        <a:t>No waitlist capture at all</a:t>
                      </a:r>
                    </a:p>
                  </a:txBody>
                  <a:tcPr marL="91440" marR="73152" marT="36576" marB="36576" anchor="ctr">
                    <a:solidFill>
                      <a:srgbClr val="FFFFFF"/>
                    </a:solidFill>
                  </a:tcPr>
                </a:tc>
              </a:tr>
            </a:tbl>
          </a:graphicData>
        </a:graphic>
      </p:graphicFrame>
      <p:sp>
        <p:nvSpPr>
          <p:cNvPr id="15" name="TextBox 14"/>
          <p:cNvSpPr txBox="1"/>
          <p:nvPr/>
        </p:nvSpPr>
        <p:spPr>
          <a:xfrm>
            <a:off x="6242152" y="5065776"/>
            <a:ext cx="5291176" cy="548640"/>
          </a:xfrm>
          <a:prstGeom prst="rect">
            <a:avLst/>
          </a:prstGeom>
          <a:noFill/>
        </p:spPr>
        <p:txBody>
          <a:bodyPr wrap="square" anchor="t" lIns="0" rIns="0" tIns="0" bIns="0">
            <a:spAutoFit/>
          </a:bodyPr>
          <a:lstStyle/>
          <a:p>
            <a:pPr algn="l">
              <a:lnSpc>
                <a:spcPct val="116000"/>
              </a:lnSpc>
              <a:spcAft>
                <a:spcPts val="0"/>
              </a:spcAft>
            </a:pPr>
            <a:r>
              <a:rPr sz="1150" b="1" i="0">
                <a:solidFill>
                  <a:srgbClr val="243018"/>
                </a:solidFill>
                <a:latin typeface="Calibri"/>
              </a:rPr>
              <a:t>What I need from you:  </a:t>
            </a:r>
            <a:r>
              <a:rPr sz="1150" b="0" i="0">
                <a:solidFill>
                  <a:srgbClr val="5B6450"/>
                </a:solidFill>
                <a:latin typeface="Calibri"/>
              </a:rPr>
              <a:t>the launch cities — which decides when we switch the pincode list back on — and whether a confirmation email is launch-blocking. I think it is.</a:t>
            </a:r>
          </a:p>
        </p:txBody>
      </p:sp>
      <p:sp>
        <p:nvSpPr>
          <p:cNvPr id="16" name="TextBox 15"/>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7" name="TextBox 16"/>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4533A"/>
                </a:solidFill>
                <a:latin typeface="Trebuchet MS"/>
              </a:rPr>
              <a:t>FOR QA</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Test strategy: the paths, the matrix, and what's mocked</a:t>
            </a:r>
          </a:p>
        </p:txBody>
      </p:sp>
      <p:sp>
        <p:nvSpPr>
          <p:cNvPr id="6" name="TextBox 5"/>
          <p:cNvSpPr txBox="1"/>
          <p:nvPr/>
        </p:nvSpPr>
        <p:spPr>
          <a:xfrm>
            <a:off x="658368" y="1298448"/>
            <a:ext cx="3515258"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CRITICAL PATHS TO COVER</a:t>
            </a:r>
          </a:p>
        </p:txBody>
      </p:sp>
      <p:sp>
        <p:nvSpPr>
          <p:cNvPr id="7" name="TextBox 6"/>
          <p:cNvSpPr txBox="1"/>
          <p:nvPr/>
        </p:nvSpPr>
        <p:spPr>
          <a:xfrm>
            <a:off x="658368" y="1536192"/>
            <a:ext cx="3515258" cy="365760"/>
          </a:xfrm>
          <a:prstGeom prst="rect">
            <a:avLst/>
          </a:prstGeom>
          <a:noFill/>
        </p:spPr>
        <p:txBody>
          <a:bodyPr wrap="square" lIns="0" rIns="0" tIns="0" bIns="0">
            <a:spAutoFit/>
          </a:bodyPr>
          <a:lstStyle/>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One-time order, happy path</a:t>
            </a:r>
            <a:r>
              <a:rPr sz="1050">
                <a:solidFill>
                  <a:srgbClr val="5B6450"/>
                </a:solidFill>
                <a:latin typeface="Calibri"/>
              </a:rPr>
              <a:t>  browse → cart → all four checkout steps → order visible in admin</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Subscription order</a:t>
            </a:r>
            <a:r>
              <a:rPr sz="1050">
                <a:solidFill>
                  <a:srgbClr val="5B6450"/>
                </a:solidFill>
                <a:latin typeface="Calibri"/>
              </a:rPr>
              <a:t>  plan → cadence → config → checkout. Confirm the price comes from the server, not the form.</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Payment decline</a:t>
            </a:r>
            <a:r>
              <a:rPr sz="1050">
                <a:solidFill>
                  <a:srgbClr val="5B6450"/>
                </a:solidFill>
                <a:latin typeface="Calibri"/>
              </a:rPr>
              <a:t>  confirm nothing is written — no order, and no profile update</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Guest → registered</a:t>
            </a:r>
            <a:r>
              <a:rPr sz="1050">
                <a:solidFill>
                  <a:srgbClr val="5B6450"/>
                </a:solidFill>
                <a:latin typeface="Calibri"/>
              </a:rPr>
              <a:t>  order as a guest, sign up with the same email, confirm history attaches and no duplicate appears</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Public tracking</a:t>
            </a:r>
            <a:r>
              <a:rPr sz="1050">
                <a:solidFill>
                  <a:srgbClr val="5B6450"/>
                </a:solidFill>
                <a:latin typeface="Calibri"/>
              </a:rPr>
              <a:t>  order ID alone must fail; ID plus email must succeed</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Cart persistence</a:t>
            </a:r>
            <a:r>
              <a:rPr sz="1050">
                <a:solidFill>
                  <a:srgbClr val="5B6450"/>
                </a:solidFill>
                <a:latin typeface="Calibri"/>
              </a:rPr>
              <a:t>  reload mid-cart, and confirm two different box fills stay separate lines</a:t>
            </a:r>
          </a:p>
        </p:txBody>
      </p:sp>
      <p:sp>
        <p:nvSpPr>
          <p:cNvPr id="8" name="TextBox 7"/>
          <p:cNvSpPr txBox="1"/>
          <p:nvPr/>
        </p:nvSpPr>
        <p:spPr>
          <a:xfrm>
            <a:off x="4338218" y="1298448"/>
            <a:ext cx="3515258"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NEGATIVE &amp; EDGE CASES</a:t>
            </a:r>
          </a:p>
        </p:txBody>
      </p:sp>
      <p:sp>
        <p:nvSpPr>
          <p:cNvPr id="9" name="TextBox 8"/>
          <p:cNvSpPr txBox="1"/>
          <p:nvPr/>
        </p:nvSpPr>
        <p:spPr>
          <a:xfrm>
            <a:off x="4338218" y="1536192"/>
            <a:ext cx="3515258" cy="365760"/>
          </a:xfrm>
          <a:prstGeom prst="rect">
            <a:avLst/>
          </a:prstGeom>
          <a:noFill/>
        </p:spPr>
        <p:txBody>
          <a:bodyPr wrap="square" lIns="0" rIns="0" tIns="0" bIns="0">
            <a:spAutoFit/>
          </a:bodyPr>
          <a:lstStyle/>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Call the server actions directly.</a:t>
            </a:r>
            <a:r>
              <a:rPr sz="1050">
                <a:solidFill>
                  <a:srgbClr val="5B6450"/>
                </a:solidFill>
                <a:latin typeface="Calibri"/>
              </a:rPr>
              <a:t>  The UI gate is a convenience; the action is the boundary. Every action must re-validate rather than trust the form.</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Try to order as somebody else.</a:t>
            </a:r>
            <a:r>
              <a:rPr sz="1050">
                <a:solidFill>
                  <a:srgbClr val="5B6450"/>
                </a:solidFill>
                <a:latin typeface="Calibri"/>
              </a:rPr>
              <a:t>  Identity now comes off the server session, so a request naming another email must be ignored, not honoured.</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Double-submit checkout.</a:t>
            </a:r>
            <a:r>
              <a:rPr sz="1050">
                <a:solidFill>
                  <a:srgbClr val="5B6450"/>
                </a:solidFill>
                <a:latin typeface="Calibri"/>
              </a:rPr>
              <a:t>  Expected to fail today — no idempotency key, so this should produce two charges. Log it; don't fix it in test.</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Two concurrent orders.</a:t>
            </a:r>
            <a:r>
              <a:rPr sz="1050">
                <a:solidFill>
                  <a:srgbClr val="5B6450"/>
                </a:solidFill>
                <a:latin typeface="Calibri"/>
              </a:rPr>
              <a:t>  Against the JSON store, one will be lost. Known, and the reason the database step exists.</a:t>
            </a:r>
          </a:p>
          <a:p>
            <a:pPr marL="173736" indent="-173736">
              <a:lnSpc>
                <a:spcPct val="114000"/>
              </a:lnSpc>
              <a:spcAft>
                <a:spcPts val="576"/>
              </a:spcAft>
            </a:pPr>
            <a:r>
              <a:rPr sz="577" b="1">
                <a:solidFill>
                  <a:srgbClr val="D4533A"/>
                </a:solidFill>
                <a:latin typeface="Calibri"/>
              </a:rPr>
              <a:t>●  </a:t>
            </a:r>
            <a:r>
              <a:rPr sz="1050" b="1">
                <a:solidFill>
                  <a:srgbClr val="243018"/>
                </a:solidFill>
                <a:latin typeface="Calibri"/>
              </a:rPr>
              <a:t>Empty cart, invalid pincode, missing date.</a:t>
            </a:r>
            <a:r>
              <a:rPr sz="1050">
                <a:solidFill>
                  <a:srgbClr val="5B6450"/>
                </a:solidFill>
                <a:latin typeface="Calibri"/>
              </a:rPr>
              <a:t>  All three must be rejected server-side, not only in the form.</a:t>
            </a:r>
          </a:p>
        </p:txBody>
      </p:sp>
      <p:sp>
        <p:nvSpPr>
          <p:cNvPr id="10" name="TextBox 9"/>
          <p:cNvSpPr txBox="1"/>
          <p:nvPr/>
        </p:nvSpPr>
        <p:spPr>
          <a:xfrm>
            <a:off x="8018068" y="1298448"/>
            <a:ext cx="3515258"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THE STATUS MATRIX</a:t>
            </a:r>
          </a:p>
        </p:txBody>
      </p:sp>
      <p:sp>
        <p:nvSpPr>
          <p:cNvPr id="11" name="Rectangle 10"/>
          <p:cNvSpPr/>
          <p:nvPr/>
        </p:nvSpPr>
        <p:spPr>
          <a:xfrm>
            <a:off x="8018068" y="1536192"/>
            <a:ext cx="3515258" cy="1170432"/>
          </a:xfrm>
          <a:prstGeom prst="rect">
            <a:avLst/>
          </a:prstGeom>
          <a:solidFill>
            <a:srgbClr val="FFFFFF"/>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64372" y="1645920"/>
            <a:ext cx="3222650" cy="950976"/>
          </a:xfrm>
          <a:prstGeom prst="rect">
            <a:avLst/>
          </a:prstGeom>
          <a:noFill/>
        </p:spPr>
        <p:txBody>
          <a:bodyPr wrap="none" lIns="0" rIns="0" tIns="0" bIns="0">
            <a:spAutoFit/>
          </a:bodyPr>
          <a:lstStyle/>
          <a:p>
            <a:pPr>
              <a:lnSpc>
                <a:spcPct val="104000"/>
              </a:lnSpc>
            </a:pPr>
            <a:r>
              <a:rPr sz="840">
                <a:solidFill>
                  <a:srgbClr val="193D20"/>
                </a:solidFill>
                <a:latin typeface="Consolas"/>
              </a:rPr>
              <a:t>pending</a:t>
            </a:r>
          </a:p>
          <a:p>
            <a:pPr>
              <a:lnSpc>
                <a:spcPct val="104000"/>
              </a:lnSpc>
            </a:pPr>
            <a:r>
              <a:rPr sz="840">
                <a:solidFill>
                  <a:srgbClr val="193D20"/>
                </a:solidFill>
                <a:latin typeface="Consolas"/>
              </a:rPr>
              <a:t>   |</a:t>
            </a:r>
          </a:p>
          <a:p>
            <a:pPr>
              <a:lnSpc>
                <a:spcPct val="104000"/>
              </a:lnSpc>
            </a:pPr>
            <a:r>
              <a:rPr sz="840">
                <a:solidFill>
                  <a:srgbClr val="193D20"/>
                </a:solidFill>
                <a:latin typeface="Consolas"/>
              </a:rPr>
              <a:t>   v</a:t>
            </a:r>
          </a:p>
          <a:p>
            <a:pPr>
              <a:lnSpc>
                <a:spcPct val="104000"/>
              </a:lnSpc>
            </a:pPr>
            <a:r>
              <a:rPr sz="840">
                <a:solidFill>
                  <a:srgbClr val="193D20"/>
                </a:solidFill>
                <a:latin typeface="Consolas"/>
              </a:rPr>
              <a:t>confirmed -&gt; pressing -&gt; out-for-delivery</a:t>
            </a:r>
          </a:p>
          <a:p>
            <a:pPr>
              <a:lnSpc>
                <a:spcPct val="104000"/>
              </a:lnSpc>
            </a:pPr>
            <a:r>
              <a:rPr sz="840">
                <a:solidFill>
                  <a:srgbClr val="193D20"/>
                </a:solidFill>
                <a:latin typeface="Consolas"/>
              </a:rPr>
              <a:t>                              |</a:t>
            </a:r>
          </a:p>
          <a:p>
            <a:pPr>
              <a:lnSpc>
                <a:spcPct val="104000"/>
              </a:lnSpc>
            </a:pPr>
            <a:r>
              <a:rPr sz="840">
                <a:solidFill>
                  <a:srgbClr val="193D20"/>
                </a:solidFill>
                <a:latin typeface="Consolas"/>
              </a:rPr>
              <a:t>                              v</a:t>
            </a:r>
          </a:p>
          <a:p>
            <a:pPr>
              <a:lnSpc>
                <a:spcPct val="104000"/>
              </a:lnSpc>
            </a:pPr>
            <a:r>
              <a:rPr sz="840">
                <a:solidFill>
                  <a:srgbClr val="193D20"/>
                </a:solidFill>
                <a:latin typeface="Consolas"/>
              </a:rPr>
              <a:t> cancelled &lt;---------------  delivered</a:t>
            </a:r>
          </a:p>
        </p:txBody>
      </p:sp>
      <p:sp>
        <p:nvSpPr>
          <p:cNvPr id="13" name="TextBox 12"/>
          <p:cNvSpPr txBox="1"/>
          <p:nvPr/>
        </p:nvSpPr>
        <p:spPr>
          <a:xfrm>
            <a:off x="8018068" y="2816352"/>
            <a:ext cx="3515258" cy="868680"/>
          </a:xfrm>
          <a:prstGeom prst="rect">
            <a:avLst/>
          </a:prstGeom>
          <a:noFill/>
        </p:spPr>
        <p:txBody>
          <a:bodyPr wrap="square" anchor="t" lIns="0" rIns="0" tIns="0" bIns="0">
            <a:spAutoFit/>
          </a:bodyPr>
          <a:lstStyle/>
          <a:p>
            <a:pPr algn="l">
              <a:lnSpc>
                <a:spcPct val="116000"/>
              </a:lnSpc>
              <a:spcAft>
                <a:spcPts val="0"/>
              </a:spcAft>
            </a:pPr>
            <a:r>
              <a:rPr sz="1050" b="0" i="0">
                <a:solidFill>
                  <a:srgbClr val="5B6450"/>
                </a:solidFill>
                <a:latin typeface="Calibri"/>
              </a:rPr>
              <a:t>Test that any status can be set from any status — </a:t>
            </a:r>
            <a:r>
              <a:rPr sz="1050" b="1" i="0">
                <a:solidFill>
                  <a:srgbClr val="D4533A"/>
                </a:solidFill>
                <a:latin typeface="Calibri"/>
              </a:rPr>
              <a:t>because today it can.</a:t>
            </a:r>
            <a:r>
              <a:rPr sz="1050" b="0" i="0">
                <a:solidFill>
                  <a:srgbClr val="5B6450"/>
                </a:solidFill>
                <a:latin typeface="Calibri"/>
              </a:rPr>
              <a:t> Transitions are unconstrained and the graph isn't enforced. Confirm each change appends to the order's history, and that the customer's timeline reflects it.</a:t>
            </a:r>
          </a:p>
        </p:txBody>
      </p:sp>
      <p:sp>
        <p:nvSpPr>
          <p:cNvPr id="14" name="Rectangle 13"/>
          <p:cNvSpPr/>
          <p:nvPr/>
        </p:nvSpPr>
        <p:spPr>
          <a:xfrm>
            <a:off x="8018068" y="3785616"/>
            <a:ext cx="3515258" cy="1755648"/>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82660" y="3931920"/>
            <a:ext cx="3186074" cy="219456"/>
          </a:xfrm>
          <a:prstGeom prst="rect">
            <a:avLst/>
          </a:prstGeom>
          <a:noFill/>
        </p:spPr>
        <p:txBody>
          <a:bodyPr wrap="square" anchor="t" lIns="0" rIns="0" tIns="0" bIns="0">
            <a:spAutoFit/>
          </a:bodyPr>
          <a:lstStyle/>
          <a:p>
            <a:pPr algn="l">
              <a:lnSpc>
                <a:spcPct val="100000"/>
              </a:lnSpc>
              <a:spcAft>
                <a:spcPts val="0"/>
              </a:spcAft>
            </a:pPr>
            <a:r>
              <a:rPr sz="1000" b="1" i="0">
                <a:solidFill>
                  <a:srgbClr val="2F5D34"/>
                </a:solidFill>
                <a:latin typeface="Trebuchet MS"/>
              </a:rPr>
              <a:t>WHAT'S MOCKED — SO TEST THE SEAM</a:t>
            </a:r>
          </a:p>
        </p:txBody>
      </p:sp>
      <p:sp>
        <p:nvSpPr>
          <p:cNvPr id="16" name="TextBox 15"/>
          <p:cNvSpPr txBox="1"/>
          <p:nvPr/>
        </p:nvSpPr>
        <p:spPr>
          <a:xfrm>
            <a:off x="8182660" y="4169664"/>
            <a:ext cx="3186074" cy="1325880"/>
          </a:xfrm>
          <a:prstGeom prst="rect">
            <a:avLst/>
          </a:prstGeom>
          <a:noFill/>
        </p:spPr>
        <p:txBody>
          <a:bodyPr wrap="square" anchor="t" lIns="0" rIns="0" tIns="0" bIns="0">
            <a:spAutoFit/>
          </a:bodyPr>
          <a:lstStyle/>
          <a:p>
            <a:pPr algn="l">
              <a:lnSpc>
                <a:spcPct val="116000"/>
              </a:lnSpc>
              <a:spcAft>
                <a:spcPts val="0"/>
              </a:spcAft>
            </a:pPr>
            <a:r>
              <a:rPr sz="1050" b="0" i="0">
                <a:solidFill>
                  <a:srgbClr val="5B6450"/>
                </a:solidFill>
                <a:latin typeface="Calibri"/>
              </a:rPr>
              <a:t>Payment is a stand-in that validates the instrument shape, waits about a second so “contacting your bank” is a real wait, and returns a reference. It already returns the exact shape the order persists — so test against that contract, not the fake. Then the real gateway swap is a body change with your suite still green.</a:t>
            </a:r>
          </a:p>
        </p:txBody>
      </p:sp>
      <p:sp>
        <p:nvSpPr>
          <p:cNvPr id="17" name="TextBox 16"/>
          <p:cNvSpPr txBox="1"/>
          <p:nvPr/>
        </p:nvSpPr>
        <p:spPr>
          <a:xfrm>
            <a:off x="658368" y="5431535"/>
            <a:ext cx="7178040" cy="457200"/>
          </a:xfrm>
          <a:prstGeom prst="rect">
            <a:avLst/>
          </a:prstGeom>
          <a:noFill/>
        </p:spPr>
        <p:txBody>
          <a:bodyPr wrap="square" anchor="t" lIns="0" rIns="0" tIns="0" bIns="0">
            <a:spAutoFit/>
          </a:bodyPr>
          <a:lstStyle/>
          <a:p>
            <a:pPr algn="l">
              <a:lnSpc>
                <a:spcPct val="116000"/>
              </a:lnSpc>
              <a:spcAft>
                <a:spcPts val="0"/>
              </a:spcAft>
            </a:pPr>
            <a:r>
              <a:rPr sz="1150" b="1" i="0">
                <a:solidFill>
                  <a:srgbClr val="243018"/>
                </a:solidFill>
                <a:latin typeface="Calibri"/>
              </a:rPr>
              <a:t>Non-functional, and honest about it:  </a:t>
            </a:r>
            <a:r>
              <a:rPr sz="1150" b="0" i="0">
                <a:solidFill>
                  <a:srgbClr val="5B6450"/>
                </a:solidFill>
                <a:latin typeface="Calibri"/>
              </a:rPr>
              <a:t>there's no CI, no automated suite and no load testing today. The first things worth automating are the one-time happy path and the decline path — between them they catch most regressions across the four write paths.</a:t>
            </a:r>
          </a:p>
        </p:txBody>
      </p:sp>
      <p:sp>
        <p:nvSpPr>
          <p:cNvPr id="18" name="TextBox 1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9" name="TextBox 1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4A7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4A7C8F"/>
                </a:solidFill>
                <a:latin typeface="Trebuchet MS"/>
              </a:rPr>
              <a:t>FOR DEVOPS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What runs today, and what production actually needs</a:t>
            </a:r>
          </a:p>
        </p:txBody>
      </p:sp>
      <p:sp>
        <p:nvSpPr>
          <p:cNvPr id="6" name="TextBox 5"/>
          <p:cNvSpPr txBox="1"/>
          <p:nvPr/>
        </p:nvSpPr>
        <p:spPr>
          <a:xfrm>
            <a:off x="658368"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4A7C8F"/>
                </a:solidFill>
                <a:latin typeface="Trebuchet MS"/>
              </a:rPr>
              <a:t>TODAY</a:t>
            </a:r>
          </a:p>
        </p:txBody>
      </p:sp>
      <p:graphicFrame>
        <p:nvGraphicFramePr>
          <p:cNvPr id="7" name="Table 6"/>
          <p:cNvGraphicFramePr>
            <a:graphicFrameLocks noGrp="1"/>
          </p:cNvGraphicFramePr>
          <p:nvPr/>
        </p:nvGraphicFramePr>
        <p:xfrm>
          <a:off x="658368" y="1536192"/>
          <a:ext cx="5291176" cy="2852928"/>
        </p:xfrm>
        <a:graphic>
          <a:graphicData uri="http://schemas.openxmlformats.org/drawingml/2006/table">
            <a:tbl>
              <a:tblPr firstRow="1">
                <a:tableStyleId>{5C22544A-7EE6-4342-B048-85BDC9FD1C3A}</a:tableStyleId>
              </a:tblPr>
              <a:tblGrid>
                <a:gridCol w="1488143"/>
                <a:gridCol w="3803033"/>
              </a:tblGrid>
              <a:tr h="292608">
                <a:tc>
                  <a:txBody>
                    <a:bodyPr wrap="square"/>
                    <a:lstStyle/>
                    <a:p>
                      <a:r>
                        <a:rPr sz="1050" b="1" i="0">
                          <a:solidFill>
                            <a:srgbClr val="F6F0E2"/>
                          </a:solidFill>
                          <a:latin typeface="Calibri"/>
                        </a:rPr>
                        <a:t>Concern</a:t>
                      </a:r>
                    </a:p>
                  </a:txBody>
                  <a:tcPr marL="91440" marR="73152" marT="36576" marB="36576" anchor="ctr">
                    <a:solidFill>
                      <a:srgbClr val="4A7C8F"/>
                    </a:solidFill>
                  </a:tcPr>
                </a:tc>
                <a:tc>
                  <a:txBody>
                    <a:bodyPr wrap="square"/>
                    <a:lstStyle/>
                    <a:p>
                      <a:r>
                        <a:rPr sz="1050" b="1" i="0">
                          <a:solidFill>
                            <a:srgbClr val="F6F0E2"/>
                          </a:solidFill>
                          <a:latin typeface="Calibri"/>
                        </a:rPr>
                        <a:t>Current state</a:t>
                      </a:r>
                    </a:p>
                  </a:txBody>
                  <a:tcPr marL="91440" marR="73152" marT="36576" marB="36576" anchor="ctr">
                    <a:solidFill>
                      <a:srgbClr val="4A7C8F"/>
                    </a:solidFill>
                  </a:tcPr>
                </a:tc>
              </a:tr>
              <a:tr h="365760">
                <a:tc>
                  <a:txBody>
                    <a:bodyPr wrap="square"/>
                    <a:lstStyle/>
                    <a:p>
                      <a:r>
                        <a:rPr sz="1050" b="1" i="0">
                          <a:solidFill>
                            <a:srgbClr val="243018"/>
                          </a:solidFill>
                          <a:latin typeface="Calibri"/>
                        </a:rPr>
                        <a:t>Runtime</a:t>
                      </a:r>
                    </a:p>
                  </a:txBody>
                  <a:tcPr marL="91440" marR="73152" marT="36576" marB="36576" anchor="ctr">
                    <a:solidFill>
                      <a:srgbClr val="F6F0E2"/>
                    </a:solidFill>
                  </a:tcPr>
                </a:tc>
                <a:tc>
                  <a:txBody>
                    <a:bodyPr wrap="square"/>
                    <a:lstStyle/>
                    <a:p>
                      <a:r>
                        <a:rPr sz="1050" b="0" i="0">
                          <a:solidFill>
                            <a:srgbClr val="243018"/>
                          </a:solidFill>
                          <a:latin typeface="Calibri"/>
                        </a:rPr>
                        <a:t>Two Next.js processes — storefront on 3000, admin on 3001</a:t>
                      </a:r>
                    </a:p>
                  </a:txBody>
                  <a:tcPr marL="91440" marR="73152" marT="36576" marB="36576" anchor="ctr">
                    <a:solidFill>
                      <a:srgbClr val="F6F0E2"/>
                    </a:solidFill>
                  </a:tcPr>
                </a:tc>
              </a:tr>
              <a:tr h="365760">
                <a:tc>
                  <a:txBody>
                    <a:bodyPr wrap="square"/>
                    <a:lstStyle/>
                    <a:p>
                      <a:r>
                        <a:rPr sz="1050" b="1" i="0">
                          <a:solidFill>
                            <a:srgbClr val="243018"/>
                          </a:solidFill>
                          <a:latin typeface="Calibri"/>
                        </a:rPr>
                        <a:t>Build &amp; tasks</a:t>
                      </a:r>
                    </a:p>
                  </a:txBody>
                  <a:tcPr marL="91440" marR="73152" marT="36576" marB="36576" anchor="ctr">
                    <a:solidFill>
                      <a:srgbClr val="FFFFFF"/>
                    </a:solidFill>
                  </a:tcPr>
                </a:tc>
                <a:tc>
                  <a:txBody>
                    <a:bodyPr wrap="square"/>
                    <a:lstStyle/>
                    <a:p>
                      <a:r>
                        <a:rPr sz="1050" b="0" i="0">
                          <a:solidFill>
                            <a:srgbClr val="243018"/>
                          </a:solidFill>
                          <a:latin typeface="Calibri"/>
                        </a:rPr>
                        <a:t>A Turborepo pipeline over a pnpm workspace, with caching</a:t>
                      </a:r>
                    </a:p>
                  </a:txBody>
                  <a:tcPr marL="91440" marR="73152" marT="36576" marB="36576" anchor="ctr">
                    <a:solidFill>
                      <a:srgbClr val="FFFFFF"/>
                    </a:solidFill>
                  </a:tcPr>
                </a:tc>
              </a:tr>
              <a:tr h="365760">
                <a:tc>
                  <a:txBody>
                    <a:bodyPr wrap="square"/>
                    <a:lstStyle/>
                    <a:p>
                      <a:r>
                        <a:rPr sz="1050" b="1" i="0">
                          <a:solidFill>
                            <a:srgbClr val="243018"/>
                          </a:solidFill>
                          <a:latin typeface="Calibri"/>
                        </a:rPr>
                        <a:t>Persistence</a:t>
                      </a:r>
                    </a:p>
                  </a:txBody>
                  <a:tcPr marL="91440" marR="73152" marT="36576" marB="36576" anchor="ctr">
                    <a:solidFill>
                      <a:srgbClr val="F6F0E2"/>
                    </a:solidFill>
                  </a:tcPr>
                </a:tc>
                <a:tc>
                  <a:txBody>
                    <a:bodyPr wrap="square"/>
                    <a:lstStyle/>
                    <a:p>
                      <a:r>
                        <a:rPr sz="1050" b="0" i="0">
                          <a:solidFill>
                            <a:srgbClr val="243018"/>
                          </a:solidFill>
                          <a:latin typeface="Calibri"/>
                        </a:rPr>
                        <a:t>Two JSON files at the repo root, shared by both processes</a:t>
                      </a:r>
                    </a:p>
                  </a:txBody>
                  <a:tcPr marL="91440" marR="73152" marT="36576" marB="36576" anchor="ctr">
                    <a:solidFill>
                      <a:srgbClr val="F6F0E2"/>
                    </a:solidFill>
                  </a:tcPr>
                </a:tc>
              </a:tr>
              <a:tr h="365760">
                <a:tc>
                  <a:txBody>
                    <a:bodyPr wrap="square"/>
                    <a:lstStyle/>
                    <a:p>
                      <a:r>
                        <a:rPr sz="1050" b="1" i="0">
                          <a:solidFill>
                            <a:srgbClr val="243018"/>
                          </a:solidFill>
                          <a:latin typeface="Calibri"/>
                        </a:rPr>
                        <a:t>Secrets</a:t>
                      </a:r>
                    </a:p>
                  </a:txBody>
                  <a:tcPr marL="91440" marR="73152" marT="36576" marB="36576" anchor="ctr">
                    <a:solidFill>
                      <a:srgbClr val="FFFFFF"/>
                    </a:solidFill>
                  </a:tcPr>
                </a:tc>
                <a:tc>
                  <a:txBody>
                    <a:bodyPr wrap="square"/>
                    <a:lstStyle/>
                    <a:p>
                      <a:r>
                        <a:rPr sz="1050" b="0" i="0">
                          <a:solidFill>
                            <a:srgbClr val="243018"/>
                          </a:solidFill>
                          <a:latin typeface="Calibri"/>
                        </a:rPr>
                        <a:t>None — there's nothing to hold yet</a:t>
                      </a:r>
                    </a:p>
                  </a:txBody>
                  <a:tcPr marL="91440" marR="73152" marT="36576" marB="36576" anchor="ctr">
                    <a:solidFill>
                      <a:srgbClr val="FFFFFF"/>
                    </a:solidFill>
                  </a:tcPr>
                </a:tc>
              </a:tr>
              <a:tr h="365760">
                <a:tc>
                  <a:txBody>
                    <a:bodyPr wrap="square"/>
                    <a:lstStyle/>
                    <a:p>
                      <a:r>
                        <a:rPr sz="1050" b="1" i="0">
                          <a:solidFill>
                            <a:srgbClr val="243018"/>
                          </a:solidFill>
                          <a:latin typeface="Calibri"/>
                        </a:rPr>
                        <a:t>CI / CD</a:t>
                      </a:r>
                    </a:p>
                  </a:txBody>
                  <a:tcPr marL="91440" marR="73152" marT="36576" marB="36576" anchor="ctr">
                    <a:solidFill>
                      <a:srgbClr val="F6F0E2"/>
                    </a:solidFill>
                  </a:tcPr>
                </a:tc>
                <a:tc>
                  <a:txBody>
                    <a:bodyPr wrap="square"/>
                    <a:lstStyle/>
                    <a:p>
                      <a:r>
                        <a:rPr sz="1050" b="0" i="0">
                          <a:solidFill>
                            <a:srgbClr val="243018"/>
                          </a:solidFill>
                          <a:latin typeface="Calibri"/>
                        </a:rPr>
                        <a:t>None</a:t>
                      </a:r>
                    </a:p>
                  </a:txBody>
                  <a:tcPr marL="91440" marR="73152" marT="36576" marB="36576" anchor="ctr">
                    <a:solidFill>
                      <a:srgbClr val="F6F0E2"/>
                    </a:solidFill>
                  </a:tcPr>
                </a:tc>
              </a:tr>
              <a:tr h="365760">
                <a:tc>
                  <a:txBody>
                    <a:bodyPr wrap="square"/>
                    <a:lstStyle/>
                    <a:p>
                      <a:r>
                        <a:rPr sz="1050" b="1" i="0">
                          <a:solidFill>
                            <a:srgbClr val="243018"/>
                          </a:solidFill>
                          <a:latin typeface="Calibri"/>
                        </a:rPr>
                        <a:t>Observability</a:t>
                      </a:r>
                    </a:p>
                  </a:txBody>
                  <a:tcPr marL="91440" marR="73152" marT="36576" marB="36576" anchor="ctr">
                    <a:solidFill>
                      <a:srgbClr val="FFFFFF"/>
                    </a:solidFill>
                  </a:tcPr>
                </a:tc>
                <a:tc>
                  <a:txBody>
                    <a:bodyPr wrap="square"/>
                    <a:lstStyle/>
                    <a:p>
                      <a:r>
                        <a:rPr sz="1050" b="0" i="0">
                          <a:solidFill>
                            <a:srgbClr val="243018"/>
                          </a:solidFill>
                          <a:latin typeface="Calibri"/>
                        </a:rPr>
                        <a:t>None. No logs, no metrics, no error tracking.</a:t>
                      </a:r>
                    </a:p>
                  </a:txBody>
                  <a:tcPr marL="91440" marR="73152" marT="36576" marB="36576" anchor="ctr">
                    <a:solidFill>
                      <a:srgbClr val="FFFFFF"/>
                    </a:solidFill>
                  </a:tcPr>
                </a:tc>
              </a:tr>
              <a:tr h="365760">
                <a:tc>
                  <a:txBody>
                    <a:bodyPr wrap="square"/>
                    <a:lstStyle/>
                    <a:p>
                      <a:r>
                        <a:rPr sz="1050" b="1" i="0">
                          <a:solidFill>
                            <a:srgbClr val="243018"/>
                          </a:solidFill>
                          <a:latin typeface="Calibri"/>
                        </a:rPr>
                        <a:t>Environments</a:t>
                      </a:r>
                    </a:p>
                  </a:txBody>
                  <a:tcPr marL="91440" marR="73152" marT="36576" marB="36576" anchor="ctr">
                    <a:solidFill>
                      <a:srgbClr val="F6F0E2"/>
                    </a:solidFill>
                  </a:tcPr>
                </a:tc>
                <a:tc>
                  <a:txBody>
                    <a:bodyPr wrap="square"/>
                    <a:lstStyle/>
                    <a:p>
                      <a:r>
                        <a:rPr sz="1050" b="0" i="0">
                          <a:solidFill>
                            <a:srgbClr val="243018"/>
                          </a:solidFill>
                          <a:latin typeface="Calibri"/>
                        </a:rPr>
                        <a:t>Local only</a:t>
                      </a:r>
                    </a:p>
                  </a:txBody>
                  <a:tcPr marL="91440" marR="73152" marT="36576" marB="36576" anchor="ctr">
                    <a:solidFill>
                      <a:srgbClr val="F6F0E2"/>
                    </a:solidFill>
                  </a:tcPr>
                </a:tc>
              </a:tr>
            </a:tbl>
          </a:graphicData>
        </a:graphic>
      </p:graphicFrame>
      <p:sp>
        <p:nvSpPr>
          <p:cNvPr id="8" name="Rectangle 7"/>
          <p:cNvSpPr/>
          <p:nvPr/>
        </p:nvSpPr>
        <p:spPr>
          <a:xfrm>
            <a:off x="658368" y="4553712"/>
            <a:ext cx="5291176" cy="1316736"/>
          </a:xfrm>
          <a:prstGeom prst="rect">
            <a:avLst/>
          </a:prstGeom>
          <a:solidFill>
            <a:srgbClr val="FDF4E8"/>
          </a:solidFill>
          <a:ln w="12700">
            <a:solidFill>
              <a:srgbClr val="D977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4700016"/>
            <a:ext cx="4925416" cy="219456"/>
          </a:xfrm>
          <a:prstGeom prst="rect">
            <a:avLst/>
          </a:prstGeom>
          <a:noFill/>
        </p:spPr>
        <p:txBody>
          <a:bodyPr wrap="square" anchor="t" lIns="0" rIns="0" tIns="0" bIns="0">
            <a:spAutoFit/>
          </a:bodyPr>
          <a:lstStyle/>
          <a:p>
            <a:pPr algn="l">
              <a:lnSpc>
                <a:spcPct val="100000"/>
              </a:lnSpc>
              <a:spcAft>
                <a:spcPts val="0"/>
              </a:spcAft>
            </a:pPr>
            <a:r>
              <a:rPr sz="1000" b="1" i="0">
                <a:solidFill>
                  <a:srgbClr val="D4533A"/>
                </a:solidFill>
                <a:latin typeface="Trebuchet MS"/>
              </a:rPr>
              <a:t>⚠  THE GOTCHA THAT WILL COST SOMEBODY AN AFTERNOON</a:t>
            </a:r>
          </a:p>
        </p:txBody>
      </p:sp>
      <p:sp>
        <p:nvSpPr>
          <p:cNvPr id="10" name="TextBox 9"/>
          <p:cNvSpPr txBox="1"/>
          <p:nvPr/>
        </p:nvSpPr>
        <p:spPr>
          <a:xfrm>
            <a:off x="841248" y="4937760"/>
            <a:ext cx="4925416" cy="868680"/>
          </a:xfrm>
          <a:prstGeom prst="rect">
            <a:avLst/>
          </a:prstGeom>
          <a:noFill/>
        </p:spPr>
        <p:txBody>
          <a:bodyPr wrap="square" anchor="t" lIns="0" rIns="0" tIns="0" bIns="0">
            <a:spAutoFit/>
          </a:bodyPr>
          <a:lstStyle/>
          <a:p>
            <a:pPr algn="l">
              <a:lnSpc>
                <a:spcPct val="116000"/>
              </a:lnSpc>
              <a:spcAft>
                <a:spcPts val="0"/>
              </a:spcAft>
            </a:pPr>
            <a:r>
              <a:rPr sz="1150" b="0" i="0">
                <a:solidFill>
                  <a:srgbClr val="5B6450"/>
                </a:solidFill>
                <a:latin typeface="Calibri"/>
              </a:rPr>
              <a:t>Cookies ignore port. In local development the storefront and the admin app share one cookie jar, so their sessions collide. The answer is distinct cookie names plus validating the session's role on read — never trusting the cookie name alone.</a:t>
            </a:r>
          </a:p>
        </p:txBody>
      </p:sp>
      <p:sp>
        <p:nvSpPr>
          <p:cNvPr id="11" name="TextBox 10"/>
          <p:cNvSpPr txBox="1"/>
          <p:nvPr/>
        </p:nvSpPr>
        <p:spPr>
          <a:xfrm>
            <a:off x="6242152" y="1298448"/>
            <a:ext cx="5291176" cy="219456"/>
          </a:xfrm>
          <a:prstGeom prst="rect">
            <a:avLst/>
          </a:prstGeom>
          <a:noFill/>
        </p:spPr>
        <p:txBody>
          <a:bodyPr wrap="square" anchor="t" lIns="0" rIns="0" tIns="0" bIns="0">
            <a:spAutoFit/>
          </a:bodyPr>
          <a:lstStyle/>
          <a:p>
            <a:pPr algn="l">
              <a:lnSpc>
                <a:spcPct val="100000"/>
              </a:lnSpc>
              <a:spcAft>
                <a:spcPts val="0"/>
              </a:spcAft>
            </a:pPr>
            <a:r>
              <a:rPr sz="1000" b="1" i="0">
                <a:solidFill>
                  <a:srgbClr val="4A7C8F"/>
                </a:solidFill>
                <a:latin typeface="Trebuchet MS"/>
              </a:rPr>
              <a:t>WHAT PHASE 4 WILL ASK YOU FOR</a:t>
            </a:r>
          </a:p>
        </p:txBody>
      </p:sp>
      <p:sp>
        <p:nvSpPr>
          <p:cNvPr id="12" name="TextBox 11"/>
          <p:cNvSpPr txBox="1"/>
          <p:nvPr/>
        </p:nvSpPr>
        <p:spPr>
          <a:xfrm>
            <a:off x="6242152" y="1536192"/>
            <a:ext cx="5291176" cy="365760"/>
          </a:xfrm>
          <a:prstGeom prst="rect">
            <a:avLst/>
          </a:prstGeom>
          <a:noFill/>
        </p:spPr>
        <p:txBody>
          <a:bodyPr wrap="square" lIns="0" rIns="0" tIns="0" bIns="0">
            <a:spAutoFit/>
          </a:bodyPr>
          <a:lstStyle/>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A managed Postgres per environment</a:t>
            </a:r>
            <a:r>
              <a:rPr sz="1050">
                <a:solidFill>
                  <a:srgbClr val="5B6450"/>
                </a:solidFill>
                <a:latin typeface="Calibri"/>
              </a:rPr>
              <a:t>  plus a migration step in the deploy. The JSON stores go away.</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Two deploy targets</a:t>
            </a:r>
            <a:r>
              <a:rPr sz="1050">
                <a:solidFill>
                  <a:srgbClr val="5B6450"/>
                </a:solidFill>
                <a:latin typeface="Calibri"/>
              </a:rPr>
              <a:t>  one project per app; the monorepo makes this straightforward</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Secrets management</a:t>
            </a:r>
            <a:r>
              <a:rPr sz="1050">
                <a:solidFill>
                  <a:srgbClr val="5B6450"/>
                </a:solidFill>
                <a:latin typeface="Calibri"/>
              </a:rPr>
              <a:t>  gateway keys, the database URL, and the session configuration</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A public webhook route</a:t>
            </a:r>
            <a:r>
              <a:rPr sz="1050">
                <a:solidFill>
                  <a:srgbClr val="5B6450"/>
                </a:solidFill>
                <a:latin typeface="Calibri"/>
              </a:rPr>
              <a:t>  the gateway needs a callback endpoint — the first thing here that must be reachable from outside</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A cookie-domain strategy</a:t>
            </a:r>
            <a:r>
              <a:rPr sz="1050">
                <a:solidFill>
                  <a:srgbClr val="5B6450"/>
                </a:solidFill>
                <a:latin typeface="Calibri"/>
              </a:rPr>
              <a:t>  storefront and admin need separate cookie names and a real domain split, not just ports</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A data migration window</a:t>
            </a:r>
            <a:r>
              <a:rPr sz="1050">
                <a:solidFill>
                  <a:srgbClr val="5B6450"/>
                </a:solidFill>
                <a:latin typeface="Calibri"/>
              </a:rPr>
              <a:t>  the existing orders and users files need a one-shot import. Password hashes are portable, so nobody has to reset one.</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Rate limiting on sign-in</a:t>
            </a:r>
            <a:r>
              <a:rPr sz="1050">
                <a:solidFill>
                  <a:srgbClr val="5B6450"/>
                </a:solidFill>
                <a:latin typeface="Calibri"/>
              </a:rPr>
              <a:t>  per email and per IP. An in-memory window works to start but won't hold across instances — flag that when we scale out.</a:t>
            </a:r>
          </a:p>
          <a:p>
            <a:pPr marL="173736" indent="-173736">
              <a:lnSpc>
                <a:spcPct val="114000"/>
              </a:lnSpc>
              <a:spcAft>
                <a:spcPts val="576"/>
              </a:spcAft>
            </a:pPr>
            <a:r>
              <a:rPr sz="577" b="1">
                <a:solidFill>
                  <a:srgbClr val="4A7C8F"/>
                </a:solidFill>
                <a:latin typeface="Calibri"/>
              </a:rPr>
              <a:t>●  </a:t>
            </a:r>
            <a:r>
              <a:rPr sz="1050" b="1">
                <a:solidFill>
                  <a:srgbClr val="243018"/>
                </a:solidFill>
                <a:latin typeface="Calibri"/>
              </a:rPr>
              <a:t>Backups and a restore drill</a:t>
            </a:r>
            <a:r>
              <a:rPr sz="1050">
                <a:solidFill>
                  <a:srgbClr val="5B6450"/>
                </a:solidFill>
                <a:latin typeface="Calibri"/>
              </a:rPr>
              <a:t>  the first day we have data worth losing is the day Postgres lands</a:t>
            </a:r>
          </a:p>
        </p:txBody>
      </p:sp>
      <p:sp>
        <p:nvSpPr>
          <p:cNvPr id="13" name="TextBox 12"/>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4" name="TextBox 13"/>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WHERE THE BUILD STANDS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Honest status, by area</a:t>
            </a:r>
          </a:p>
        </p:txBody>
      </p:sp>
      <p:graphicFrame>
        <p:nvGraphicFramePr>
          <p:cNvPr id="6" name="Table 5"/>
          <p:cNvGraphicFramePr>
            <a:graphicFrameLocks noGrp="1"/>
          </p:cNvGraphicFramePr>
          <p:nvPr/>
        </p:nvGraphicFramePr>
        <p:xfrm>
          <a:off x="658368" y="1298448"/>
          <a:ext cx="10874959" cy="4407408"/>
        </p:xfrm>
        <a:graphic>
          <a:graphicData uri="http://schemas.openxmlformats.org/drawingml/2006/table">
            <a:tbl>
              <a:tblPr firstRow="1">
                <a:tableStyleId>{5C22544A-7EE6-4342-B048-85BDC9FD1C3A}</a:tableStyleId>
              </a:tblPr>
              <a:tblGrid>
                <a:gridCol w="2202523"/>
                <a:gridCol w="1055376"/>
                <a:gridCol w="7617060"/>
              </a:tblGrid>
              <a:tr h="292608">
                <a:tc>
                  <a:txBody>
                    <a:bodyPr wrap="square"/>
                    <a:lstStyle/>
                    <a:p>
                      <a:r>
                        <a:rPr sz="1050" b="1" i="0">
                          <a:solidFill>
                            <a:srgbClr val="F6F0E2"/>
                          </a:solidFill>
                          <a:latin typeface="Calibri"/>
                        </a:rPr>
                        <a:t>Area</a:t>
                      </a:r>
                    </a:p>
                  </a:txBody>
                  <a:tcPr marL="91440" marR="73152" marT="36576" marB="36576" anchor="ctr">
                    <a:solidFill>
                      <a:srgbClr val="2F5D34"/>
                    </a:solidFill>
                  </a:tcPr>
                </a:tc>
                <a:tc>
                  <a:txBody>
                    <a:bodyPr wrap="square"/>
                    <a:lstStyle/>
                    <a:p>
                      <a:r>
                        <a:rPr sz="1050" b="1" i="0">
                          <a:solidFill>
                            <a:srgbClr val="F6F0E2"/>
                          </a:solidFill>
                          <a:latin typeface="Calibri"/>
                        </a:rPr>
                        <a:t>Status</a:t>
                      </a:r>
                    </a:p>
                  </a:txBody>
                  <a:tcPr marL="91440" marR="73152" marT="36576" marB="36576" anchor="ctr">
                    <a:solidFill>
                      <a:srgbClr val="2F5D34"/>
                    </a:solidFill>
                  </a:tcPr>
                </a:tc>
                <a:tc>
                  <a:txBody>
                    <a:bodyPr wrap="square"/>
                    <a:lstStyle/>
                    <a:p>
                      <a:r>
                        <a:rPr sz="1050" b="1" i="0">
                          <a:solidFill>
                            <a:srgbClr val="F6F0E2"/>
                          </a:solidFill>
                          <a:latin typeface="Calibri"/>
                        </a:rPr>
                        <a:t>Detail</a:t>
                      </a:r>
                    </a:p>
                  </a:txBody>
                  <a:tcPr marL="91440" marR="73152" marT="36576" marB="36576" anchor="ctr">
                    <a:solidFill>
                      <a:srgbClr val="2F5D34"/>
                    </a:solidFill>
                  </a:tcPr>
                </a:tc>
              </a:tr>
              <a:tr h="342900">
                <a:tc>
                  <a:txBody>
                    <a:bodyPr wrap="square"/>
                    <a:lstStyle/>
                    <a:p>
                      <a:r>
                        <a:rPr sz="1050" b="1" i="0">
                          <a:solidFill>
                            <a:srgbClr val="243018"/>
                          </a:solidFill>
                          <a:latin typeface="Calibri"/>
                        </a:rPr>
                        <a:t>Catalogue &amp; browsing</a:t>
                      </a:r>
                    </a:p>
                  </a:txBody>
                  <a:tcPr marL="91440" marR="73152" marT="36576" marB="36576" anchor="ctr">
                    <a:solidFill>
                      <a:srgbClr val="F6F0E2"/>
                    </a:solidFill>
                  </a:tcPr>
                </a:tc>
                <a:tc>
                  <a:txBody>
                    <a:bodyPr wrap="square"/>
                    <a:lstStyle/>
                    <a:p>
                      <a:r>
                        <a:rPr sz="1050" b="1" i="0">
                          <a:solidFill>
                            <a:srgbClr val="5A8A4A"/>
                          </a:solidFill>
                          <a:latin typeface="Calibri"/>
                        </a:rPr>
                        <a:t>■ Built</a:t>
                      </a:r>
                    </a:p>
                  </a:txBody>
                  <a:tcPr marL="91440" marR="73152" marT="36576" marB="36576" anchor="ctr">
                    <a:solidFill>
                      <a:srgbClr val="F6F0E2"/>
                    </a:solidFill>
                  </a:tcPr>
                </a:tc>
                <a:tc>
                  <a:txBody>
                    <a:bodyPr wrap="square"/>
                    <a:lstStyle/>
                    <a:p>
                      <a:r>
                        <a:rPr sz="1050" b="0" i="0">
                          <a:solidFill>
                            <a:srgbClr val="243018"/>
                          </a:solidFill>
                          <a:latin typeface="Calibri"/>
                        </a:rPr>
                        <a:t>Home, products, detail pages, seasonal, combos, build-your-own box — all data-driven</a:t>
                      </a:r>
                    </a:p>
                  </a:txBody>
                  <a:tcPr marL="91440" marR="73152" marT="36576" marB="36576" anchor="ctr">
                    <a:solidFill>
                      <a:srgbClr val="F6F0E2"/>
                    </a:solidFill>
                  </a:tcPr>
                </a:tc>
              </a:tr>
              <a:tr h="342900">
                <a:tc>
                  <a:txBody>
                    <a:bodyPr wrap="square"/>
                    <a:lstStyle/>
                    <a:p>
                      <a:r>
                        <a:rPr sz="1050" b="1" i="0">
                          <a:solidFill>
                            <a:srgbClr val="243018"/>
                          </a:solidFill>
                          <a:latin typeface="Calibri"/>
                        </a:rPr>
                        <a:t>Cart</a:t>
                      </a:r>
                    </a:p>
                  </a:txBody>
                  <a:tcPr marL="91440" marR="73152" marT="36576" marB="36576" anchor="ctr">
                    <a:solidFill>
                      <a:srgbClr val="FFFFFF"/>
                    </a:solidFill>
                  </a:tcPr>
                </a:tc>
                <a:tc>
                  <a:txBody>
                    <a:bodyPr wrap="square"/>
                    <a:lstStyle/>
                    <a:p>
                      <a:r>
                        <a:rPr sz="1050" b="1" i="0">
                          <a:solidFill>
                            <a:srgbClr val="5A8A4A"/>
                          </a:solidFill>
                          <a:latin typeface="Calibri"/>
                        </a:rPr>
                        <a:t>■ Built</a:t>
                      </a:r>
                    </a:p>
                  </a:txBody>
                  <a:tcPr marL="91440" marR="73152" marT="36576" marB="36576" anchor="ctr">
                    <a:solidFill>
                      <a:srgbClr val="FFFFFF"/>
                    </a:solidFill>
                  </a:tcPr>
                </a:tc>
                <a:tc>
                  <a:txBody>
                    <a:bodyPr wrap="square"/>
                    <a:lstStyle/>
                    <a:p>
                      <a:r>
                        <a:rPr sz="1050" b="0" i="0">
                          <a:solidFill>
                            <a:srgbClr val="243018"/>
                          </a:solidFill>
                          <a:latin typeface="Calibri"/>
                        </a:rPr>
                        <a:t>Drawer, quantities, persistence, fly-to-cart</a:t>
                      </a:r>
                    </a:p>
                  </a:txBody>
                  <a:tcPr marL="91440" marR="73152" marT="36576" marB="36576" anchor="ctr">
                    <a:solidFill>
                      <a:srgbClr val="FFFFFF"/>
                    </a:solidFill>
                  </a:tcPr>
                </a:tc>
              </a:tr>
              <a:tr h="342900">
                <a:tc>
                  <a:txBody>
                    <a:bodyPr wrap="square"/>
                    <a:lstStyle/>
                    <a:p>
                      <a:r>
                        <a:rPr sz="1050" b="1" i="0">
                          <a:solidFill>
                            <a:srgbClr val="243018"/>
                          </a:solidFill>
                          <a:latin typeface="Calibri"/>
                        </a:rPr>
                        <a:t>One-time checkout</a:t>
                      </a:r>
                    </a:p>
                  </a:txBody>
                  <a:tcPr marL="91440" marR="73152" marT="36576" marB="36576" anchor="ctr">
                    <a:solidFill>
                      <a:srgbClr val="F6F0E2"/>
                    </a:solidFill>
                  </a:tcPr>
                </a:tc>
                <a:tc>
                  <a:txBody>
                    <a:bodyPr wrap="square"/>
                    <a:lstStyle/>
                    <a:p>
                      <a:r>
                        <a:rPr sz="1050" b="1" i="0">
                          <a:solidFill>
                            <a:srgbClr val="5A8A4A"/>
                          </a:solidFill>
                          <a:latin typeface="Calibri"/>
                        </a:rPr>
                        <a:t>■ Built</a:t>
                      </a:r>
                    </a:p>
                  </a:txBody>
                  <a:tcPr marL="91440" marR="73152" marT="36576" marB="36576" anchor="ctr">
                    <a:solidFill>
                      <a:srgbClr val="F6F0E2"/>
                    </a:solidFill>
                  </a:tcPr>
                </a:tc>
                <a:tc>
                  <a:txBody>
                    <a:bodyPr wrap="square"/>
                    <a:lstStyle/>
                    <a:p>
                      <a:r>
                        <a:rPr sz="1050" b="0" i="0">
                          <a:solidFill>
                            <a:srgbClr val="243018"/>
                          </a:solidFill>
                          <a:latin typeface="Calibri"/>
                        </a:rPr>
                        <a:t>Four steps, inline validation, order persisted, confirmation page</a:t>
                      </a:r>
                    </a:p>
                  </a:txBody>
                  <a:tcPr marL="91440" marR="73152" marT="36576" marB="36576" anchor="ctr">
                    <a:solidFill>
                      <a:srgbClr val="F6F0E2"/>
                    </a:solidFill>
                  </a:tcPr>
                </a:tc>
              </a:tr>
              <a:tr h="342900">
                <a:tc>
                  <a:txBody>
                    <a:bodyPr wrap="square"/>
                    <a:lstStyle/>
                    <a:p>
                      <a:r>
                        <a:rPr sz="1050" b="1" i="0">
                          <a:solidFill>
                            <a:srgbClr val="243018"/>
                          </a:solidFill>
                          <a:latin typeface="Calibri"/>
                        </a:rPr>
                        <a:t>Payment</a:t>
                      </a:r>
                    </a:p>
                  </a:txBody>
                  <a:tcPr marL="91440" marR="73152" marT="36576" marB="36576" anchor="ctr">
                    <a:solidFill>
                      <a:srgbClr val="FFFFFF"/>
                    </a:solidFill>
                  </a:tcPr>
                </a:tc>
                <a:tc>
                  <a:txBody>
                    <a:bodyPr wrap="square"/>
                    <a:lstStyle/>
                    <a:p>
                      <a:r>
                        <a:rPr sz="1050" b="1" i="0">
                          <a:solidFill>
                            <a:srgbClr val="E8B23F"/>
                          </a:solidFill>
                          <a:latin typeface="Calibri"/>
                        </a:rPr>
                        <a:t>■ Partial</a:t>
                      </a:r>
                    </a:p>
                  </a:txBody>
                  <a:tcPr marL="91440" marR="73152" marT="36576" marB="36576" anchor="ctr">
                    <a:solidFill>
                      <a:srgbClr val="FFFFFF"/>
                    </a:solidFill>
                  </a:tcPr>
                </a:tc>
                <a:tc>
                  <a:txBody>
                    <a:bodyPr wrap="square"/>
                    <a:lstStyle/>
                    <a:p>
                      <a:r>
                        <a:rPr sz="1050" b="0" i="0">
                          <a:solidFill>
                            <a:srgbClr val="243018"/>
                          </a:solidFill>
                          <a:latin typeface="Calibri"/>
                        </a:rPr>
                        <a:t>Mocked by design, with a real decline path behind a swappable seam</a:t>
                      </a:r>
                    </a:p>
                  </a:txBody>
                  <a:tcPr marL="91440" marR="73152" marT="36576" marB="36576" anchor="ctr">
                    <a:solidFill>
                      <a:srgbClr val="FFFFFF"/>
                    </a:solidFill>
                  </a:tcPr>
                </a:tc>
              </a:tr>
              <a:tr h="342900">
                <a:tc>
                  <a:txBody>
                    <a:bodyPr wrap="square"/>
                    <a:lstStyle/>
                    <a:p>
                      <a:r>
                        <a:rPr sz="1050" b="1" i="0">
                          <a:solidFill>
                            <a:srgbClr val="243018"/>
                          </a:solidFill>
                          <a:latin typeface="Calibri"/>
                        </a:rPr>
                        <a:t>Serviceability</a:t>
                      </a:r>
                    </a:p>
                  </a:txBody>
                  <a:tcPr marL="91440" marR="73152" marT="36576" marB="36576" anchor="ctr">
                    <a:solidFill>
                      <a:srgbClr val="F6F0E2"/>
                    </a:solidFill>
                  </a:tcPr>
                </a:tc>
                <a:tc>
                  <a:txBody>
                    <a:bodyPr wrap="square"/>
                    <a:lstStyle/>
                    <a:p>
                      <a:r>
                        <a:rPr sz="1050" b="1" i="0">
                          <a:solidFill>
                            <a:srgbClr val="E8B23F"/>
                          </a:solidFill>
                          <a:latin typeface="Calibri"/>
                        </a:rPr>
                        <a:t>■ Partial</a:t>
                      </a:r>
                    </a:p>
                  </a:txBody>
                  <a:tcPr marL="91440" marR="73152" marT="36576" marB="36576" anchor="ctr">
                    <a:solidFill>
                      <a:srgbClr val="F6F0E2"/>
                    </a:solidFill>
                  </a:tcPr>
                </a:tc>
                <a:tc>
                  <a:txBody>
                    <a:bodyPr wrap="square"/>
                    <a:lstStyle/>
                    <a:p>
                      <a:r>
                        <a:rPr sz="1050" b="0" i="0">
                          <a:solidFill>
                            <a:srgbClr val="243018"/>
                          </a:solidFill>
                          <a:latin typeface="Calibri"/>
                        </a:rPr>
                        <a:t>Built and wired, but the allow-list is switched off by a flag</a:t>
                      </a:r>
                    </a:p>
                  </a:txBody>
                  <a:tcPr marL="91440" marR="73152" marT="36576" marB="36576" anchor="ctr">
                    <a:solidFill>
                      <a:srgbClr val="F6F0E2"/>
                    </a:solidFill>
                  </a:tcPr>
                </a:tc>
              </a:tr>
              <a:tr h="342900">
                <a:tc>
                  <a:txBody>
                    <a:bodyPr wrap="square"/>
                    <a:lstStyle/>
                    <a:p>
                      <a:r>
                        <a:rPr sz="1050" b="1" i="0">
                          <a:solidFill>
                            <a:srgbClr val="243018"/>
                          </a:solidFill>
                          <a:latin typeface="Calibri"/>
                        </a:rPr>
                        <a:t>Delivery-date rule</a:t>
                      </a:r>
                    </a:p>
                  </a:txBody>
                  <a:tcPr marL="91440" marR="73152" marT="36576" marB="36576" anchor="ctr">
                    <a:solidFill>
                      <a:srgbClr val="FFFFFF"/>
                    </a:solidFill>
                  </a:tcPr>
                </a:tc>
                <a:tc>
                  <a:txBody>
                    <a:bodyPr wrap="square"/>
                    <a:lstStyle/>
                    <a:p>
                      <a:r>
                        <a:rPr sz="1050" b="1" i="0">
                          <a:solidFill>
                            <a:srgbClr val="E8B23F"/>
                          </a:solidFill>
                          <a:latin typeface="Calibri"/>
                        </a:rPr>
                        <a:t>■ Partial</a:t>
                      </a:r>
                    </a:p>
                  </a:txBody>
                  <a:tcPr marL="91440" marR="73152" marT="36576" marB="36576" anchor="ctr">
                    <a:solidFill>
                      <a:srgbClr val="FFFFFF"/>
                    </a:solidFill>
                  </a:tcPr>
                </a:tc>
                <a:tc>
                  <a:txBody>
                    <a:bodyPr wrap="square"/>
                    <a:lstStyle/>
                    <a:p>
                      <a:r>
                        <a:rPr sz="1050" b="0" i="0">
                          <a:solidFill>
                            <a:srgbClr val="243018"/>
                          </a:solidFill>
                          <a:latin typeface="Calibri"/>
                        </a:rPr>
                        <a:t>Three sources disagree — the form says today, the helpers say tomorrow onwards. A live bug.</a:t>
                      </a:r>
                    </a:p>
                  </a:txBody>
                  <a:tcPr marL="91440" marR="73152" marT="36576" marB="36576" anchor="ctr">
                    <a:solidFill>
                      <a:srgbClr val="FFFFFF"/>
                    </a:solidFill>
                  </a:tcPr>
                </a:tc>
              </a:tr>
              <a:tr h="342900">
                <a:tc>
                  <a:txBody>
                    <a:bodyPr wrap="square"/>
                    <a:lstStyle/>
                    <a:p>
                      <a:r>
                        <a:rPr sz="1050" b="1" i="0">
                          <a:solidFill>
                            <a:srgbClr val="243018"/>
                          </a:solidFill>
                          <a:latin typeface="Calibri"/>
                        </a:rPr>
                        <a:t>Subscriptions</a:t>
                      </a:r>
                    </a:p>
                  </a:txBody>
                  <a:tcPr marL="91440" marR="73152" marT="36576" marB="36576" anchor="ctr">
                    <a:solidFill>
                      <a:srgbClr val="F6F0E2"/>
                    </a:solidFill>
                  </a:tcPr>
                </a:tc>
                <a:tc>
                  <a:txBody>
                    <a:bodyPr wrap="square"/>
                    <a:lstStyle/>
                    <a:p>
                      <a:r>
                        <a:rPr sz="1050" b="1" i="0">
                          <a:solidFill>
                            <a:srgbClr val="E8B23F"/>
                          </a:solidFill>
                          <a:latin typeface="Calibri"/>
                        </a:rPr>
                        <a:t>■ Partial</a:t>
                      </a:r>
                    </a:p>
                  </a:txBody>
                  <a:tcPr marL="91440" marR="73152" marT="36576" marB="36576" anchor="ctr">
                    <a:solidFill>
                      <a:srgbClr val="F6F0E2"/>
                    </a:solidFill>
                  </a:tcPr>
                </a:tc>
                <a:tc>
                  <a:txBody>
                    <a:bodyPr wrap="square"/>
                    <a:lstStyle/>
                    <a:p>
                      <a:r>
                        <a:rPr sz="1050" b="0" i="0">
                          <a:solidFill>
                            <a:srgbClr val="243018"/>
                          </a:solidFill>
                          <a:latin typeface="Calibri"/>
                        </a:rPr>
                        <a:t>Plans, cadence and config work; one order is written and the recurrence is dropped</a:t>
                      </a:r>
                    </a:p>
                  </a:txBody>
                  <a:tcPr marL="91440" marR="73152" marT="36576" marB="36576" anchor="ctr">
                    <a:solidFill>
                      <a:srgbClr val="F6F0E2"/>
                    </a:solidFill>
                  </a:tcPr>
                </a:tc>
              </a:tr>
              <a:tr h="342900">
                <a:tc>
                  <a:txBody>
                    <a:bodyPr wrap="square"/>
                    <a:lstStyle/>
                    <a:p>
                      <a:r>
                        <a:rPr sz="1050" b="1" i="0">
                          <a:solidFill>
                            <a:srgbClr val="243018"/>
                          </a:solidFill>
                          <a:latin typeface="Calibri"/>
                        </a:rPr>
                        <a:t>Accounts &amp; identity</a:t>
                      </a:r>
                    </a:p>
                  </a:txBody>
                  <a:tcPr marL="91440" marR="73152" marT="36576" marB="36576" anchor="ctr">
                    <a:solidFill>
                      <a:srgbClr val="FFFFFF"/>
                    </a:solidFill>
                  </a:tcPr>
                </a:tc>
                <a:tc>
                  <a:txBody>
                    <a:bodyPr wrap="square"/>
                    <a:lstStyle/>
                    <a:p>
                      <a:r>
                        <a:rPr sz="1050" b="1" i="0">
                          <a:solidFill>
                            <a:srgbClr val="5A8A4A"/>
                          </a:solidFill>
                          <a:latin typeface="Calibri"/>
                        </a:rPr>
                        <a:t>■ Built</a:t>
                      </a:r>
                    </a:p>
                  </a:txBody>
                  <a:tcPr marL="91440" marR="73152" marT="36576" marB="36576" anchor="ctr">
                    <a:solidFill>
                      <a:srgbClr val="FFFFFF"/>
                    </a:solidFill>
                  </a:tcPr>
                </a:tc>
                <a:tc>
                  <a:txBody>
                    <a:bodyPr wrap="square"/>
                    <a:lstStyle/>
                    <a:p>
                      <a:r>
                        <a:rPr sz="1050" b="0" i="0">
                          <a:solidFill>
                            <a:srgbClr val="243018"/>
                          </a:solidFill>
                          <a:latin typeface="Calibri"/>
                        </a:rPr>
                        <a:t>Real passwords, server sessions, order history, timeline, public tracking</a:t>
                      </a:r>
                    </a:p>
                  </a:txBody>
                  <a:tcPr marL="91440" marR="73152" marT="36576" marB="36576" anchor="ctr">
                    <a:solidFill>
                      <a:srgbClr val="FFFFFF"/>
                    </a:solidFill>
                  </a:tcPr>
                </a:tc>
              </a:tr>
              <a:tr h="342900">
                <a:tc>
                  <a:txBody>
                    <a:bodyPr wrap="square"/>
                    <a:lstStyle/>
                    <a:p>
                      <a:r>
                        <a:rPr sz="1050" b="1" i="0">
                          <a:solidFill>
                            <a:srgbClr val="243018"/>
                          </a:solidFill>
                          <a:latin typeface="Calibri"/>
                        </a:rPr>
                        <a:t>Ops console</a:t>
                      </a:r>
                    </a:p>
                  </a:txBody>
                  <a:tcPr marL="91440" marR="73152" marT="36576" marB="36576" anchor="ctr">
                    <a:solidFill>
                      <a:srgbClr val="F6F0E2"/>
                    </a:solidFill>
                  </a:tcPr>
                </a:tc>
                <a:tc>
                  <a:txBody>
                    <a:bodyPr wrap="square"/>
                    <a:lstStyle/>
                    <a:p>
                      <a:r>
                        <a:rPr sz="1050" b="1" i="0">
                          <a:solidFill>
                            <a:srgbClr val="5A8A4A"/>
                          </a:solidFill>
                          <a:latin typeface="Calibri"/>
                        </a:rPr>
                        <a:t>■ Built</a:t>
                      </a:r>
                    </a:p>
                  </a:txBody>
                  <a:tcPr marL="91440" marR="73152" marT="36576" marB="36576" anchor="ctr">
                    <a:solidFill>
                      <a:srgbClr val="F6F0E2"/>
                    </a:solidFill>
                  </a:tcPr>
                </a:tc>
                <a:tc>
                  <a:txBody>
                    <a:bodyPr wrap="square"/>
                    <a:lstStyle/>
                    <a:p>
                      <a:r>
                        <a:rPr sz="1050" b="0" i="0">
                          <a:solidFill>
                            <a:srgbClr val="243018"/>
                          </a:solidFill>
                          <a:latin typeface="Calibri"/>
                        </a:rPr>
                        <a:t>Orders list and detail, status changes, KPI dashboard, materials with low-stock alerts</a:t>
                      </a:r>
                    </a:p>
                  </a:txBody>
                  <a:tcPr marL="91440" marR="73152" marT="36576" marB="36576" anchor="ctr">
                    <a:solidFill>
                      <a:srgbClr val="F6F0E2"/>
                    </a:solidFill>
                  </a:tcPr>
                </a:tc>
              </a:tr>
              <a:tr h="342900">
                <a:tc>
                  <a:txBody>
                    <a:bodyPr wrap="square"/>
                    <a:lstStyle/>
                    <a:p>
                      <a:r>
                        <a:rPr sz="1050" b="1" i="0">
                          <a:solidFill>
                            <a:srgbClr val="243018"/>
                          </a:solidFill>
                          <a:latin typeface="Calibri"/>
                        </a:rPr>
                        <a:t>Admin auth</a:t>
                      </a:r>
                    </a:p>
                  </a:txBody>
                  <a:tcPr marL="91440" marR="73152" marT="36576" marB="36576" anchor="ctr">
                    <a:solidFill>
                      <a:srgbClr val="FFFFFF"/>
                    </a:solidFill>
                  </a:tcPr>
                </a:tc>
                <a:tc>
                  <a:txBody>
                    <a:bodyPr wrap="square"/>
                    <a:lstStyle/>
                    <a:p>
                      <a:r>
                        <a:rPr sz="1050" b="1" i="0">
                          <a:solidFill>
                            <a:srgbClr val="D4533A"/>
                          </a:solidFill>
                          <a:latin typeface="Calibri"/>
                        </a:rPr>
                        <a:t>■ Not built</a:t>
                      </a:r>
                    </a:p>
                  </a:txBody>
                  <a:tcPr marL="91440" marR="73152" marT="36576" marB="36576" anchor="ctr">
                    <a:solidFill>
                      <a:srgbClr val="FFFFFF"/>
                    </a:solidFill>
                  </a:tcPr>
                </a:tc>
                <a:tc>
                  <a:txBody>
                    <a:bodyPr wrap="square"/>
                    <a:lstStyle/>
                    <a:p>
                      <a:r>
                        <a:rPr sz="1050" b="0" i="0">
                          <a:solidFill>
                            <a:srgbClr val="243018"/>
                          </a:solidFill>
                          <a:latin typeface="Calibri"/>
                        </a:rPr>
                        <a:t>None at all. Top of the roadmap.</a:t>
                      </a:r>
                    </a:p>
                  </a:txBody>
                  <a:tcPr marL="91440" marR="73152" marT="36576" marB="36576" anchor="ctr">
                    <a:solidFill>
                      <a:srgbClr val="FFFFFF"/>
                    </a:solidFill>
                  </a:tcPr>
                </a:tc>
              </a:tr>
              <a:tr h="342900">
                <a:tc>
                  <a:txBody>
                    <a:bodyPr wrap="square"/>
                    <a:lstStyle/>
                    <a:p>
                      <a:r>
                        <a:rPr sz="1050" b="1" i="0">
                          <a:solidFill>
                            <a:srgbClr val="243018"/>
                          </a:solidFill>
                          <a:latin typeface="Calibri"/>
                        </a:rPr>
                        <a:t>Inventory movement</a:t>
                      </a:r>
                    </a:p>
                  </a:txBody>
                  <a:tcPr marL="91440" marR="73152" marT="36576" marB="36576" anchor="ctr">
                    <a:solidFill>
                      <a:srgbClr val="F6F0E2"/>
                    </a:solidFill>
                  </a:tcPr>
                </a:tc>
                <a:tc>
                  <a:txBody>
                    <a:bodyPr wrap="square"/>
                    <a:lstStyle/>
                    <a:p>
                      <a:r>
                        <a:rPr sz="1050" b="1" i="0">
                          <a:solidFill>
                            <a:srgbClr val="D4533A"/>
                          </a:solidFill>
                          <a:latin typeface="Calibri"/>
                        </a:rPr>
                        <a:t>■ Not built</a:t>
                      </a:r>
                    </a:p>
                  </a:txBody>
                  <a:tcPr marL="91440" marR="73152" marT="36576" marB="36576" anchor="ctr">
                    <a:solidFill>
                      <a:srgbClr val="F6F0E2"/>
                    </a:solidFill>
                  </a:tcPr>
                </a:tc>
                <a:tc>
                  <a:txBody>
                    <a:bodyPr wrap="square"/>
                    <a:lstStyle/>
                    <a:p>
                      <a:r>
                        <a:rPr sz="1050" b="0" i="0">
                          <a:solidFill>
                            <a:srgbClr val="243018"/>
                          </a:solidFill>
                          <a:latin typeface="Calibri"/>
                        </a:rPr>
                        <a:t>Recipes are modelled and displayed; stock never changes</a:t>
                      </a:r>
                    </a:p>
                  </a:txBody>
                  <a:tcPr marL="91440" marR="73152" marT="36576" marB="36576" anchor="ctr">
                    <a:solidFill>
                      <a:srgbClr val="F6F0E2"/>
                    </a:solidFill>
                  </a:tcPr>
                </a:tc>
              </a:tr>
              <a:tr h="342900">
                <a:tc>
                  <a:txBody>
                    <a:bodyPr wrap="square"/>
                    <a:lstStyle/>
                    <a:p>
                      <a:r>
                        <a:rPr sz="1050" b="1" i="0">
                          <a:solidFill>
                            <a:srgbClr val="243018"/>
                          </a:solidFill>
                          <a:latin typeface="Calibri"/>
                        </a:rPr>
                        <a:t>Notifications</a:t>
                      </a:r>
                    </a:p>
                  </a:txBody>
                  <a:tcPr marL="91440" marR="73152" marT="36576" marB="36576" anchor="ctr">
                    <a:solidFill>
                      <a:srgbClr val="FFFFFF"/>
                    </a:solidFill>
                  </a:tcPr>
                </a:tc>
                <a:tc>
                  <a:txBody>
                    <a:bodyPr wrap="square"/>
                    <a:lstStyle/>
                    <a:p>
                      <a:r>
                        <a:rPr sz="1050" b="1" i="0">
                          <a:solidFill>
                            <a:srgbClr val="D4533A"/>
                          </a:solidFill>
                          <a:latin typeface="Calibri"/>
                        </a:rPr>
                        <a:t>■ Not built</a:t>
                      </a:r>
                    </a:p>
                  </a:txBody>
                  <a:tcPr marL="91440" marR="73152" marT="36576" marB="36576" anchor="ctr">
                    <a:solidFill>
                      <a:srgbClr val="FFFFFF"/>
                    </a:solidFill>
                  </a:tcPr>
                </a:tc>
                <a:tc>
                  <a:txBody>
                    <a:bodyPr wrap="square"/>
                    <a:lstStyle/>
                    <a:p>
                      <a:r>
                        <a:rPr sz="1050" b="0" i="0">
                          <a:solidFill>
                            <a:srgbClr val="243018"/>
                          </a:solidFill>
                          <a:latin typeface="Calibri"/>
                        </a:rPr>
                        <a:t>On-screen confirmation only</a:t>
                      </a:r>
                    </a:p>
                  </a:txBody>
                  <a:tcPr marL="91440" marR="73152" marT="36576" marB="36576" anchor="ctr">
                    <a:solidFill>
                      <a:srgbClr val="FFFFFF"/>
                    </a:solidFill>
                  </a:tcPr>
                </a:tc>
              </a:tr>
            </a:tbl>
          </a:graphicData>
        </a:graphic>
      </p:graphicFrame>
      <p:sp>
        <p:nvSpPr>
          <p:cNvPr id="7" name="TextBox 6"/>
          <p:cNvSpPr txBox="1"/>
          <p:nvPr/>
        </p:nvSpPr>
        <p:spPr>
          <a:xfrm>
            <a:off x="658368" y="5852160"/>
            <a:ext cx="10874959" cy="365760"/>
          </a:xfrm>
          <a:prstGeom prst="rect">
            <a:avLst/>
          </a:prstGeom>
          <a:noFill/>
        </p:spPr>
        <p:txBody>
          <a:bodyPr wrap="square" anchor="t" lIns="0" rIns="0" tIns="0" bIns="0">
            <a:spAutoFit/>
          </a:bodyPr>
          <a:lstStyle/>
          <a:p>
            <a:pPr algn="l">
              <a:lnSpc>
                <a:spcPct val="116000"/>
              </a:lnSpc>
              <a:spcAft>
                <a:spcPts val="0"/>
              </a:spcAft>
            </a:pPr>
            <a:r>
              <a:rPr sz="1200" b="1" i="0">
                <a:solidFill>
                  <a:srgbClr val="243018"/>
                </a:solidFill>
                <a:latin typeface="Calibri"/>
              </a:rPr>
              <a:t>Read this as the deck's credibility test.  </a:t>
            </a:r>
            <a:r>
              <a:rPr sz="1200" b="0" i="0">
                <a:solidFill>
                  <a:srgbClr val="5B6450"/>
                </a:solidFill>
                <a:latin typeface="Calibri"/>
              </a:rPr>
              <a:t>Nine of the twelve rows are green or amber, and the three reds are all named on the roadmap. Nothing on this slide is a surprise to me — that is the whole point of having it.</a:t>
            </a:r>
          </a:p>
        </p:txBody>
      </p:sp>
      <p:sp>
        <p:nvSpPr>
          <p:cNvPr id="8" name="TextBox 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9" name="TextBox 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9772E"/>
                </a:solidFill>
                <a:latin typeface="Trebuchet MS"/>
              </a:rPr>
              <a:t>ROADMAP</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Phase 4: the sequence, and why this order</a:t>
            </a:r>
          </a:p>
        </p:txBody>
      </p:sp>
      <p:graphicFrame>
        <p:nvGraphicFramePr>
          <p:cNvPr id="6" name="Table 5"/>
          <p:cNvGraphicFramePr>
            <a:graphicFrameLocks noGrp="1"/>
          </p:cNvGraphicFramePr>
          <p:nvPr/>
        </p:nvGraphicFramePr>
        <p:xfrm>
          <a:off x="658368" y="1298448"/>
          <a:ext cx="10874959" cy="3694176"/>
        </p:xfrm>
        <a:graphic>
          <a:graphicData uri="http://schemas.openxmlformats.org/drawingml/2006/table">
            <a:tbl>
              <a:tblPr firstRow="1">
                <a:tableStyleId>{5C22544A-7EE6-4342-B048-85BDC9FD1C3A}</a:tableStyleId>
              </a:tblPr>
              <a:tblGrid>
                <a:gridCol w="407811"/>
                <a:gridCol w="3081238"/>
                <a:gridCol w="6343726"/>
                <a:gridCol w="1042184"/>
              </a:tblGrid>
              <a:tr h="292608">
                <a:tc>
                  <a:txBody>
                    <a:bodyPr wrap="square"/>
                    <a:lstStyle/>
                    <a:p>
                      <a:r>
                        <a:rPr sz="1050" b="1" i="0">
                          <a:solidFill>
                            <a:srgbClr val="F6F0E2"/>
                          </a:solidFill>
                          <a:latin typeface="Calibri"/>
                        </a:rPr>
                        <a:t>#</a:t>
                      </a:r>
                    </a:p>
                  </a:txBody>
                  <a:tcPr marL="91440" marR="73152" marT="36576" marB="36576" anchor="ctr">
                    <a:solidFill>
                      <a:srgbClr val="2F5D34"/>
                    </a:solidFill>
                  </a:tcPr>
                </a:tc>
                <a:tc>
                  <a:txBody>
                    <a:bodyPr wrap="square"/>
                    <a:lstStyle/>
                    <a:p>
                      <a:r>
                        <a:rPr sz="1050" b="1" i="0">
                          <a:solidFill>
                            <a:srgbClr val="F6F0E2"/>
                          </a:solidFill>
                          <a:latin typeface="Calibri"/>
                        </a:rPr>
                        <a:t>Step</a:t>
                      </a:r>
                    </a:p>
                  </a:txBody>
                  <a:tcPr marL="91440" marR="73152" marT="36576" marB="36576" anchor="ctr">
                    <a:solidFill>
                      <a:srgbClr val="2F5D34"/>
                    </a:solidFill>
                  </a:tcPr>
                </a:tc>
                <a:tc>
                  <a:txBody>
                    <a:bodyPr wrap="square"/>
                    <a:lstStyle/>
                    <a:p>
                      <a:r>
                        <a:rPr sz="1050" b="1" i="0">
                          <a:solidFill>
                            <a:srgbClr val="F6F0E2"/>
                          </a:solidFill>
                          <a:latin typeface="Calibri"/>
                        </a:rPr>
                        <a:t>Why it goes here</a:t>
                      </a:r>
                    </a:p>
                  </a:txBody>
                  <a:tcPr marL="91440" marR="73152" marT="36576" marB="36576" anchor="ctr">
                    <a:solidFill>
                      <a:srgbClr val="2F5D34"/>
                    </a:solidFill>
                  </a:tcPr>
                </a:tc>
                <a:tc>
                  <a:txBody>
                    <a:bodyPr wrap="square"/>
                    <a:lstStyle/>
                    <a:p>
                      <a:r>
                        <a:rPr sz="1050" b="1" i="0">
                          <a:solidFill>
                            <a:srgbClr val="F6F0E2"/>
                          </a:solidFill>
                          <a:latin typeface="Calibri"/>
                        </a:rPr>
                        <a:t>Rough size</a:t>
                      </a:r>
                    </a:p>
                  </a:txBody>
                  <a:tcPr marL="91440" marR="73152" marT="36576" marB="36576" anchor="ctr">
                    <a:solidFill>
                      <a:srgbClr val="2F5D34"/>
                    </a:solidFill>
                  </a:tcPr>
                </a:tc>
              </a:tr>
              <a:tr h="566928">
                <a:tc>
                  <a:txBody>
                    <a:bodyPr wrap="square"/>
                    <a:lstStyle/>
                    <a:p>
                      <a:r>
                        <a:rPr sz="1050" b="1" i="0">
                          <a:solidFill>
                            <a:srgbClr val="243018"/>
                          </a:solidFill>
                          <a:latin typeface="Calibri"/>
                        </a:rPr>
                        <a:t>1</a:t>
                      </a:r>
                    </a:p>
                  </a:txBody>
                  <a:tcPr marL="91440" marR="73152" marT="36576" marB="36576" anchor="ctr">
                    <a:solidFill>
                      <a:srgbClr val="F6F0E2"/>
                    </a:solidFill>
                  </a:tcPr>
                </a:tc>
                <a:tc>
                  <a:txBody>
                    <a:bodyPr wrap="square"/>
                    <a:lstStyle/>
                    <a:p>
                      <a:r>
                        <a:rPr sz="1050" b="0" i="0">
                          <a:solidFill>
                            <a:srgbClr val="243018"/>
                          </a:solidFill>
                          <a:latin typeface="Calibri"/>
                        </a:rPr>
                        <a:t>Admin authentication and role gating</a:t>
                      </a:r>
                    </a:p>
                  </a:txBody>
                  <a:tcPr marL="91440" marR="73152" marT="36576" marB="36576" anchor="ctr">
                    <a:solidFill>
                      <a:srgbClr val="F6F0E2"/>
                    </a:solidFill>
                  </a:tcPr>
                </a:tc>
                <a:tc>
                  <a:txBody>
                    <a:bodyPr wrap="square"/>
                    <a:lstStyle/>
                    <a:p>
                      <a:r>
                        <a:rPr sz="1050" b="0" i="0">
                          <a:solidFill>
                            <a:srgbClr val="243018"/>
                          </a:solidFill>
                          <a:latin typeface="Calibri"/>
                        </a:rPr>
                        <a:t>The only outright security bug left. Needs no database — it works against the current stores, and the customer-side session work already proves the pattern.</a:t>
                      </a:r>
                    </a:p>
                  </a:txBody>
                  <a:tcPr marL="91440" marR="73152" marT="36576" marB="36576" anchor="ctr">
                    <a:solidFill>
                      <a:srgbClr val="F6F0E2"/>
                    </a:solidFill>
                  </a:tcPr>
                </a:tc>
                <a:tc>
                  <a:txBody>
                    <a:bodyPr wrap="square"/>
                    <a:lstStyle/>
                    <a:p>
                      <a:r>
                        <a:rPr sz="1050" b="0" i="0">
                          <a:solidFill>
                            <a:srgbClr val="243018"/>
                          </a:solidFill>
                          <a:latin typeface="Calibri"/>
                        </a:rPr>
                        <a:t>~1 day</a:t>
                      </a:r>
                    </a:p>
                  </a:txBody>
                  <a:tcPr marL="91440" marR="73152" marT="36576" marB="36576" anchor="ctr">
                    <a:solidFill>
                      <a:srgbClr val="F6F0E2"/>
                    </a:solidFill>
                  </a:tcPr>
                </a:tc>
              </a:tr>
              <a:tr h="566928">
                <a:tc>
                  <a:txBody>
                    <a:bodyPr wrap="square"/>
                    <a:lstStyle/>
                    <a:p>
                      <a:r>
                        <a:rPr sz="1050" b="1" i="0">
                          <a:solidFill>
                            <a:srgbClr val="243018"/>
                          </a:solidFill>
                          <a:latin typeface="Calibri"/>
                        </a:rPr>
                        <a:t>2</a:t>
                      </a:r>
                    </a:p>
                  </a:txBody>
                  <a:tcPr marL="91440" marR="73152" marT="36576" marB="36576" anchor="ctr">
                    <a:solidFill>
                      <a:srgbClr val="FFFFFF"/>
                    </a:solidFill>
                  </a:tcPr>
                </a:tc>
                <a:tc>
                  <a:txBody>
                    <a:bodyPr wrap="square"/>
                    <a:lstStyle/>
                    <a:p>
                      <a:r>
                        <a:rPr sz="1050" b="0" i="0">
                          <a:solidFill>
                            <a:srgbClr val="243018"/>
                          </a:solidFill>
                          <a:latin typeface="Calibri"/>
                        </a:rPr>
                        <a:t>Split the data package's export surface</a:t>
                      </a:r>
                    </a:p>
                  </a:txBody>
                  <a:tcPr marL="91440" marR="73152" marT="36576" marB="36576" anchor="ctr">
                    <a:solidFill>
                      <a:srgbClr val="FFFFFF"/>
                    </a:solidFill>
                  </a:tcPr>
                </a:tc>
                <a:tc>
                  <a:txBody>
                    <a:bodyPr wrap="square"/>
                    <a:lstStyle/>
                    <a:p>
                      <a:r>
                        <a:rPr sz="1050" b="0" i="0">
                          <a:solidFill>
                            <a:srgbClr val="243018"/>
                          </a:solidFill>
                          <a:latin typeface="Calibri"/>
                        </a:rPr>
                        <a:t>Client-safe catalogue versus server-only stores, so misuse fails at build time. Cheap, and a prerequisite for a DB client living in that package.</a:t>
                      </a:r>
                    </a:p>
                  </a:txBody>
                  <a:tcPr marL="91440" marR="73152" marT="36576" marB="36576" anchor="ctr">
                    <a:solidFill>
                      <a:srgbClr val="FFFFFF"/>
                    </a:solidFill>
                  </a:tcPr>
                </a:tc>
                <a:tc>
                  <a:txBody>
                    <a:bodyPr wrap="square"/>
                    <a:lstStyle/>
                    <a:p>
                      <a:r>
                        <a:rPr sz="1050" b="0" i="0">
                          <a:solidFill>
                            <a:srgbClr val="243018"/>
                          </a:solidFill>
                          <a:latin typeface="Calibri"/>
                        </a:rPr>
                        <a:t>~1 hour</a:t>
                      </a:r>
                    </a:p>
                  </a:txBody>
                  <a:tcPr marL="91440" marR="73152" marT="36576" marB="36576" anchor="ctr">
                    <a:solidFill>
                      <a:srgbClr val="FFFFFF"/>
                    </a:solidFill>
                  </a:tcPr>
                </a:tc>
              </a:tr>
              <a:tr h="566928">
                <a:tc>
                  <a:txBody>
                    <a:bodyPr wrap="square"/>
                    <a:lstStyle/>
                    <a:p>
                      <a:r>
                        <a:rPr sz="1050" b="1" i="0">
                          <a:solidFill>
                            <a:srgbClr val="243018"/>
                          </a:solidFill>
                          <a:latin typeface="Calibri"/>
                        </a:rPr>
                        <a:t>3</a:t>
                      </a:r>
                    </a:p>
                  </a:txBody>
                  <a:tcPr marL="91440" marR="73152" marT="36576" marB="36576" anchor="ctr">
                    <a:solidFill>
                      <a:srgbClr val="F6F0E2"/>
                    </a:solidFill>
                  </a:tcPr>
                </a:tc>
                <a:tc>
                  <a:txBody>
                    <a:bodyPr wrap="square"/>
                    <a:lstStyle/>
                    <a:p>
                      <a:r>
                        <a:rPr sz="1050" b="0" i="0">
                          <a:solidFill>
                            <a:srgbClr val="243018"/>
                          </a:solidFill>
                          <a:latin typeface="Calibri"/>
                        </a:rPr>
                        <a:t>Postgres behind the same accessors, plus migration scripts</a:t>
                      </a:r>
                    </a:p>
                  </a:txBody>
                  <a:tcPr marL="91440" marR="73152" marT="36576" marB="36576" anchor="ctr">
                    <a:solidFill>
                      <a:srgbClr val="F6F0E2"/>
                    </a:solidFill>
                  </a:tcPr>
                </a:tc>
                <a:tc>
                  <a:txBody>
                    <a:bodyPr wrap="square"/>
                    <a:lstStyle/>
                    <a:p>
                      <a:r>
                        <a:rPr sz="1050" b="0" i="0">
                          <a:solidFill>
                            <a:srgbClr val="243018"/>
                          </a:solidFill>
                          <a:latin typeface="Calibri"/>
                        </a:rPr>
                        <a:t>Fixes concurrent-write loss and the truncation risk in one move. The accessor signatures don't change, so no app code does either.</a:t>
                      </a:r>
                    </a:p>
                  </a:txBody>
                  <a:tcPr marL="91440" marR="73152" marT="36576" marB="36576" anchor="ctr">
                    <a:solidFill>
                      <a:srgbClr val="F6F0E2"/>
                    </a:solidFill>
                  </a:tcPr>
                </a:tc>
                <a:tc>
                  <a:txBody>
                    <a:bodyPr wrap="square"/>
                    <a:lstStyle/>
                    <a:p>
                      <a:r>
                        <a:rPr sz="1050" b="0" i="0">
                          <a:solidFill>
                            <a:srgbClr val="243018"/>
                          </a:solidFill>
                          <a:latin typeface="Calibri"/>
                        </a:rPr>
                        <a:t>~2–3 days</a:t>
                      </a:r>
                    </a:p>
                  </a:txBody>
                  <a:tcPr marL="91440" marR="73152" marT="36576" marB="36576" anchor="ctr">
                    <a:solidFill>
                      <a:srgbClr val="F6F0E2"/>
                    </a:solidFill>
                  </a:tcPr>
                </a:tc>
              </a:tr>
              <a:tr h="566928">
                <a:tc>
                  <a:txBody>
                    <a:bodyPr wrap="square"/>
                    <a:lstStyle/>
                    <a:p>
                      <a:r>
                        <a:rPr sz="1050" b="1" i="0">
                          <a:solidFill>
                            <a:srgbClr val="243018"/>
                          </a:solidFill>
                          <a:latin typeface="Calibri"/>
                        </a:rPr>
                        <a:t>4</a:t>
                      </a:r>
                    </a:p>
                  </a:txBody>
                  <a:tcPr marL="91440" marR="73152" marT="36576" marB="36576" anchor="ctr">
                    <a:solidFill>
                      <a:srgbClr val="FFFFFF"/>
                    </a:solidFill>
                  </a:tcPr>
                </a:tc>
                <a:tc>
                  <a:txBody>
                    <a:bodyPr wrap="square"/>
                    <a:lstStyle/>
                    <a:p>
                      <a:r>
                        <a:rPr sz="1050" b="0" i="0">
                          <a:solidFill>
                            <a:srgbClr val="243018"/>
                          </a:solidFill>
                          <a:latin typeface="Calibri"/>
                        </a:rPr>
                        <a:t>Idempotency key, real order sequence, one transaction</a:t>
                      </a:r>
                    </a:p>
                  </a:txBody>
                  <a:tcPr marL="91440" marR="73152" marT="36576" marB="36576" anchor="ctr">
                    <a:solidFill>
                      <a:srgbClr val="FFFFFF"/>
                    </a:solidFill>
                  </a:tcPr>
                </a:tc>
                <a:tc>
                  <a:txBody>
                    <a:bodyPr wrap="square"/>
                    <a:lstStyle/>
                    <a:p>
                      <a:r>
                        <a:rPr sz="1050" b="0" i="0">
                          <a:solidFill>
                            <a:srgbClr val="243018"/>
                          </a:solidFill>
                          <a:latin typeface="Calibri"/>
                        </a:rPr>
                        <a:t>Falls out naturally once there's a database. Kills the double-charge and the ID collision together.</a:t>
                      </a:r>
                    </a:p>
                  </a:txBody>
                  <a:tcPr marL="91440" marR="73152" marT="36576" marB="36576" anchor="ctr">
                    <a:solidFill>
                      <a:srgbClr val="FFFFFF"/>
                    </a:solidFill>
                  </a:tcPr>
                </a:tc>
                <a:tc>
                  <a:txBody>
                    <a:bodyPr wrap="square"/>
                    <a:lstStyle/>
                    <a:p>
                      <a:r>
                        <a:rPr sz="1050" b="0" i="0">
                          <a:solidFill>
                            <a:srgbClr val="243018"/>
                          </a:solidFill>
                          <a:latin typeface="Calibri"/>
                        </a:rPr>
                        <a:t>~half day</a:t>
                      </a:r>
                    </a:p>
                  </a:txBody>
                  <a:tcPr marL="91440" marR="73152" marT="36576" marB="36576" anchor="ctr">
                    <a:solidFill>
                      <a:srgbClr val="FFFFFF"/>
                    </a:solidFill>
                  </a:tcPr>
                </a:tc>
              </a:tr>
              <a:tr h="566928">
                <a:tc>
                  <a:txBody>
                    <a:bodyPr wrap="square"/>
                    <a:lstStyle/>
                    <a:p>
                      <a:r>
                        <a:rPr sz="1050" b="1" i="0">
                          <a:solidFill>
                            <a:srgbClr val="243018"/>
                          </a:solidFill>
                          <a:latin typeface="Calibri"/>
                        </a:rPr>
                        <a:t>5</a:t>
                      </a:r>
                    </a:p>
                  </a:txBody>
                  <a:tcPr marL="91440" marR="73152" marT="36576" marB="36576" anchor="ctr">
                    <a:solidFill>
                      <a:srgbClr val="F6F0E2"/>
                    </a:solidFill>
                  </a:tcPr>
                </a:tc>
                <a:tc>
                  <a:txBody>
                    <a:bodyPr wrap="square"/>
                    <a:lstStyle/>
                    <a:p>
                      <a:r>
                        <a:rPr sz="1050" b="0" i="0">
                          <a:solidFill>
                            <a:srgbClr val="243018"/>
                          </a:solidFill>
                          <a:latin typeface="Calibri"/>
                        </a:rPr>
                        <a:t>Subscription entity and inventory ledger</a:t>
                      </a:r>
                    </a:p>
                  </a:txBody>
                  <a:tcPr marL="91440" marR="73152" marT="36576" marB="36576" anchor="ctr">
                    <a:solidFill>
                      <a:srgbClr val="F6F0E2"/>
                    </a:solidFill>
                  </a:tcPr>
                </a:tc>
                <a:tc>
                  <a:txBody>
                    <a:bodyPr wrap="square"/>
                    <a:lstStyle/>
                    <a:p>
                      <a:r>
                        <a:rPr sz="1050" b="0" i="0">
                          <a:solidFill>
                            <a:srgbClr val="243018"/>
                          </a:solidFill>
                          <a:latin typeface="Calibri"/>
                        </a:rPr>
                        <a:t>The two genuinely new domain models. Unblocks pause/skip/cancel, recurring deliveries, and produce forecasting.</a:t>
                      </a:r>
                    </a:p>
                  </a:txBody>
                  <a:tcPr marL="91440" marR="73152" marT="36576" marB="36576" anchor="ctr">
                    <a:solidFill>
                      <a:srgbClr val="F6F0E2"/>
                    </a:solidFill>
                  </a:tcPr>
                </a:tc>
                <a:tc>
                  <a:txBody>
                    <a:bodyPr wrap="square"/>
                    <a:lstStyle/>
                    <a:p>
                      <a:r>
                        <a:rPr sz="1050" b="0" i="0">
                          <a:solidFill>
                            <a:srgbClr val="243018"/>
                          </a:solidFill>
                          <a:latin typeface="Calibri"/>
                        </a:rPr>
                        <a:t>~2 days</a:t>
                      </a:r>
                    </a:p>
                  </a:txBody>
                  <a:tcPr marL="91440" marR="73152" marT="36576" marB="36576" anchor="ctr">
                    <a:solidFill>
                      <a:srgbClr val="F6F0E2"/>
                    </a:solidFill>
                  </a:tcPr>
                </a:tc>
              </a:tr>
              <a:tr h="566928">
                <a:tc>
                  <a:txBody>
                    <a:bodyPr wrap="square"/>
                    <a:lstStyle/>
                    <a:p>
                      <a:r>
                        <a:rPr sz="1050" b="1" i="0">
                          <a:solidFill>
                            <a:srgbClr val="243018"/>
                          </a:solidFill>
                          <a:latin typeface="Calibri"/>
                        </a:rPr>
                        <a:t>6</a:t>
                      </a:r>
                    </a:p>
                  </a:txBody>
                  <a:tcPr marL="91440" marR="73152" marT="36576" marB="36576" anchor="ctr">
                    <a:solidFill>
                      <a:srgbClr val="FFFFFF"/>
                    </a:solidFill>
                  </a:tcPr>
                </a:tc>
                <a:tc>
                  <a:txBody>
                    <a:bodyPr wrap="square"/>
                    <a:lstStyle/>
                    <a:p>
                      <a:r>
                        <a:rPr sz="1050" b="0" i="0">
                          <a:solidFill>
                            <a:srgbClr val="243018"/>
                          </a:solidFill>
                          <a:latin typeface="Calibri"/>
                        </a:rPr>
                        <a:t>Real gateway, password reset, rate limiting</a:t>
                      </a:r>
                    </a:p>
                  </a:txBody>
                  <a:tcPr marL="91440" marR="73152" marT="36576" marB="36576" anchor="ctr">
                    <a:solidFill>
                      <a:srgbClr val="FFFFFF"/>
                    </a:solidFill>
                  </a:tcPr>
                </a:tc>
                <a:tc>
                  <a:txBody>
                    <a:bodyPr wrap="square"/>
                    <a:lstStyle/>
                    <a:p>
                      <a:r>
                        <a:rPr sz="1050" b="0" i="0">
                          <a:solidFill>
                            <a:srgbClr val="243018"/>
                          </a:solidFill>
                          <a:latin typeface="Calibri"/>
                        </a:rPr>
                        <a:t>Independent of each other — slot them in as needed once the foundation is there.</a:t>
                      </a:r>
                    </a:p>
                  </a:txBody>
                  <a:tcPr marL="91440" marR="73152" marT="36576" marB="36576" anchor="ctr">
                    <a:solidFill>
                      <a:srgbClr val="FFFFFF"/>
                    </a:solidFill>
                  </a:tcPr>
                </a:tc>
                <a:tc>
                  <a:txBody>
                    <a:bodyPr wrap="square"/>
                    <a:lstStyle/>
                    <a:p>
                      <a:r>
                        <a:rPr sz="1050" b="0" i="0">
                          <a:solidFill>
                            <a:srgbClr val="243018"/>
                          </a:solidFill>
                          <a:latin typeface="Calibri"/>
                        </a:rPr>
                        <a:t>as needed</a:t>
                      </a:r>
                    </a:p>
                  </a:txBody>
                  <a:tcPr marL="91440" marR="73152" marT="36576" marB="36576" anchor="ctr">
                    <a:solidFill>
                      <a:srgbClr val="FFFFFF"/>
                    </a:solidFill>
                  </a:tcPr>
                </a:tc>
              </a:tr>
            </a:tbl>
          </a:graphicData>
        </a:graphic>
      </p:graphicFrame>
      <p:sp>
        <p:nvSpPr>
          <p:cNvPr id="7" name="Rectangle 6"/>
          <p:cNvSpPr/>
          <p:nvPr/>
        </p:nvSpPr>
        <p:spPr>
          <a:xfrm>
            <a:off x="658368" y="5102352"/>
            <a:ext cx="10874959" cy="822960"/>
          </a:xfrm>
          <a:prstGeom prst="rect">
            <a:avLst/>
          </a:prstGeom>
          <a:solidFill>
            <a:srgbClr val="F6F0E2"/>
          </a:solidFill>
          <a:ln w="12700">
            <a:solidFill>
              <a:srgbClr val="E0D6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5102352"/>
            <a:ext cx="45720" cy="822960"/>
          </a:xfrm>
          <a:prstGeom prst="rect">
            <a:avLst/>
          </a:prstGeom>
          <a:solidFill>
            <a:srgbClr val="2F5D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5248656"/>
            <a:ext cx="10372039" cy="502920"/>
          </a:xfrm>
          <a:prstGeom prst="rect">
            <a:avLst/>
          </a:prstGeom>
          <a:noFill/>
        </p:spPr>
        <p:txBody>
          <a:bodyPr wrap="square" anchor="t" lIns="0" rIns="0" tIns="0" bIns="0">
            <a:spAutoFit/>
          </a:bodyPr>
          <a:lstStyle/>
          <a:p>
            <a:pPr algn="l">
              <a:lnSpc>
                <a:spcPct val="116000"/>
              </a:lnSpc>
              <a:spcAft>
                <a:spcPts val="0"/>
              </a:spcAft>
            </a:pPr>
            <a:r>
              <a:rPr sz="1150" b="1" i="0">
                <a:solidFill>
                  <a:srgbClr val="243018"/>
                </a:solidFill>
                <a:latin typeface="Calibri"/>
              </a:rPr>
              <a:t>The sequencing argument:  </a:t>
            </a:r>
            <a:r>
              <a:rPr sz="1150" b="0" i="0">
                <a:solidFill>
                  <a:srgbClr val="5B6450"/>
                </a:solidFill>
                <a:latin typeface="Calibri"/>
              </a:rPr>
              <a:t>steps 1 and 2 come before the database on purpose. Sessions change the accessor signatures, and I'd rather change them once against JSON files than twice against Postgres. Doing the security fix first also means we are never knowingly running an unauthenticated admin panel against a real database.</a:t>
            </a:r>
          </a:p>
        </p:txBody>
      </p:sp>
      <p:sp>
        <p:nvSpPr>
          <p:cNvPr id="10" name="TextBox 9"/>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11" name="TextBox 10"/>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475488"/>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8" y="457200"/>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D4533A"/>
                </a:solidFill>
                <a:latin typeface="Trebuchet MS"/>
              </a:rPr>
              <a:t>RISKS &amp; OPEN DECISIONS</a:t>
            </a:r>
          </a:p>
        </p:txBody>
      </p:sp>
      <p:sp>
        <p:nvSpPr>
          <p:cNvPr id="5" name="TextBox 4"/>
          <p:cNvSpPr txBox="1"/>
          <p:nvPr/>
        </p:nvSpPr>
        <p:spPr>
          <a:xfrm>
            <a:off x="841248" y="676656"/>
            <a:ext cx="10874959" cy="384048"/>
          </a:xfrm>
          <a:prstGeom prst="rect">
            <a:avLst/>
          </a:prstGeom>
          <a:noFill/>
        </p:spPr>
        <p:txBody>
          <a:bodyPr wrap="square" anchor="t" lIns="0" rIns="0" tIns="0" bIns="0">
            <a:spAutoFit/>
          </a:bodyPr>
          <a:lstStyle/>
          <a:p>
            <a:pPr algn="l">
              <a:lnSpc>
                <a:spcPct val="95000"/>
              </a:lnSpc>
              <a:spcAft>
                <a:spcPts val="0"/>
              </a:spcAft>
            </a:pPr>
            <a:r>
              <a:rPr sz="2400" b="1" i="0">
                <a:solidFill>
                  <a:srgbClr val="243018"/>
                </a:solidFill>
                <a:latin typeface="Trebuchet MS"/>
              </a:rPr>
              <a:t>Six things that need an owner and a date</a:t>
            </a:r>
          </a:p>
        </p:txBody>
      </p:sp>
      <p:graphicFrame>
        <p:nvGraphicFramePr>
          <p:cNvPr id="6" name="Table 5"/>
          <p:cNvGraphicFramePr>
            <a:graphicFrameLocks noGrp="1"/>
          </p:cNvGraphicFramePr>
          <p:nvPr/>
        </p:nvGraphicFramePr>
        <p:xfrm>
          <a:off x="658368" y="1298448"/>
          <a:ext cx="10874960" cy="4242816"/>
        </p:xfrm>
        <a:graphic>
          <a:graphicData uri="http://schemas.openxmlformats.org/drawingml/2006/table">
            <a:tbl>
              <a:tblPr firstRow="1">
                <a:tableStyleId>{5C22544A-7EE6-4342-B048-85BDC9FD1C3A}</a:tableStyleId>
              </a:tblPr>
              <a:tblGrid>
                <a:gridCol w="2193269"/>
                <a:gridCol w="2924359"/>
                <a:gridCol w="1599259"/>
                <a:gridCol w="4158073"/>
              </a:tblGrid>
              <a:tr h="292608">
                <a:tc>
                  <a:txBody>
                    <a:bodyPr wrap="square"/>
                    <a:lstStyle/>
                    <a:p>
                      <a:r>
                        <a:rPr sz="1050" b="1" i="0">
                          <a:solidFill>
                            <a:srgbClr val="F6F0E2"/>
                          </a:solidFill>
                          <a:latin typeface="Calibri"/>
                        </a:rPr>
                        <a:t>Risk / decision</a:t>
                      </a:r>
                    </a:p>
                  </a:txBody>
                  <a:tcPr marL="91440" marR="73152" marT="36576" marB="36576" anchor="ctr">
                    <a:solidFill>
                      <a:srgbClr val="D4533A"/>
                    </a:solidFill>
                  </a:tcPr>
                </a:tc>
                <a:tc>
                  <a:txBody>
                    <a:bodyPr wrap="square"/>
                    <a:lstStyle/>
                    <a:p>
                      <a:r>
                        <a:rPr sz="1050" b="1" i="0">
                          <a:solidFill>
                            <a:srgbClr val="F6F0E2"/>
                          </a:solidFill>
                          <a:latin typeface="Calibri"/>
                        </a:rPr>
                        <a:t>Impact if we do nothing</a:t>
                      </a:r>
                    </a:p>
                  </a:txBody>
                  <a:tcPr marL="91440" marR="73152" marT="36576" marB="36576" anchor="ctr">
                    <a:solidFill>
                      <a:srgbClr val="D4533A"/>
                    </a:solidFill>
                  </a:tcPr>
                </a:tc>
                <a:tc>
                  <a:txBody>
                    <a:bodyPr wrap="square"/>
                    <a:lstStyle/>
                    <a:p>
                      <a:r>
                        <a:rPr sz="1050" b="1" i="0">
                          <a:solidFill>
                            <a:srgbClr val="F6F0E2"/>
                          </a:solidFill>
                          <a:latin typeface="Calibri"/>
                        </a:rPr>
                        <a:t>Call needed from</a:t>
                      </a:r>
                    </a:p>
                  </a:txBody>
                  <a:tcPr marL="91440" marR="73152" marT="36576" marB="36576" anchor="ctr">
                    <a:solidFill>
                      <a:srgbClr val="D4533A"/>
                    </a:solidFill>
                  </a:tcPr>
                </a:tc>
                <a:tc>
                  <a:txBody>
                    <a:bodyPr wrap="square"/>
                    <a:lstStyle/>
                    <a:p>
                      <a:r>
                        <a:rPr sz="1050" b="1" i="0">
                          <a:solidFill>
                            <a:srgbClr val="F6F0E2"/>
                          </a:solidFill>
                          <a:latin typeface="Calibri"/>
                        </a:rPr>
                        <a:t>My recommendation</a:t>
                      </a:r>
                    </a:p>
                  </a:txBody>
                  <a:tcPr marL="91440" marR="73152" marT="36576" marB="36576" anchor="ctr">
                    <a:solidFill>
                      <a:srgbClr val="D4533A"/>
                    </a:solidFill>
                  </a:tcPr>
                </a:tc>
              </a:tr>
              <a:tr h="658368">
                <a:tc>
                  <a:txBody>
                    <a:bodyPr wrap="square"/>
                    <a:lstStyle/>
                    <a:p>
                      <a:r>
                        <a:rPr sz="1000" b="1" i="0">
                          <a:solidFill>
                            <a:srgbClr val="243018"/>
                          </a:solidFill>
                          <a:latin typeface="Calibri"/>
                        </a:rPr>
                        <a:t>Admin panel is unauthenticated</a:t>
                      </a:r>
                    </a:p>
                  </a:txBody>
                  <a:tcPr marL="91440" marR="73152" marT="36576" marB="36576" anchor="ctr">
                    <a:solidFill>
                      <a:srgbClr val="F6F0E2"/>
                    </a:solidFill>
                  </a:tcPr>
                </a:tc>
                <a:tc>
                  <a:txBody>
                    <a:bodyPr wrap="square"/>
                    <a:lstStyle/>
                    <a:p>
                      <a:r>
                        <a:rPr sz="1000" b="0" i="0">
                          <a:solidFill>
                            <a:srgbClr val="243018"/>
                          </a:solidFill>
                          <a:latin typeface="Calibri"/>
                        </a:rPr>
                        <a:t>Anyone reaching the port can alter any order. Blocks any real launch.</a:t>
                      </a:r>
                    </a:p>
                  </a:txBody>
                  <a:tcPr marL="91440" marR="73152" marT="36576" marB="36576" anchor="ctr">
                    <a:solidFill>
                      <a:srgbClr val="F6F0E2"/>
                    </a:solidFill>
                  </a:tcPr>
                </a:tc>
                <a:tc>
                  <a:txBody>
                    <a:bodyPr wrap="square"/>
                    <a:lstStyle/>
                    <a:p>
                      <a:r>
                        <a:rPr sz="1000" b="0" i="0">
                          <a:solidFill>
                            <a:srgbClr val="243018"/>
                          </a:solidFill>
                          <a:latin typeface="Calibri"/>
                        </a:rPr>
                        <a:t>Architecture + me</a:t>
                      </a:r>
                    </a:p>
                  </a:txBody>
                  <a:tcPr marL="91440" marR="73152" marT="36576" marB="36576" anchor="ctr">
                    <a:solidFill>
                      <a:srgbClr val="F6F0E2"/>
                    </a:solidFill>
                  </a:tcPr>
                </a:tc>
                <a:tc>
                  <a:txBody>
                    <a:bodyPr wrap="square"/>
                    <a:lstStyle/>
                    <a:p>
                      <a:r>
                        <a:rPr sz="1000" b="0" i="0">
                          <a:solidFill>
                            <a:srgbClr val="243018"/>
                          </a:solidFill>
                          <a:latin typeface="Calibri"/>
                        </a:rPr>
                        <a:t>Fix it first, before the database. Roles rather than a shared password, and record who changed what.</a:t>
                      </a:r>
                    </a:p>
                  </a:txBody>
                  <a:tcPr marL="91440" marR="73152" marT="36576" marB="36576" anchor="ctr">
                    <a:solidFill>
                      <a:srgbClr val="F6F0E2"/>
                    </a:solidFill>
                  </a:tcPr>
                </a:tc>
              </a:tr>
              <a:tr h="658368">
                <a:tc>
                  <a:txBody>
                    <a:bodyPr wrap="square"/>
                    <a:lstStyle/>
                    <a:p>
                      <a:r>
                        <a:rPr sz="1000" b="1" i="0">
                          <a:solidFill>
                            <a:srgbClr val="243018"/>
                          </a:solidFill>
                          <a:latin typeface="Calibri"/>
                        </a:rPr>
                        <a:t>A subscription is not an entity</a:t>
                      </a:r>
                    </a:p>
                  </a:txBody>
                  <a:tcPr marL="91440" marR="73152" marT="36576" marB="36576" anchor="ctr">
                    <a:solidFill>
                      <a:srgbClr val="FFFFFF"/>
                    </a:solidFill>
                  </a:tcPr>
                </a:tc>
                <a:tc>
                  <a:txBody>
                    <a:bodyPr wrap="square"/>
                    <a:lstStyle/>
                    <a:p>
                      <a:r>
                        <a:rPr sz="1000" b="0" i="0">
                          <a:solidFill>
                            <a:srgbClr val="243018"/>
                          </a:solidFill>
                          <a:latin typeface="Calibri"/>
                        </a:rPr>
                        <a:t>No second delivery is ever generated, there's nothing to pause, and ops can't tell what to press for a subscriber.</a:t>
                      </a:r>
                    </a:p>
                  </a:txBody>
                  <a:tcPr marL="91440" marR="73152" marT="36576" marB="36576" anchor="ctr">
                    <a:solidFill>
                      <a:srgbClr val="FFFFFF"/>
                    </a:solidFill>
                  </a:tcPr>
                </a:tc>
                <a:tc>
                  <a:txBody>
                    <a:bodyPr wrap="square"/>
                    <a:lstStyle/>
                    <a:p>
                      <a:r>
                        <a:rPr sz="1000" b="0" i="0">
                          <a:solidFill>
                            <a:srgbClr val="243018"/>
                          </a:solidFill>
                          <a:latin typeface="Calibri"/>
                        </a:rPr>
                        <a:t>Me + architecture</a:t>
                      </a:r>
                    </a:p>
                  </a:txBody>
                  <a:tcPr marL="91440" marR="73152" marT="36576" marB="36576" anchor="ctr">
                    <a:solidFill>
                      <a:srgbClr val="FFFFFF"/>
                    </a:solidFill>
                  </a:tcPr>
                </a:tc>
                <a:tc>
                  <a:txBody>
                    <a:bodyPr wrap="square"/>
                    <a:lstStyle/>
                    <a:p>
                      <a:r>
                        <a:rPr sz="1000" b="0" i="0">
                          <a:solidFill>
                            <a:srgbClr val="243018"/>
                          </a:solidFill>
                          <a:latin typeface="Calibri"/>
                        </a:rPr>
                        <a:t>Build the real entity that generates an order per delivery. Get the shape right before there's data to migrate.</a:t>
                      </a:r>
                    </a:p>
                  </a:txBody>
                  <a:tcPr marL="91440" marR="73152" marT="36576" marB="36576" anchor="ctr">
                    <a:solidFill>
                      <a:srgbClr val="FFFFFF"/>
                    </a:solidFill>
                  </a:tcPr>
                </a:tc>
              </a:tr>
              <a:tr h="658368">
                <a:tc>
                  <a:txBody>
                    <a:bodyPr wrap="square"/>
                    <a:lstStyle/>
                    <a:p>
                      <a:r>
                        <a:rPr sz="1000" b="1" i="0">
                          <a:solidFill>
                            <a:srgbClr val="243018"/>
                          </a:solidFill>
                          <a:latin typeface="Calibri"/>
                        </a:rPr>
                        <a:t>The delivery-date rule contradicts itself</a:t>
                      </a:r>
                    </a:p>
                  </a:txBody>
                  <a:tcPr marL="91440" marR="73152" marT="36576" marB="36576" anchor="ctr">
                    <a:solidFill>
                      <a:srgbClr val="F6F0E2"/>
                    </a:solidFill>
                  </a:tcPr>
                </a:tc>
                <a:tc>
                  <a:txBody>
                    <a:bodyPr wrap="square"/>
                    <a:lstStyle/>
                    <a:p>
                      <a:r>
                        <a:rPr sz="1000" b="0" i="0">
                          <a:solidFill>
                            <a:srgbClr val="243018"/>
                          </a:solidFill>
                          <a:latin typeface="Calibri"/>
                        </a:rPr>
                        <a:t>Subscription checkout is internally inconsistent today, and it's the rule cancellation windows depend on.</a:t>
                      </a:r>
                    </a:p>
                  </a:txBody>
                  <a:tcPr marL="91440" marR="73152" marT="36576" marB="36576" anchor="ctr">
                    <a:solidFill>
                      <a:srgbClr val="F6F0E2"/>
                    </a:solidFill>
                  </a:tcPr>
                </a:tc>
                <a:tc>
                  <a:txBody>
                    <a:bodyPr wrap="square"/>
                    <a:lstStyle/>
                    <a:p>
                      <a:r>
                        <a:rPr sz="1000" b="0" i="0">
                          <a:solidFill>
                            <a:srgbClr val="243018"/>
                          </a:solidFill>
                          <a:latin typeface="Calibri"/>
                        </a:rPr>
                        <a:t>Me + ops</a:t>
                      </a:r>
                    </a:p>
                  </a:txBody>
                  <a:tcPr marL="91440" marR="73152" marT="36576" marB="36576" anchor="ctr">
                    <a:solidFill>
                      <a:srgbClr val="F6F0E2"/>
                    </a:solidFill>
                  </a:tcPr>
                </a:tc>
                <a:tc>
                  <a:txBody>
                    <a:bodyPr wrap="square"/>
                    <a:lstStyle/>
                    <a:p>
                      <a:r>
                        <a:rPr sz="1000" b="0" i="0">
                          <a:solidFill>
                            <a:srgbClr val="243018"/>
                          </a:solidFill>
                          <a:latin typeface="Calibri"/>
                        </a:rPr>
                        <a:t>Define the cutoff — “order before 8pm → next day” — then make one helper the single source of truth.</a:t>
                      </a:r>
                    </a:p>
                  </a:txBody>
                  <a:tcPr marL="91440" marR="73152" marT="36576" marB="36576" anchor="ctr">
                    <a:solidFill>
                      <a:srgbClr val="F6F0E2"/>
                    </a:solidFill>
                  </a:tcPr>
                </a:tc>
              </a:tr>
              <a:tr h="658368">
                <a:tc>
                  <a:txBody>
                    <a:bodyPr wrap="square"/>
                    <a:lstStyle/>
                    <a:p>
                      <a:r>
                        <a:rPr sz="1000" b="1" i="0">
                          <a:solidFill>
                            <a:srgbClr val="243018"/>
                          </a:solidFill>
                          <a:latin typeface="Calibri"/>
                        </a:rPr>
                        <a:t>Serviceability is switched off</a:t>
                      </a:r>
                    </a:p>
                  </a:txBody>
                  <a:tcPr marL="91440" marR="73152" marT="36576" marB="36576" anchor="ctr">
                    <a:solidFill>
                      <a:srgbClr val="FFFFFF"/>
                    </a:solidFill>
                  </a:tcPr>
                </a:tc>
                <a:tc>
                  <a:txBody>
                    <a:bodyPr wrap="square"/>
                    <a:lstStyle/>
                    <a:p>
                      <a:r>
                        <a:rPr sz="1000" b="0" i="0">
                          <a:solidFill>
                            <a:srgbClr val="243018"/>
                          </a:solidFill>
                          <a:latin typeface="Calibri"/>
                        </a:rPr>
                        <a:t>The hybrid contract is never exercised, and out-of-area demand is lost silently.</a:t>
                      </a:r>
                    </a:p>
                  </a:txBody>
                  <a:tcPr marL="91440" marR="73152" marT="36576" marB="36576" anchor="ctr">
                    <a:solidFill>
                      <a:srgbClr val="FFFFFF"/>
                    </a:solidFill>
                  </a:tcPr>
                </a:tc>
                <a:tc>
                  <a:txBody>
                    <a:bodyPr wrap="square"/>
                    <a:lstStyle/>
                    <a:p>
                      <a:r>
                        <a:rPr sz="1000" b="0" i="0">
                          <a:solidFill>
                            <a:srgbClr val="243018"/>
                          </a:solidFill>
                          <a:latin typeface="Calibri"/>
                        </a:rPr>
                        <a:t>Marketing + me</a:t>
                      </a:r>
                    </a:p>
                  </a:txBody>
                  <a:tcPr marL="91440" marR="73152" marT="36576" marB="36576" anchor="ctr">
                    <a:solidFill>
                      <a:srgbClr val="FFFFFF"/>
                    </a:solidFill>
                  </a:tcPr>
                </a:tc>
                <a:tc>
                  <a:txBody>
                    <a:bodyPr wrap="square"/>
                    <a:lstStyle/>
                    <a:p>
                      <a:r>
                        <a:rPr sz="1000" b="0" i="0">
                          <a:solidFill>
                            <a:srgbClr val="243018"/>
                          </a:solidFill>
                          <a:latin typeface="Calibri"/>
                        </a:rPr>
                        <a:t>Decide the launch cities and the out-of-area experience, add waitlist capture, then flip the flag back.</a:t>
                      </a:r>
                    </a:p>
                  </a:txBody>
                  <a:tcPr marL="91440" marR="73152" marT="36576" marB="36576" anchor="ctr">
                    <a:solidFill>
                      <a:srgbClr val="FFFFFF"/>
                    </a:solidFill>
                  </a:tcPr>
                </a:tc>
              </a:tr>
              <a:tr h="658368">
                <a:tc>
                  <a:txBody>
                    <a:bodyPr wrap="square"/>
                    <a:lstStyle/>
                    <a:p>
                      <a:r>
                        <a:rPr sz="1000" b="1" i="0">
                          <a:solidFill>
                            <a:srgbClr val="243018"/>
                          </a:solidFill>
                          <a:latin typeface="Calibri"/>
                        </a:rPr>
                        <a:t>Guest checkout contradicts itself</a:t>
                      </a:r>
                    </a:p>
                  </a:txBody>
                  <a:tcPr marL="91440" marR="73152" marT="36576" marB="36576" anchor="ctr">
                    <a:solidFill>
                      <a:srgbClr val="F6F0E2"/>
                    </a:solidFill>
                  </a:tcPr>
                </a:tc>
                <a:tc>
                  <a:txBody>
                    <a:bodyPr wrap="square"/>
                    <a:lstStyle/>
                    <a:p>
                      <a:r>
                        <a:rPr sz="1000" b="0" i="0">
                          <a:solidFill>
                            <a:srgbClr val="243018"/>
                          </a:solidFill>
                          <a:latin typeface="Calibri"/>
                        </a:rPr>
                        <a:t>The UI offers it and the server rejects it. Measurable conversion loss.</a:t>
                      </a:r>
                    </a:p>
                  </a:txBody>
                  <a:tcPr marL="91440" marR="73152" marT="36576" marB="36576" anchor="ctr">
                    <a:solidFill>
                      <a:srgbClr val="F6F0E2"/>
                    </a:solidFill>
                  </a:tcPr>
                </a:tc>
                <a:tc>
                  <a:txBody>
                    <a:bodyPr wrap="square"/>
                    <a:lstStyle/>
                    <a:p>
                      <a:r>
                        <a:rPr sz="1000" b="0" i="0">
                          <a:solidFill>
                            <a:srgbClr val="243018"/>
                          </a:solidFill>
                          <a:latin typeface="Calibri"/>
                        </a:rPr>
                        <a:t>Design + me</a:t>
                      </a:r>
                    </a:p>
                  </a:txBody>
                  <a:tcPr marL="91440" marR="73152" marT="36576" marB="36576" anchor="ctr">
                    <a:solidFill>
                      <a:srgbClr val="F6F0E2"/>
                    </a:solidFill>
                  </a:tcPr>
                </a:tc>
                <a:tc>
                  <a:txBody>
                    <a:bodyPr wrap="square"/>
                    <a:lstStyle/>
                    <a:p>
                      <a:r>
                        <a:rPr sz="1000" b="0" i="0">
                          <a:solidFill>
                            <a:srgbClr val="243018"/>
                          </a:solidFill>
                          <a:latin typeface="Calibri"/>
                        </a:rPr>
                        <a:t>Allow real guest checkout, with claim-by-email on signup. The machinery already exists.</a:t>
                      </a:r>
                    </a:p>
                  </a:txBody>
                  <a:tcPr marL="91440" marR="73152" marT="36576" marB="36576" anchor="ctr">
                    <a:solidFill>
                      <a:srgbClr val="F6F0E2"/>
                    </a:solidFill>
                  </a:tcPr>
                </a:tc>
              </a:tr>
              <a:tr h="658368">
                <a:tc>
                  <a:txBody>
                    <a:bodyPr wrap="square"/>
                    <a:lstStyle/>
                    <a:p>
                      <a:r>
                        <a:rPr sz="1000" b="1" i="0">
                          <a:solidFill>
                            <a:srgbClr val="243018"/>
                          </a:solidFill>
                          <a:latin typeface="Calibri"/>
                        </a:rPr>
                        <a:t>No confirmation email</a:t>
                      </a:r>
                    </a:p>
                  </a:txBody>
                  <a:tcPr marL="91440" marR="73152" marT="36576" marB="36576" anchor="ctr">
                    <a:solidFill>
                      <a:srgbClr val="FFFFFF"/>
                    </a:solidFill>
                  </a:tcPr>
                </a:tc>
                <a:tc>
                  <a:txBody>
                    <a:bodyPr wrap="square"/>
                    <a:lstStyle/>
                    <a:p>
                      <a:r>
                        <a:rPr sz="1000" b="0" i="0">
                          <a:solidFill>
                            <a:srgbClr val="243018"/>
                          </a:solidFill>
                          <a:latin typeface="Calibri"/>
                        </a:rPr>
                        <a:t>Customers have no record of an order once they close the tab.</a:t>
                      </a:r>
                    </a:p>
                  </a:txBody>
                  <a:tcPr marL="91440" marR="73152" marT="36576" marB="36576" anchor="ctr">
                    <a:solidFill>
                      <a:srgbClr val="FFFFFF"/>
                    </a:solidFill>
                  </a:tcPr>
                </a:tc>
                <a:tc>
                  <a:txBody>
                    <a:bodyPr wrap="square"/>
                    <a:lstStyle/>
                    <a:p>
                      <a:r>
                        <a:rPr sz="1000" b="0" i="0">
                          <a:solidFill>
                            <a:srgbClr val="243018"/>
                          </a:solidFill>
                          <a:latin typeface="Calibri"/>
                        </a:rPr>
                        <a:t>Marketing + DevOps</a:t>
                      </a:r>
                    </a:p>
                  </a:txBody>
                  <a:tcPr marL="91440" marR="73152" marT="36576" marB="36576" anchor="ctr">
                    <a:solidFill>
                      <a:srgbClr val="FFFFFF"/>
                    </a:solidFill>
                  </a:tcPr>
                </a:tc>
                <a:tc>
                  <a:txBody>
                    <a:bodyPr wrap="square"/>
                    <a:lstStyle/>
                    <a:p>
                      <a:r>
                        <a:rPr sz="1000" b="0" i="0">
                          <a:solidFill>
                            <a:srgbClr val="243018"/>
                          </a:solidFill>
                          <a:latin typeface="Calibri"/>
                        </a:rPr>
                        <a:t>Treat it as launch table stakes. Order placement is the natural hook.</a:t>
                      </a:r>
                    </a:p>
                  </a:txBody>
                  <a:tcPr marL="91440" marR="73152" marT="36576" marB="36576" anchor="ctr">
                    <a:solidFill>
                      <a:srgbClr val="FFFFFF"/>
                    </a:solidFill>
                  </a:tcPr>
                </a:tc>
              </a:tr>
            </a:tbl>
          </a:graphicData>
        </a:graphic>
      </p:graphicFrame>
      <p:sp>
        <p:nvSpPr>
          <p:cNvPr id="7" name="TextBox 6"/>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8A9380"/>
                </a:solidFill>
                <a:latin typeface="Calibri"/>
              </a:rPr>
              <a:t>GlowRoot  ·  Project walkthrough</a:t>
            </a:r>
          </a:p>
        </p:txBody>
      </p:sp>
      <p:sp>
        <p:nvSpPr>
          <p:cNvPr id="8" name="TextBox 7"/>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8A93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3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58368" y="530352"/>
            <a:ext cx="50292" cy="475488"/>
          </a:xfrm>
          <a:prstGeom prst="rect">
            <a:avLst/>
          </a:prstGeom>
          <a:solidFill>
            <a:srgbClr val="D97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512064"/>
            <a:ext cx="10874959" cy="219456"/>
          </a:xfrm>
          <a:prstGeom prst="rect">
            <a:avLst/>
          </a:prstGeom>
          <a:noFill/>
        </p:spPr>
        <p:txBody>
          <a:bodyPr wrap="square" anchor="t" lIns="0" rIns="0" tIns="0" bIns="0">
            <a:spAutoFit/>
          </a:bodyPr>
          <a:lstStyle/>
          <a:p>
            <a:pPr algn="l">
              <a:lnSpc>
                <a:spcPct val="100000"/>
              </a:lnSpc>
              <a:spcAft>
                <a:spcPts val="0"/>
              </a:spcAft>
            </a:pPr>
            <a:r>
              <a:rPr sz="1050" b="1" i="0">
                <a:solidFill>
                  <a:srgbClr val="E8B23F"/>
                </a:solidFill>
                <a:latin typeface="Trebuchet MS"/>
              </a:rPr>
              <a:t>WHAT I NEED FROM YOU</a:t>
            </a:r>
          </a:p>
        </p:txBody>
      </p:sp>
      <p:sp>
        <p:nvSpPr>
          <p:cNvPr id="6" name="TextBox 5"/>
          <p:cNvSpPr txBox="1"/>
          <p:nvPr/>
        </p:nvSpPr>
        <p:spPr>
          <a:xfrm>
            <a:off x="841248" y="731520"/>
            <a:ext cx="10874959" cy="384048"/>
          </a:xfrm>
          <a:prstGeom prst="rect">
            <a:avLst/>
          </a:prstGeom>
          <a:noFill/>
        </p:spPr>
        <p:txBody>
          <a:bodyPr wrap="square" anchor="t" lIns="0" rIns="0" tIns="0" bIns="0">
            <a:spAutoFit/>
          </a:bodyPr>
          <a:lstStyle/>
          <a:p>
            <a:pPr algn="l">
              <a:lnSpc>
                <a:spcPct val="100000"/>
              </a:lnSpc>
              <a:spcAft>
                <a:spcPts val="0"/>
              </a:spcAft>
            </a:pPr>
            <a:r>
              <a:rPr sz="2400" b="1" i="0">
                <a:solidFill>
                  <a:srgbClr val="F6F0E2"/>
                </a:solidFill>
                <a:latin typeface="Trebuchet MS"/>
              </a:rPr>
              <a:t>One ask each — and the date I need it by</a:t>
            </a:r>
          </a:p>
        </p:txBody>
      </p:sp>
      <p:sp>
        <p:nvSpPr>
          <p:cNvPr id="7" name="Rectangle 6"/>
          <p:cNvSpPr/>
          <p:nvPr/>
        </p:nvSpPr>
        <p:spPr>
          <a:xfrm>
            <a:off x="658368" y="1444752"/>
            <a:ext cx="10874959" cy="859536"/>
          </a:xfrm>
          <a:prstGeom prst="rect">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1444752"/>
            <a:ext cx="41148" cy="859536"/>
          </a:xfrm>
          <a:prstGeom prst="rect">
            <a:avLst/>
          </a:prstGeom>
          <a:solidFill>
            <a:srgbClr val="5A8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1609344"/>
            <a:ext cx="2377440" cy="274320"/>
          </a:xfrm>
          <a:prstGeom prst="rect">
            <a:avLst/>
          </a:prstGeom>
          <a:noFill/>
        </p:spPr>
        <p:txBody>
          <a:bodyPr wrap="square" anchor="t" lIns="0" rIns="0" tIns="0" bIns="0">
            <a:spAutoFit/>
          </a:bodyPr>
          <a:lstStyle/>
          <a:p>
            <a:pPr algn="l">
              <a:lnSpc>
                <a:spcPct val="100000"/>
              </a:lnSpc>
              <a:spcAft>
                <a:spcPts val="0"/>
              </a:spcAft>
            </a:pPr>
            <a:r>
              <a:rPr sz="1300" b="1" i="0">
                <a:solidFill>
                  <a:srgbClr val="5A8A4A"/>
                </a:solidFill>
                <a:latin typeface="Trebuchet MS"/>
              </a:rPr>
              <a:t>Senior architects</a:t>
            </a:r>
          </a:p>
        </p:txBody>
      </p:sp>
      <p:sp>
        <p:nvSpPr>
          <p:cNvPr id="10" name="TextBox 9"/>
          <p:cNvSpPr txBox="1"/>
          <p:nvPr/>
        </p:nvSpPr>
        <p:spPr>
          <a:xfrm>
            <a:off x="3447288" y="1572768"/>
            <a:ext cx="7811719" cy="658368"/>
          </a:xfrm>
          <a:prstGeom prst="rect">
            <a:avLst/>
          </a:prstGeom>
          <a:noFill/>
        </p:spPr>
        <p:txBody>
          <a:bodyPr wrap="square" anchor="t" lIns="0" rIns="0" tIns="0" bIns="0">
            <a:spAutoFit/>
          </a:bodyPr>
          <a:lstStyle/>
          <a:p>
            <a:pPr algn="l">
              <a:lnSpc>
                <a:spcPct val="116000"/>
              </a:lnSpc>
              <a:spcAft>
                <a:spcPts val="0"/>
              </a:spcAft>
            </a:pPr>
            <a:r>
              <a:rPr sz="1150" b="0" i="0">
                <a:solidFill>
                  <a:srgbClr val="C2D1B9"/>
                </a:solidFill>
                <a:latin typeface="Calibri"/>
              </a:rPr>
              <a:t>Review the three issues on slide 12 and tell me whether “no separate service” still holds at ten times the traffic. Then rule on the missing user ID — I want that fixed before there's data to migrate.</a:t>
            </a:r>
          </a:p>
        </p:txBody>
      </p:sp>
      <p:sp>
        <p:nvSpPr>
          <p:cNvPr id="11" name="Rectangle 10"/>
          <p:cNvSpPr/>
          <p:nvPr/>
        </p:nvSpPr>
        <p:spPr>
          <a:xfrm>
            <a:off x="658368" y="2359152"/>
            <a:ext cx="10874959" cy="859536"/>
          </a:xfrm>
          <a:prstGeom prst="rect">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2359152"/>
            <a:ext cx="41148" cy="859536"/>
          </a:xfrm>
          <a:prstGeom prst="rect">
            <a:avLst/>
          </a:prstGeom>
          <a:solidFill>
            <a:srgbClr val="7A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2523744"/>
            <a:ext cx="2377440" cy="274320"/>
          </a:xfrm>
          <a:prstGeom prst="rect">
            <a:avLst/>
          </a:prstGeom>
          <a:noFill/>
        </p:spPr>
        <p:txBody>
          <a:bodyPr wrap="square" anchor="t" lIns="0" rIns="0" tIns="0" bIns="0">
            <a:spAutoFit/>
          </a:bodyPr>
          <a:lstStyle/>
          <a:p>
            <a:pPr algn="l">
              <a:lnSpc>
                <a:spcPct val="100000"/>
              </a:lnSpc>
              <a:spcAft>
                <a:spcPts val="0"/>
              </a:spcAft>
            </a:pPr>
            <a:r>
              <a:rPr sz="1300" b="1" i="0">
                <a:solidFill>
                  <a:srgbClr val="7A4A8F"/>
                </a:solidFill>
                <a:latin typeface="Trebuchet MS"/>
              </a:rPr>
              <a:t>UI / UX designers</a:t>
            </a:r>
          </a:p>
        </p:txBody>
      </p:sp>
      <p:sp>
        <p:nvSpPr>
          <p:cNvPr id="14" name="TextBox 13"/>
          <p:cNvSpPr txBox="1"/>
          <p:nvPr/>
        </p:nvSpPr>
        <p:spPr>
          <a:xfrm>
            <a:off x="3447288" y="2487168"/>
            <a:ext cx="7811719" cy="658368"/>
          </a:xfrm>
          <a:prstGeom prst="rect">
            <a:avLst/>
          </a:prstGeom>
          <a:noFill/>
        </p:spPr>
        <p:txBody>
          <a:bodyPr wrap="square" anchor="t" lIns="0" rIns="0" tIns="0" bIns="0">
            <a:spAutoFit/>
          </a:bodyPr>
          <a:lstStyle/>
          <a:p>
            <a:pPr algn="l">
              <a:lnSpc>
                <a:spcPct val="116000"/>
              </a:lnSpc>
              <a:spcAft>
                <a:spcPts val="0"/>
              </a:spcAft>
            </a:pPr>
            <a:r>
              <a:rPr sz="1150" b="0" i="0">
                <a:solidFill>
                  <a:srgbClr val="C2D1B9"/>
                </a:solidFill>
                <a:latin typeface="Calibri"/>
              </a:rPr>
              <a:t>The five calls on slide 16 — especially whether subscribers pick their own bottles, because that one decides whether ops can forecast produce at all. Plus the out-of-area and logged-out states we have nothing for.</a:t>
            </a:r>
          </a:p>
        </p:txBody>
      </p:sp>
      <p:sp>
        <p:nvSpPr>
          <p:cNvPr id="15" name="Rectangle 14"/>
          <p:cNvSpPr/>
          <p:nvPr/>
        </p:nvSpPr>
        <p:spPr>
          <a:xfrm>
            <a:off x="658368" y="3273552"/>
            <a:ext cx="10874959" cy="859536"/>
          </a:xfrm>
          <a:prstGeom prst="rect">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58368" y="3273552"/>
            <a:ext cx="41148" cy="859536"/>
          </a:xfrm>
          <a:prstGeom prst="rect">
            <a:avLst/>
          </a:prstGeom>
          <a:solidFill>
            <a:srgbClr val="E8B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438144"/>
            <a:ext cx="2377440" cy="274320"/>
          </a:xfrm>
          <a:prstGeom prst="rect">
            <a:avLst/>
          </a:prstGeom>
          <a:noFill/>
        </p:spPr>
        <p:txBody>
          <a:bodyPr wrap="square" anchor="t" lIns="0" rIns="0" tIns="0" bIns="0">
            <a:spAutoFit/>
          </a:bodyPr>
          <a:lstStyle/>
          <a:p>
            <a:pPr algn="l">
              <a:lnSpc>
                <a:spcPct val="100000"/>
              </a:lnSpc>
              <a:spcAft>
                <a:spcPts val="0"/>
              </a:spcAft>
            </a:pPr>
            <a:r>
              <a:rPr sz="1300" b="1" i="0">
                <a:solidFill>
                  <a:srgbClr val="E8B23F"/>
                </a:solidFill>
                <a:latin typeface="Trebuchet MS"/>
              </a:rPr>
              <a:t>Marketing</a:t>
            </a:r>
          </a:p>
        </p:txBody>
      </p:sp>
      <p:sp>
        <p:nvSpPr>
          <p:cNvPr id="18" name="TextBox 17"/>
          <p:cNvSpPr txBox="1"/>
          <p:nvPr/>
        </p:nvSpPr>
        <p:spPr>
          <a:xfrm>
            <a:off x="3447288" y="3401568"/>
            <a:ext cx="7811719" cy="658368"/>
          </a:xfrm>
          <a:prstGeom prst="rect">
            <a:avLst/>
          </a:prstGeom>
          <a:noFill/>
        </p:spPr>
        <p:txBody>
          <a:bodyPr wrap="square" anchor="t" lIns="0" rIns="0" tIns="0" bIns="0">
            <a:spAutoFit/>
          </a:bodyPr>
          <a:lstStyle/>
          <a:p>
            <a:pPr algn="l">
              <a:lnSpc>
                <a:spcPct val="116000"/>
              </a:lnSpc>
              <a:spcAft>
                <a:spcPts val="0"/>
              </a:spcAft>
            </a:pPr>
            <a:r>
              <a:rPr sz="1150" b="0" i="0">
                <a:solidFill>
                  <a:srgbClr val="C2D1B9"/>
                </a:solidFill>
                <a:latin typeface="Calibri"/>
              </a:rPr>
              <a:t>Launch cities, so I know when to switch the pincode allow-list back on. And a yes or no on the confirmation email being launch-blocking — I believe it is.</a:t>
            </a:r>
          </a:p>
        </p:txBody>
      </p:sp>
      <p:sp>
        <p:nvSpPr>
          <p:cNvPr id="19" name="Rectangle 18"/>
          <p:cNvSpPr/>
          <p:nvPr/>
        </p:nvSpPr>
        <p:spPr>
          <a:xfrm>
            <a:off x="658368" y="4187952"/>
            <a:ext cx="10874959" cy="859536"/>
          </a:xfrm>
          <a:prstGeom prst="rect">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4187952"/>
            <a:ext cx="41148" cy="859536"/>
          </a:xfrm>
          <a:prstGeom prst="rect">
            <a:avLst/>
          </a:prstGeom>
          <a:solidFill>
            <a:srgbClr val="D4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2" y="4352544"/>
            <a:ext cx="2377440" cy="274320"/>
          </a:xfrm>
          <a:prstGeom prst="rect">
            <a:avLst/>
          </a:prstGeom>
          <a:noFill/>
        </p:spPr>
        <p:txBody>
          <a:bodyPr wrap="square" anchor="t" lIns="0" rIns="0" tIns="0" bIns="0">
            <a:spAutoFit/>
          </a:bodyPr>
          <a:lstStyle/>
          <a:p>
            <a:pPr algn="l">
              <a:lnSpc>
                <a:spcPct val="100000"/>
              </a:lnSpc>
              <a:spcAft>
                <a:spcPts val="0"/>
              </a:spcAft>
            </a:pPr>
            <a:r>
              <a:rPr sz="1300" b="1" i="0">
                <a:solidFill>
                  <a:srgbClr val="D4533A"/>
                </a:solidFill>
                <a:latin typeface="Trebuchet MS"/>
              </a:rPr>
              <a:t>QA</a:t>
            </a:r>
          </a:p>
        </p:txBody>
      </p:sp>
      <p:sp>
        <p:nvSpPr>
          <p:cNvPr id="22" name="TextBox 21"/>
          <p:cNvSpPr txBox="1"/>
          <p:nvPr/>
        </p:nvSpPr>
        <p:spPr>
          <a:xfrm>
            <a:off x="3447288" y="4315968"/>
            <a:ext cx="7811719" cy="658368"/>
          </a:xfrm>
          <a:prstGeom prst="rect">
            <a:avLst/>
          </a:prstGeom>
          <a:noFill/>
        </p:spPr>
        <p:txBody>
          <a:bodyPr wrap="square" anchor="t" lIns="0" rIns="0" tIns="0" bIns="0">
            <a:spAutoFit/>
          </a:bodyPr>
          <a:lstStyle/>
          <a:p>
            <a:pPr algn="l">
              <a:lnSpc>
                <a:spcPct val="116000"/>
              </a:lnSpc>
              <a:spcAft>
                <a:spcPts val="0"/>
              </a:spcAft>
            </a:pPr>
            <a:r>
              <a:rPr sz="1150" b="0" i="0">
                <a:solidFill>
                  <a:srgbClr val="C2D1B9"/>
                </a:solidFill>
                <a:latin typeface="Calibri"/>
              </a:rPr>
              <a:t>Automate the one-time happy path and the payment decline path first. Then treat the documented gaps on slide 18 as expected failures rather than new bugs, and log them against roadmap items.</a:t>
            </a:r>
          </a:p>
        </p:txBody>
      </p:sp>
      <p:sp>
        <p:nvSpPr>
          <p:cNvPr id="23" name="Rectangle 22"/>
          <p:cNvSpPr/>
          <p:nvPr/>
        </p:nvSpPr>
        <p:spPr>
          <a:xfrm>
            <a:off x="658368" y="5102352"/>
            <a:ext cx="10874959" cy="859536"/>
          </a:xfrm>
          <a:prstGeom prst="rect">
            <a:avLst/>
          </a:prstGeom>
          <a:solidFill>
            <a:srgbClr val="143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102352"/>
            <a:ext cx="41148" cy="859536"/>
          </a:xfrm>
          <a:prstGeom prst="rect">
            <a:avLst/>
          </a:prstGeom>
          <a:solidFill>
            <a:srgbClr val="4A7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5266944"/>
            <a:ext cx="2377440" cy="274320"/>
          </a:xfrm>
          <a:prstGeom prst="rect">
            <a:avLst/>
          </a:prstGeom>
          <a:noFill/>
        </p:spPr>
        <p:txBody>
          <a:bodyPr wrap="square" anchor="t" lIns="0" rIns="0" tIns="0" bIns="0">
            <a:spAutoFit/>
          </a:bodyPr>
          <a:lstStyle/>
          <a:p>
            <a:pPr algn="l">
              <a:lnSpc>
                <a:spcPct val="100000"/>
              </a:lnSpc>
              <a:spcAft>
                <a:spcPts val="0"/>
              </a:spcAft>
            </a:pPr>
            <a:r>
              <a:rPr sz="1300" b="1" i="0">
                <a:solidFill>
                  <a:srgbClr val="4A7C8F"/>
                </a:solidFill>
                <a:latin typeface="Trebuchet MS"/>
              </a:rPr>
              <a:t>DevOps</a:t>
            </a:r>
          </a:p>
        </p:txBody>
      </p:sp>
      <p:sp>
        <p:nvSpPr>
          <p:cNvPr id="26" name="TextBox 25"/>
          <p:cNvSpPr txBox="1"/>
          <p:nvPr/>
        </p:nvSpPr>
        <p:spPr>
          <a:xfrm>
            <a:off x="3447288" y="5230368"/>
            <a:ext cx="7811719" cy="658368"/>
          </a:xfrm>
          <a:prstGeom prst="rect">
            <a:avLst/>
          </a:prstGeom>
          <a:noFill/>
        </p:spPr>
        <p:txBody>
          <a:bodyPr wrap="square" anchor="t" lIns="0" rIns="0" tIns="0" bIns="0">
            <a:spAutoFit/>
          </a:bodyPr>
          <a:lstStyle/>
          <a:p>
            <a:pPr algn="l">
              <a:lnSpc>
                <a:spcPct val="116000"/>
              </a:lnSpc>
              <a:spcAft>
                <a:spcPts val="0"/>
              </a:spcAft>
            </a:pPr>
            <a:r>
              <a:rPr sz="1150" b="0" i="0">
                <a:solidFill>
                  <a:srgbClr val="C2D1B9"/>
                </a:solidFill>
                <a:latin typeface="Calibri"/>
              </a:rPr>
              <a:t>A cost and lead time for managed Postgres plus two deploy targets, and the shape of secrets management. The cookie-port collision on slide 19 is the one thing I'd flag before you start.</a:t>
            </a:r>
          </a:p>
        </p:txBody>
      </p:sp>
      <p:sp>
        <p:nvSpPr>
          <p:cNvPr id="27" name="TextBox 26"/>
          <p:cNvSpPr txBox="1"/>
          <p:nvPr/>
        </p:nvSpPr>
        <p:spPr>
          <a:xfrm>
            <a:off x="658368" y="6053328"/>
            <a:ext cx="10874959" cy="274320"/>
          </a:xfrm>
          <a:prstGeom prst="rect">
            <a:avLst/>
          </a:prstGeom>
          <a:noFill/>
        </p:spPr>
        <p:txBody>
          <a:bodyPr wrap="square" anchor="t" lIns="0" rIns="0" tIns="0" bIns="0">
            <a:spAutoFit/>
          </a:bodyPr>
          <a:lstStyle/>
          <a:p>
            <a:pPr algn="l">
              <a:lnSpc>
                <a:spcPct val="100000"/>
              </a:lnSpc>
              <a:spcAft>
                <a:spcPts val="0"/>
              </a:spcAft>
            </a:pPr>
            <a:r>
              <a:rPr sz="1100" b="0" i="1">
                <a:solidFill>
                  <a:srgbClr val="869A7C"/>
                </a:solidFill>
                <a:latin typeface="Calibri"/>
              </a:rPr>
              <a:t>Every open question in this deck is written down in the repo docs — none of it lives only in my head.</a:t>
            </a:r>
          </a:p>
        </p:txBody>
      </p:sp>
      <p:sp>
        <p:nvSpPr>
          <p:cNvPr id="28" name="TextBox 27"/>
          <p:cNvSpPr txBox="1"/>
          <p:nvPr/>
        </p:nvSpPr>
        <p:spPr>
          <a:xfrm>
            <a:off x="658368" y="6400800"/>
            <a:ext cx="10326319" cy="219456"/>
          </a:xfrm>
          <a:prstGeom prst="rect">
            <a:avLst/>
          </a:prstGeom>
          <a:noFill/>
        </p:spPr>
        <p:txBody>
          <a:bodyPr wrap="square" anchor="t" lIns="0" rIns="0" tIns="0" bIns="0">
            <a:spAutoFit/>
          </a:bodyPr>
          <a:lstStyle/>
          <a:p>
            <a:pPr algn="l">
              <a:lnSpc>
                <a:spcPct val="100000"/>
              </a:lnSpc>
              <a:spcAft>
                <a:spcPts val="0"/>
              </a:spcAft>
            </a:pPr>
            <a:r>
              <a:rPr sz="900" b="0" i="0">
                <a:solidFill>
                  <a:srgbClr val="7E8A74"/>
                </a:solidFill>
                <a:latin typeface="Calibri"/>
              </a:rPr>
              <a:t>GlowRoot  ·  Project walkthrough</a:t>
            </a:r>
          </a:p>
        </p:txBody>
      </p:sp>
      <p:sp>
        <p:nvSpPr>
          <p:cNvPr id="29" name="TextBox 28"/>
          <p:cNvSpPr txBox="1"/>
          <p:nvPr/>
        </p:nvSpPr>
        <p:spPr>
          <a:xfrm>
            <a:off x="10984687" y="6400800"/>
            <a:ext cx="548640" cy="219456"/>
          </a:xfrm>
          <a:prstGeom prst="rect">
            <a:avLst/>
          </a:prstGeom>
          <a:noFill/>
        </p:spPr>
        <p:txBody>
          <a:bodyPr wrap="square" anchor="t" lIns="0" rIns="0" tIns="0" bIns="0">
            <a:spAutoFit/>
          </a:bodyPr>
          <a:lstStyle/>
          <a:p>
            <a:pPr algn="r">
              <a:lnSpc>
                <a:spcPct val="100000"/>
              </a:lnSpc>
              <a:spcAft>
                <a:spcPts val="0"/>
              </a:spcAft>
            </a:pPr>
            <a:r>
              <a:rPr sz="900" b="0" i="0">
                <a:solidFill>
                  <a:srgbClr val="7E8A74"/>
                </a:solidFill>
                <a:latin typeface="Calibri"/>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